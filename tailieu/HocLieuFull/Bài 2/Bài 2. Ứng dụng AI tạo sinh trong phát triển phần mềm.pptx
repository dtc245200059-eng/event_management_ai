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4"/>
  </p:notesMasterIdLst>
  <p:sldIdLst>
    <p:sldId id="293" r:id="rId2"/>
    <p:sldId id="297" r:id="rId3"/>
    <p:sldId id="299" r:id="rId4"/>
    <p:sldId id="300" r:id="rId5"/>
    <p:sldId id="301" r:id="rId6"/>
    <p:sldId id="302" r:id="rId7"/>
    <p:sldId id="307" r:id="rId8"/>
    <p:sldId id="303" r:id="rId9"/>
    <p:sldId id="304" r:id="rId10"/>
    <p:sldId id="305" r:id="rId11"/>
    <p:sldId id="298" r:id="rId12"/>
    <p:sldId id="30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49823" autoAdjust="0"/>
  </p:normalViewPr>
  <p:slideViewPr>
    <p:cSldViewPr snapToGrid="0">
      <p:cViewPr varScale="1">
        <p:scale>
          <a:sx n="56" d="100"/>
          <a:sy n="56" d="100"/>
        </p:scale>
        <p:origin x="271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41BC4-3796-4806-B886-9E39B90FEC32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BD0C0C-DEF9-457C-9DCE-3285BA123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10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762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319E6A0-C19E-206C-5688-FDA779E9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77254A3-5BBB-C7D0-681B-EB68DFF67B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BEEC92E4-20F1-ECF4-FE2B-0E0DD0840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8833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05604C0-B6D6-F8FB-4205-4ACD621DF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90A8DF4-107E-12C4-DB08-5F2206632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vi-VN" b="1" dirty="0"/>
              <a:t>compounding context</a:t>
            </a:r>
            <a:r>
              <a:rPr lang="vi-VN" dirty="0"/>
              <a:t> được dùng để mô tả </a:t>
            </a:r>
            <a:r>
              <a:rPr lang="vi-VN" b="1" dirty="0"/>
              <a:t>hiệu ứng tích lũy ngữ cảnh</a:t>
            </a:r>
            <a:r>
              <a:rPr lang="vi-VN" dirty="0"/>
              <a:t> khi AI tham gia </a:t>
            </a:r>
            <a:r>
              <a:rPr lang="vi-VN" b="1" dirty="0"/>
              <a:t>xuyên suốt toàn bộ vòng đời phát triển phần mềm (AI-Augmented SDLC)</a:t>
            </a:r>
            <a:r>
              <a:rPr lang="vi-VN" dirty="0"/>
              <a:t>, thay vì chỉ hỗ trợ từng giai đoạn riêng lẻ. </a:t>
            </a:r>
          </a:p>
          <a:p>
            <a:r>
              <a:rPr lang="vi-VN" b="1" dirty="0"/>
              <a:t>Giải thích đơn giản</a:t>
            </a:r>
          </a:p>
          <a:p>
            <a:r>
              <a:rPr lang="vi-VN" dirty="0"/>
              <a:t>Hãy tưởng tượng AI giống như </a:t>
            </a:r>
            <a:r>
              <a:rPr lang="vi-VN" b="1" dirty="0"/>
              <a:t>một thành viên trong nhóm phát triển</a:t>
            </a:r>
            <a:r>
              <a:rPr lang="vi-VN" dirty="0"/>
              <a:t> có trí nhớ rất tốt.</a:t>
            </a:r>
          </a:p>
          <a:p>
            <a:r>
              <a:rPr lang="vi-VN" dirty="0"/>
              <a:t>Nếu AI chỉ được dùng ở pha </a:t>
            </a:r>
            <a:r>
              <a:rPr lang="vi-VN" b="1" dirty="0"/>
              <a:t>lập trình</a:t>
            </a:r>
            <a:r>
              <a:rPr lang="vi-VN" dirty="0"/>
              <a:t>, nó chỉ biết yêu cầu mà bạn đưa ngay lúc đó. </a:t>
            </a:r>
          </a:p>
          <a:p>
            <a:r>
              <a:rPr lang="vi-VN" dirty="0"/>
              <a:t>Nếu AI tham gia từ </a:t>
            </a:r>
            <a:r>
              <a:rPr lang="vi-VN" b="1" dirty="0"/>
              <a:t>phân tích yêu cầu → thiết kế → lập trình → kiểm thử → triển khai</a:t>
            </a:r>
            <a:r>
              <a:rPr lang="vi-VN" dirty="0"/>
              <a:t>, nó sẽ "nhớ" toàn bộ thông tin đã tích lũy ở các bước trước. </a:t>
            </a:r>
          </a:p>
          <a:p>
            <a:r>
              <a:rPr lang="vi-VN" dirty="0"/>
              <a:t>Nhờ vậy, chất lượng hỗ trợ ở mỗi bước sau sẽ ngày càng tốt hơn.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5451F8E1-1DBC-E92E-124F-BF4C477BE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2495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EBCA03F-49C4-92F2-255B-3B5BDD48C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B59A2D2A-71DE-357C-DEAC-43CCA900F3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351B35A-968D-2D5B-FDAB-0D411B2F7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442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6134393-E1D7-F490-17CC-E357AA54F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6B8703E-8BA4-A18B-6894-DFCF4B1AEE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DAABFF33-D580-BE03-AB41-6B3DC43FD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1786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5A0D094-6B20-E23E-14B4-EE5D3C46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495BEF64-21BF-8534-3BAF-1BF8513097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653A6392-4508-04C1-4C8E-127F48849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42430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6F26215-D92B-BCC5-8864-177EC691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52A829C9-61A1-AF08-927F-EEAC847DD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62C9B9AC-61EE-F78E-5ED7-0D376F6F2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0741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CCF3EBC-B039-0B9F-6194-5AFA06B4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1F4C61BD-53B8-7AE7-8E64-6F58E5707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516F0825-2763-D132-BD2C-C363575BD2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82268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3AEA0F4-2AAB-FD16-5B39-A083C293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7B0FF4E0-C433-0370-075B-46776DBC79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0CC6DF86-919A-EA12-7BD9-A53101EE4D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274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77AD297-6171-70BB-748B-963342ABD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EF1EB49B-F6D9-CCBB-0894-4F654AC4D7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9E4FE0A2-35B0-2CD8-301A-82FA1DD33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3911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A07641B-8EAE-5FD2-5D53-92D7ECB29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>
            <a:extLst>
              <a:ext uri="{FF2B5EF4-FFF2-40B4-BE49-F238E27FC236}">
                <a16:creationId xmlns:a16="http://schemas.microsoft.com/office/drawing/2014/main" id="{99437268-35E5-509B-4B88-054C52E85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3:notes">
            <a:extLst>
              <a:ext uri="{FF2B5EF4-FFF2-40B4-BE49-F238E27FC236}">
                <a16:creationId xmlns:a16="http://schemas.microsoft.com/office/drawing/2014/main" id="{70192006-57D7-5D35-C010-281744E22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6689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499654"/>
            <a:ext cx="12192000" cy="358346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Logo Trường Đại học Công nghệ Thông tin và Truyền thông – [ICTU]">
            <a:extLst>
              <a:ext uri="{FF2B5EF4-FFF2-40B4-BE49-F238E27FC236}">
                <a16:creationId xmlns:a16="http://schemas.microsoft.com/office/drawing/2014/main" id="{435F1C53-4A3C-39C6-424B-C23DE333B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62" y="220486"/>
            <a:ext cx="923829" cy="879894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903" y="6499654"/>
            <a:ext cx="7669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Thai Nguyen University of Information and Communication Technology</a:t>
            </a:r>
          </a:p>
          <a:p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1507524" y="889686"/>
            <a:ext cx="98030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76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11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3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50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62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3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0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18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21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39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09F0A-DFA0-4D73-8C67-B2DA4869C18B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F7B2C-8297-427A-8852-E099E0616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89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A99590-6D45-3B0F-2C6A-48DD24CAE2F0}"/>
              </a:ext>
            </a:extLst>
          </p:cNvPr>
          <p:cNvSpPr txBox="1"/>
          <p:nvPr/>
        </p:nvSpPr>
        <p:spPr>
          <a:xfrm>
            <a:off x="0" y="58479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TRƯỜNG ĐẠI HỌC CÔNG NGHỆ THÔNG TIN VÀ TRUYỀN THÔNG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CÔNG NGHỆ THÔNG TIN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2E7C2C-B344-59B8-4EF0-287227F69043}"/>
              </a:ext>
            </a:extLst>
          </p:cNvPr>
          <p:cNvSpPr txBox="1"/>
          <p:nvPr/>
        </p:nvSpPr>
        <p:spPr>
          <a:xfrm>
            <a:off x="263410" y="2411992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TRÍ TUỆ NHÂN TẠO </a:t>
            </a:r>
          </a:p>
          <a:p>
            <a:pPr algn="ctr"/>
            <a:endParaRPr lang="en-US" sz="4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BFD57D0-5416-E196-5082-7382278F6AC7}"/>
              </a:ext>
            </a:extLst>
          </p:cNvPr>
          <p:cNvCxnSpPr/>
          <p:nvPr/>
        </p:nvCxnSpPr>
        <p:spPr>
          <a:xfrm>
            <a:off x="4593261" y="1239512"/>
            <a:ext cx="307280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80829" y="3735431"/>
            <a:ext cx="104976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15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98A186-1C63-F42D-8C6E-4AA7F3178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83" y="1488337"/>
            <a:ext cx="11468127" cy="441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02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70195C1-35E3-0308-7F4C-B321EF27D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088CC8B-BD82-181D-63EF-478C239D2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25" y="1242204"/>
            <a:ext cx="10554724" cy="472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89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22917D6-58FE-339F-D282-C4B784622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0244FD-84F7-D200-CFF7-1FFC78745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192" y="1228190"/>
            <a:ext cx="10593238" cy="387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61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7811FA4-7948-C74E-32E0-0DAE86CAF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6816848-AA31-5AFE-B12C-7242B8626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666" y="1019476"/>
            <a:ext cx="9466667" cy="4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65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D49470B-4AD3-A20D-5DBC-F29308240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0F6B81-E4BE-1779-642C-166025457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948" y="1490979"/>
            <a:ext cx="6176512" cy="480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6B658D0-94BD-906F-7FF8-0AEB9487B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3626B2-EA0D-C644-AE4E-B649D3906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381" y="1009952"/>
            <a:ext cx="9495238" cy="4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9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115FD60-45BF-377D-E5AB-2E05821B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A31F4A-C744-08FE-25A5-0F88265F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974" y="1676619"/>
            <a:ext cx="9437298" cy="415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F14C232-28FF-3623-5F79-332E7C809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58ECBF-5FC9-2B46-F0F2-D681DFE67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653" y="1800428"/>
            <a:ext cx="9885872" cy="401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9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E3B5BD9-BB11-2E75-C31C-DB091A841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502B29-CB0E-CF95-8F96-0D9A66390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714" y="1259220"/>
            <a:ext cx="9228571" cy="4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07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23B0F22-A675-8C11-E91E-1FF67D55C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EE934598-EC87-1806-731E-CA5B9182C70E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 err="1">
                <a:latin typeface="Times New Roman"/>
                <a:cs typeface="Times New Roman"/>
              </a:rPr>
              <a:t>Bài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thực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hành</a:t>
            </a:r>
            <a:r>
              <a:rPr lang="en-US" sz="3800" b="1" dirty="0">
                <a:latin typeface="Times New Roman"/>
                <a:cs typeface="Times New Roman"/>
              </a:rPr>
              <a:t> 1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79290-F38F-510B-F4AD-C8B555DD175C}"/>
              </a:ext>
            </a:extLst>
          </p:cNvPr>
          <p:cNvSpPr txBox="1"/>
          <p:nvPr/>
        </p:nvSpPr>
        <p:spPr>
          <a:xfrm>
            <a:off x="1183387" y="1286834"/>
            <a:ext cx="10662249" cy="5093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vi-VN" sz="2500" b="1" dirty="0">
                <a:latin typeface="+mj-lt"/>
              </a:rPr>
              <a:t>Xây dựng hệ thống quản lý thư viện với AI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Sinh viên phải áp dụng AI trong toàn bộ SDLC: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Phân tích yêu cầu bằng AI.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Thiết kế Use Case, Class Diagram, ERD và kiến trúc hệ thống.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Sinh mã nguồn cho các chức năng chính.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Gỡ lỗi và tối ưu mã với AI.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Sinh Unit Test và đánh giá độ bao phủ kiểm thử.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Sinh tài liệu kỹ thuật (README, API Documentation).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Tạo Dockerfile, GitHub Actions hoặc cấu hình triển khai.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Đánh giá hiệu quả sử dụng AI theo một trong các framework DORA, SPACE hoặc DevX. </a:t>
            </a:r>
          </a:p>
          <a:p>
            <a:pPr algn="just">
              <a:buFont typeface="+mj-lt"/>
              <a:buAutoNum type="arabicPeriod"/>
            </a:pPr>
            <a:r>
              <a:rPr lang="vi-VN" sz="2500" dirty="0">
                <a:latin typeface="+mj-lt"/>
              </a:rPr>
              <a:t>Báo cáo những lỗi AI tạo ra, cách phát hiện và cách khắc phục theo nguyên tắc </a:t>
            </a:r>
            <a:r>
              <a:rPr lang="vi-VN" sz="2500" b="1" dirty="0">
                <a:latin typeface="+mj-lt"/>
              </a:rPr>
              <a:t>Human-in-the-loop</a:t>
            </a:r>
            <a:r>
              <a:rPr lang="vi-VN" sz="25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5367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8C8D661-E7EA-E00A-55F1-8DD52518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>
            <a:extLst>
              <a:ext uri="{FF2B5EF4-FFF2-40B4-BE49-F238E27FC236}">
                <a16:creationId xmlns:a16="http://schemas.microsoft.com/office/drawing/2014/main" id="{D0843156-7E20-1F6E-ADD1-D673F8687C7F}"/>
              </a:ext>
            </a:extLst>
          </p:cNvPr>
          <p:cNvSpPr/>
          <p:nvPr/>
        </p:nvSpPr>
        <p:spPr>
          <a:xfrm>
            <a:off x="346364" y="18510"/>
            <a:ext cx="11863028" cy="126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800" b="1" dirty="0" err="1">
                <a:latin typeface="Times New Roman"/>
                <a:cs typeface="Times New Roman"/>
              </a:rPr>
              <a:t>Bài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thực</a:t>
            </a:r>
            <a:r>
              <a:rPr lang="en-US" sz="3800" b="1" dirty="0">
                <a:latin typeface="Times New Roman"/>
                <a:cs typeface="Times New Roman"/>
              </a:rPr>
              <a:t> </a:t>
            </a:r>
            <a:r>
              <a:rPr lang="en-US" sz="3800" b="1" dirty="0" err="1">
                <a:latin typeface="Times New Roman"/>
                <a:cs typeface="Times New Roman"/>
              </a:rPr>
              <a:t>hành</a:t>
            </a:r>
            <a:r>
              <a:rPr lang="en-US" sz="3800" b="1" dirty="0">
                <a:latin typeface="Times New Roman"/>
                <a:cs typeface="Times New Roman"/>
              </a:rPr>
              <a:t> 2</a:t>
            </a:r>
            <a:endParaRPr lang="vi-VN" sz="3800" b="1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76F37B-72D5-8E36-2508-80CB74EEC5A9}"/>
              </a:ext>
            </a:extLst>
          </p:cNvPr>
          <p:cNvSpPr txBox="1"/>
          <p:nvPr/>
        </p:nvSpPr>
        <p:spPr>
          <a:xfrm>
            <a:off x="1183387" y="1286834"/>
            <a:ext cx="1066224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vi-VN" sz="2500" dirty="0">
                <a:latin typeface="+mj-lt"/>
              </a:rPr>
              <a:t>Bạn là chuyên gia ra đề thi môn Nhập môn lập trình.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Chỉ được phép sử dụng nội dung trong phần TÀI LIỆU dưới đây.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Yêu cầu: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1. Sinh 10 câu hỏi trắc nghiệm.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2. Mỗi câu gồm: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   - Nội dung câu hỏi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   - A, B, C, D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   - Đáp án đúng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   - Giải thích ngắn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   - Trích dẫn đoạn tài liệu dùng để tạo câu hỏi.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3. Không được sử dụng bất kỳ kiến thức nào ngoài tài liệu.</a:t>
            </a:r>
          </a:p>
          <a:p>
            <a:pPr algn="just">
              <a:buNone/>
            </a:pPr>
            <a:r>
              <a:rPr lang="vi-VN" sz="2500" dirty="0">
                <a:latin typeface="+mj-lt"/>
              </a:rPr>
              <a:t>4. Nếu không đủ thông tin thì không tự suy diễn.</a:t>
            </a:r>
          </a:p>
        </p:txBody>
      </p:sp>
    </p:spTree>
    <p:extLst>
      <p:ext uri="{BB962C8B-B14F-4D97-AF65-F5344CB8AC3E}">
        <p14:creationId xmlns:p14="http://schemas.microsoft.com/office/powerpoint/2010/main" val="3483435371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Presentation2</Template>
  <TotalTime>4049</TotalTime>
  <Words>429</Words>
  <Application>Microsoft Office PowerPoint</Application>
  <PresentationFormat>Widescreen</PresentationFormat>
  <Paragraphs>35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Presentation2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Dung Nguyen</cp:lastModifiedBy>
  <cp:revision>669</cp:revision>
  <dcterms:created xsi:type="dcterms:W3CDTF">2023-01-06T06:35:00Z</dcterms:created>
  <dcterms:modified xsi:type="dcterms:W3CDTF">2026-08-02T23:58:13Z</dcterms:modified>
</cp:coreProperties>
</file>