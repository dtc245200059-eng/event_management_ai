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1" r:id="rId6"/>
    <p:sldId id="262" r:id="rId7"/>
    <p:sldId id="263" r:id="rId8"/>
    <p:sldId id="264" r:id="rId9"/>
    <p:sldId id="265" r:id="rId10"/>
    <p:sldId id="266" r:id="rId11"/>
    <p:sldId id="267" r:id="rId12"/>
  </p:sldIdLst>
  <p:sldSz cx="12192000" cy="6858000"/>
  <p:notesSz cx="6858000" cy="9144000"/>
  <p:embeddedFontLst>
    <p:embeddedFont>
      <p:font typeface="Inter" panose="020B0604020202020204" charset="0"/>
      <p:regular r:id="rId14"/>
      <p:bold r:id="rId15"/>
      <p:italic r:id="rId16"/>
      <p:boldItalic r:id="rId17"/>
    </p:embeddedFont>
    <p:embeddedFont>
      <p:font typeface="Plus Jakarta Sans" panose="020B0604020202020204" charset="0"/>
      <p:regular r:id="rId18"/>
      <p:bold r:id="rId19"/>
      <p:italic r:id="rId20"/>
      <p:boldItalic r:id="rId21"/>
    </p:embeddedFont>
    <p:embeddedFont>
      <p:font typeface="Plus Jakarta Sans ExtraBold" panose="020B0604020202020204" charset="0"/>
      <p:bold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65E774B-8F5C-4378-9205-2874BD6356DD}">
  <a:tblStyle styleId="{065E774B-8F5C-4378-9205-2874BD6356D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339" autoAdjust="0"/>
  </p:normalViewPr>
  <p:slideViewPr>
    <p:cSldViewPr snapToGrid="0">
      <p:cViewPr varScale="1">
        <p:scale>
          <a:sx n="90" d="100"/>
          <a:sy n="90" d="100"/>
        </p:scale>
        <p:origin x="135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vi-VN" sz="1100" b="0" i="0" u="none" strike="noStrike" cap="none" spc="0" dirty="0">
                <a:solidFill>
                  <a:srgbClr val="000000"/>
                </a:solidFill>
                <a:effectLst/>
                <a:latin typeface="Arial"/>
                <a:ea typeface="Arial"/>
                <a:cs typeface="Arial"/>
                <a:sym typeface="Arial"/>
              </a:rPr>
              <a:t>Slide hình ảnh nêu rõ </a:t>
            </a:r>
            <a:r>
              <a:rPr lang="vi-VN" sz="1100" b="1" i="0" u="none" strike="noStrike" cap="none" spc="0" dirty="0">
                <a:solidFill>
                  <a:srgbClr val="000000"/>
                </a:solidFill>
                <a:effectLst/>
                <a:latin typeface="Arial"/>
                <a:ea typeface="Arial"/>
                <a:cs typeface="Arial"/>
                <a:sym typeface="Arial"/>
              </a:rPr>
              <a:t>3 trụ cột giá trị cốt lõi</a:t>
            </a:r>
            <a:r>
              <a:rPr lang="vi-VN" sz="1100" b="0" i="0" u="none" strike="noStrike" cap="none" spc="0" dirty="0">
                <a:solidFill>
                  <a:srgbClr val="000000"/>
                </a:solidFill>
                <a:effectLst/>
                <a:latin typeface="Arial"/>
                <a:ea typeface="Arial"/>
                <a:cs typeface="Arial"/>
                <a:sym typeface="Arial"/>
              </a:rPr>
              <a:t> mà các ứng dụng AI tạo sinh (Generative AI) mang lại cho người dùng và doanh nghiệp.</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0" i="0" u="none" strike="noStrike" cap="none" spc="0" dirty="0">
                <a:solidFill>
                  <a:srgbClr val="000000"/>
                </a:solidFill>
                <a:effectLst/>
                <a:latin typeface="Arial"/>
                <a:ea typeface="Arial"/>
                <a:cs typeface="Arial"/>
                <a:sym typeface="Arial"/>
              </a:rPr>
              <a:t>Dưới đây là giải thích chi tiết cho từng trụ cột:</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1. Chuyển Đổi UX (User Experience - Trải nghiệm người dùng)</a:t>
            </a:r>
          </a:p>
          <a:p>
            <a:pPr rtl="0"/>
            <a:r>
              <a:rPr lang="vi-VN" sz="1100" b="1" i="0" u="none" strike="noStrike" cap="none" spc="0" dirty="0">
                <a:solidFill>
                  <a:srgbClr val="000000"/>
                </a:solidFill>
                <a:effectLst/>
                <a:latin typeface="Arial"/>
                <a:ea typeface="Arial"/>
                <a:cs typeface="Arial"/>
                <a:sym typeface="Arial"/>
              </a:rPr>
              <a:t>Ý nghĩa:</a:t>
            </a:r>
            <a:r>
              <a:rPr lang="vi-VN" sz="1100" b="0" i="0" u="none" strike="noStrike" cap="none" spc="0" dirty="0">
                <a:solidFill>
                  <a:srgbClr val="000000"/>
                </a:solidFill>
                <a:effectLst/>
                <a:latin typeface="Arial"/>
                <a:ea typeface="Arial"/>
                <a:cs typeface="Arial"/>
                <a:sym typeface="Arial"/>
              </a:rPr>
              <a:t> AI tạo sinh thay đổi hoàn toàn cách người dùng tương tác với phần mềm — chuyển từ các giao diện cố định, cứng nhắc sang các tương tác tự nhiên và thích ứng (adaptive).</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Nội dung chính:</a:t>
            </a:r>
            <a:endParaRPr lang="vi-VN" sz="1100" b="0" i="0" u="none" strike="noStrike" cap="none" spc="0" dirty="0">
              <a:solidFill>
                <a:srgbClr val="000000"/>
              </a:solidFill>
              <a:effectLst/>
              <a:latin typeface="Arial"/>
              <a:ea typeface="Arial"/>
              <a:cs typeface="Arial"/>
              <a:sym typeface="Arial"/>
            </a:endParaRP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Cá nhân hóa theo ngữ cảnh:</a:t>
            </a:r>
            <a:r>
              <a:rPr lang="vi-VN" sz="1100" b="0" i="0" u="none" strike="noStrike" cap="none" spc="0" dirty="0">
                <a:solidFill>
                  <a:srgbClr val="000000"/>
                </a:solidFill>
                <a:effectLst/>
                <a:latin typeface="Arial"/>
                <a:ea typeface="Arial"/>
                <a:cs typeface="Arial"/>
                <a:sym typeface="Arial"/>
              </a:rPr>
              <a:t> Hệ thống theo dõi hành vi, thói quen và sở thích cá nhân để điều chỉnh giao diện, gợi ý thông tin phù hợp nhất cho từng người.</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Hệ thống tự học:</a:t>
            </a:r>
            <a:r>
              <a:rPr lang="vi-VN" sz="1100" b="0" i="0" u="none" strike="noStrike" cap="none" spc="0" dirty="0">
                <a:solidFill>
                  <a:srgbClr val="000000"/>
                </a:solidFill>
                <a:effectLst/>
                <a:latin typeface="Arial"/>
                <a:ea typeface="Arial"/>
                <a:cs typeface="Arial"/>
                <a:sym typeface="Arial"/>
              </a:rPr>
              <a:t> Mỗi lần tương tác, AI lại học thêm để phục vụ tốt hơn ở những lần sau (ví dụ: giao diện trò chuyện bằng ngôn ngữ tự nhiên thay vì phải bấm từng nút chức năng).</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2. Nâng Cao Năng Suất (Productivity)</a:t>
            </a:r>
          </a:p>
          <a:p>
            <a:pPr rtl="0"/>
            <a:r>
              <a:rPr lang="vi-VN" sz="1100" b="1" i="0" u="none" strike="noStrike" cap="none" spc="0" dirty="0">
                <a:solidFill>
                  <a:srgbClr val="000000"/>
                </a:solidFill>
                <a:effectLst/>
                <a:latin typeface="Arial"/>
                <a:ea typeface="Arial"/>
                <a:cs typeface="Arial"/>
                <a:sym typeface="Arial"/>
              </a:rPr>
              <a:t>Ý nghĩa:</a:t>
            </a:r>
            <a:r>
              <a:rPr lang="vi-VN" sz="1100" b="0" i="0" u="none" strike="noStrike" cap="none" spc="0" dirty="0">
                <a:solidFill>
                  <a:srgbClr val="000000"/>
                </a:solidFill>
                <a:effectLst/>
                <a:latin typeface="Arial"/>
                <a:ea typeface="Arial"/>
                <a:cs typeface="Arial"/>
                <a:sym typeface="Arial"/>
              </a:rPr>
              <a:t> Đóng vai trò như một "Trợ lý ảo" (Copilot) cho con người, tập trung vào cá nhân người lao động.</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Nội dung chính:</a:t>
            </a:r>
            <a:endParaRPr lang="vi-VN" sz="1100" b="0" i="0" u="none" strike="noStrike" cap="none" spc="0" dirty="0">
              <a:solidFill>
                <a:srgbClr val="000000"/>
              </a:solidFill>
              <a:effectLst/>
              <a:latin typeface="Arial"/>
              <a:ea typeface="Arial"/>
              <a:cs typeface="Arial"/>
              <a:sym typeface="Arial"/>
            </a:endParaRP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Tự động hóa công việc lặp lại:</a:t>
            </a:r>
            <a:r>
              <a:rPr lang="vi-VN" sz="1100" b="0" i="0" u="none" strike="noStrike" cap="none" spc="0" dirty="0">
                <a:solidFill>
                  <a:srgbClr val="000000"/>
                </a:solidFill>
                <a:effectLst/>
                <a:latin typeface="Arial"/>
                <a:ea typeface="Arial"/>
                <a:cs typeface="Arial"/>
                <a:sym typeface="Arial"/>
              </a:rPr>
              <a:t> Đảm nhận các tác vụ tốn thời gian như viết email, soạn thảo tài liệu, tóm tắt bản ghi cuộc họp, viết mã nguồn (code), hay tạo hình ảnh/slide.</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Tập trung vào giá trị cao:</a:t>
            </a:r>
            <a:r>
              <a:rPr lang="vi-VN" sz="1100" b="0" i="0" u="none" strike="noStrike" cap="none" spc="0" dirty="0">
                <a:solidFill>
                  <a:srgbClr val="000000"/>
                </a:solidFill>
                <a:effectLst/>
                <a:latin typeface="Arial"/>
                <a:ea typeface="Arial"/>
                <a:cs typeface="Arial"/>
                <a:sym typeface="Arial"/>
              </a:rPr>
              <a:t> Giải phóng con người khỏi các công việc thủ công, giúp họ dành thời gian cho tư duy sáng tạo, lập kế hoạch và ra quyết định chiến lược.</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3. Hiệu Quả Vận Hành (Operational Efficiency)</a:t>
            </a:r>
          </a:p>
          <a:p>
            <a:pPr rtl="0"/>
            <a:r>
              <a:rPr lang="vi-VN" sz="1100" b="1" i="0" u="none" strike="noStrike" cap="none" spc="0" dirty="0">
                <a:solidFill>
                  <a:srgbClr val="000000"/>
                </a:solidFill>
                <a:effectLst/>
                <a:latin typeface="Arial"/>
                <a:ea typeface="Arial"/>
                <a:cs typeface="Arial"/>
                <a:sym typeface="Arial"/>
              </a:rPr>
              <a:t>Ý nghĩa:</a:t>
            </a:r>
            <a:r>
              <a:rPr lang="vi-VN" sz="1100" b="0" i="0" u="none" strike="noStrike" cap="none" spc="0" dirty="0">
                <a:solidFill>
                  <a:srgbClr val="000000"/>
                </a:solidFill>
                <a:effectLst/>
                <a:latin typeface="Arial"/>
                <a:ea typeface="Arial"/>
                <a:cs typeface="Arial"/>
                <a:sym typeface="Arial"/>
              </a:rPr>
              <a:t> Tác động ở quy mô tổ chức và doanh nghiệp, giúp tối ưu hóa toàn bộ chuỗi quy trình làm việc.</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Nội dung chính:</a:t>
            </a:r>
            <a:endParaRPr lang="vi-VN" sz="1100" b="0" i="0" u="none" strike="noStrike" cap="none" spc="0" dirty="0">
              <a:solidFill>
                <a:srgbClr val="000000"/>
              </a:solidFill>
              <a:effectLst/>
              <a:latin typeface="Arial"/>
              <a:ea typeface="Arial"/>
              <a:cs typeface="Arial"/>
              <a:sym typeface="Arial"/>
            </a:endParaRP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Tối ưu hóa quy trình nghiệp vụ:</a:t>
            </a:r>
            <a:r>
              <a:rPr lang="vi-VN" sz="1100" b="0" i="0" u="none" strike="noStrike" cap="none" spc="0" dirty="0">
                <a:solidFill>
                  <a:srgbClr val="000000"/>
                </a:solidFill>
                <a:effectLst/>
                <a:latin typeface="Arial"/>
                <a:ea typeface="Arial"/>
                <a:cs typeface="Arial"/>
                <a:sym typeface="Arial"/>
              </a:rPr>
              <a:t> Kết nối dữ liệu toàn hệ thống để xử lý thông tin tự động, phân tích dữ liệu lớn và dự đoán xu hướng chính xác.</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Tăng tốc độ phản hồi:</a:t>
            </a:r>
            <a:r>
              <a:rPr lang="vi-VN" sz="1100" b="0" i="0" u="none" strike="noStrike" cap="none" spc="0" dirty="0">
                <a:solidFill>
                  <a:srgbClr val="000000"/>
                </a:solidFill>
                <a:effectLst/>
                <a:latin typeface="Arial"/>
                <a:ea typeface="Arial"/>
                <a:cs typeface="Arial"/>
                <a:sym typeface="Arial"/>
              </a:rPr>
              <a:t> Cải thiện tốc độ phục vụ khách hàng (như chatbot chăm sóc khách hàng 24/7) và rút ngắn thời gian xử lý công việc nội bộ, từ đó giảm chi phí vận hành.</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en-US" sz="1100" b="1" i="0" u="none" strike="noStrike" cap="none" spc="0" dirty="0">
                <a:solidFill>
                  <a:srgbClr val="000000"/>
                </a:solidFill>
                <a:effectLst/>
                <a:latin typeface="Arial"/>
                <a:ea typeface="Arial"/>
                <a:cs typeface="Arial"/>
                <a:sym typeface="Arial"/>
              </a:rPr>
              <a:t>💡 </a:t>
            </a:r>
            <a:r>
              <a:rPr lang="vi-VN" sz="1100" b="1" i="0" u="none" strike="noStrike" cap="none" spc="0" dirty="0">
                <a:solidFill>
                  <a:srgbClr val="000000"/>
                </a:solidFill>
                <a:effectLst/>
                <a:latin typeface="Arial"/>
                <a:ea typeface="Arial"/>
                <a:cs typeface="Arial"/>
                <a:sym typeface="Arial"/>
              </a:rPr>
              <a:t>Tóm lại</a:t>
            </a:r>
          </a:p>
          <a:p>
            <a:pPr rtl="0"/>
            <a:r>
              <a:rPr lang="vi-VN" sz="1100" b="1" i="0" u="none" strike="noStrike" cap="none" spc="0" dirty="0">
                <a:solidFill>
                  <a:srgbClr val="000000"/>
                </a:solidFill>
                <a:effectLst/>
                <a:latin typeface="Arial"/>
                <a:ea typeface="Arial"/>
                <a:cs typeface="Arial"/>
                <a:sym typeface="Arial"/>
              </a:rPr>
              <a:t>Chuyển đổi UX</a:t>
            </a:r>
            <a:r>
              <a:rPr lang="vi-VN" sz="1100" b="0" i="0" u="none" strike="noStrike" cap="none" spc="0" dirty="0">
                <a:solidFill>
                  <a:srgbClr val="000000"/>
                </a:solidFill>
                <a:effectLst/>
                <a:latin typeface="Arial"/>
                <a:ea typeface="Arial"/>
                <a:cs typeface="Arial"/>
                <a:sym typeface="Arial"/>
              </a:rPr>
              <a:t> làm cho phần mềm </a:t>
            </a:r>
            <a:r>
              <a:rPr lang="vi-VN" sz="1100" b="1" i="0" u="none" strike="noStrike" cap="none" spc="0" dirty="0">
                <a:solidFill>
                  <a:srgbClr val="000000"/>
                </a:solidFill>
                <a:effectLst/>
                <a:latin typeface="Arial"/>
                <a:ea typeface="Arial"/>
                <a:cs typeface="Arial"/>
                <a:sym typeface="Arial"/>
              </a:rPr>
              <a:t>thông minh &amp; thân thiện hơn</a:t>
            </a:r>
            <a:r>
              <a:rPr lang="vi-VN" sz="1100" b="0" i="0" u="none" strike="noStrike" cap="none" spc="0" dirty="0">
                <a:solidFill>
                  <a:srgbClr val="000000"/>
                </a:solidFill>
                <a:effectLst/>
                <a:latin typeface="Arial"/>
                <a:ea typeface="Arial"/>
                <a:cs typeface="Arial"/>
                <a:sym typeface="Arial"/>
              </a:rPr>
              <a:t> với con người.</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Nâng cao năng suất</a:t>
            </a:r>
            <a:r>
              <a:rPr lang="vi-VN" sz="1100" b="0" i="0" u="none" strike="noStrike" cap="none" spc="0" dirty="0">
                <a:solidFill>
                  <a:srgbClr val="000000"/>
                </a:solidFill>
                <a:effectLst/>
                <a:latin typeface="Arial"/>
                <a:ea typeface="Arial"/>
                <a:cs typeface="Arial"/>
                <a:sym typeface="Arial"/>
              </a:rPr>
              <a:t> giúp </a:t>
            </a:r>
            <a:r>
              <a:rPr lang="vi-VN" sz="1100" b="1" i="0" u="none" strike="noStrike" cap="none" spc="0" dirty="0">
                <a:solidFill>
                  <a:srgbClr val="000000"/>
                </a:solidFill>
                <a:effectLst/>
                <a:latin typeface="Arial"/>
                <a:ea typeface="Arial"/>
                <a:cs typeface="Arial"/>
                <a:sym typeface="Arial"/>
              </a:rPr>
              <a:t>mỗi cá nhân làm việc nhanh hơn &amp; sáng tạo hơn</a:t>
            </a:r>
            <a:r>
              <a:rPr lang="vi-VN" sz="1100" b="0" i="0" u="none" strike="noStrike" cap="none" spc="0" dirty="0">
                <a:solidFill>
                  <a:srgbClr val="000000"/>
                </a:solidFill>
                <a:effectLst/>
                <a:latin typeface="Arial"/>
                <a:ea typeface="Arial"/>
                <a:cs typeface="Arial"/>
                <a:sym typeface="Arial"/>
              </a:rPr>
              <a:t>.</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Hiệu quả vận hành</a:t>
            </a:r>
            <a:r>
              <a:rPr lang="vi-VN" sz="1100" b="0" i="0" u="none" strike="noStrike" cap="none" spc="0" dirty="0">
                <a:solidFill>
                  <a:srgbClr val="000000"/>
                </a:solidFill>
                <a:effectLst/>
                <a:latin typeface="Arial"/>
                <a:ea typeface="Arial"/>
                <a:cs typeface="Arial"/>
                <a:sym typeface="Arial"/>
              </a:rPr>
              <a:t> giúp </a:t>
            </a:r>
            <a:r>
              <a:rPr lang="vi-VN" sz="1100" b="1" i="0" u="none" strike="noStrike" cap="none" spc="0" dirty="0">
                <a:solidFill>
                  <a:srgbClr val="000000"/>
                </a:solidFill>
                <a:effectLst/>
                <a:latin typeface="Arial"/>
                <a:ea typeface="Arial"/>
                <a:cs typeface="Arial"/>
                <a:sym typeface="Arial"/>
              </a:rPr>
              <a:t>toàn bộ doanh nghiệp vận hành mượt mà &amp; tiết kiệm chi phí hơn</a:t>
            </a:r>
            <a:r>
              <a:rPr lang="vi-VN" sz="1100" b="0" i="0" u="none" strike="noStrike" cap="none" spc="0" dirty="0">
                <a:solidFill>
                  <a:srgbClr val="000000"/>
                </a:solidFill>
                <a:effectLst/>
                <a:latin typeface="Arial"/>
                <a:ea typeface="Arial"/>
                <a:cs typeface="Arial"/>
                <a:sym typeface="Arial"/>
              </a:rPr>
              <a:t>.</a:t>
            </a:r>
          </a:p>
          <a:p>
            <a:pPr marL="0" lvl="0" indent="0" algn="l" rtl="0">
              <a:spcBef>
                <a:spcPts val="0"/>
              </a:spcBef>
              <a:spcAft>
                <a:spcPts val="0"/>
              </a:spcAft>
              <a:buNone/>
            </a:pPr>
            <a:endParaRPr dirty="0"/>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a:r>
              <a:rPr lang="vi-VN" sz="1100" b="0" i="0" u="none" strike="noStrike" cap="none" spc="0" dirty="0">
                <a:solidFill>
                  <a:srgbClr val="000000"/>
                </a:solidFill>
                <a:effectLst/>
                <a:latin typeface="Arial"/>
                <a:ea typeface="Arial"/>
                <a:cs typeface="Arial"/>
                <a:sym typeface="Arial"/>
              </a:rPr>
              <a:t>Dưới đây là giải thích cụ thể và chi tiết cho từng tầng trong kiến trúc ứng dụng AI theo hình ảnh:</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1. Tầng Tương Tác (Interaction Layer)</a:t>
            </a:r>
          </a:p>
          <a:p>
            <a:pPr rtl="0"/>
            <a:r>
              <a:rPr lang="vi-VN" sz="1100" b="1" i="0" u="none" strike="noStrike" cap="none" spc="0" dirty="0">
                <a:solidFill>
                  <a:srgbClr val="000000"/>
                </a:solidFill>
                <a:effectLst/>
                <a:latin typeface="Arial"/>
                <a:ea typeface="Arial"/>
                <a:cs typeface="Arial"/>
                <a:sym typeface="Arial"/>
              </a:rPr>
              <a:t>Vị trí &amp; Vai trò:</a:t>
            </a:r>
            <a:r>
              <a:rPr lang="vi-VN" sz="1100" b="0" i="0" u="none" strike="noStrike" cap="none" spc="0" dirty="0">
                <a:solidFill>
                  <a:srgbClr val="000000"/>
                </a:solidFill>
                <a:effectLst/>
                <a:latin typeface="Arial"/>
                <a:ea typeface="Arial"/>
                <a:cs typeface="Arial"/>
                <a:sym typeface="Arial"/>
              </a:rPr>
              <a:t> Là "mặt tiền" (Frontend) của ứng dụng – nơi người dùng tiếp xúc và gửi yêu cầu trực tiếp đến hệ thống AI.</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Chi tiết các phương thức:</a:t>
            </a:r>
            <a:endParaRPr lang="vi-VN" sz="1100" b="0" i="0" u="none" strike="noStrike" cap="none" spc="0" dirty="0">
              <a:solidFill>
                <a:srgbClr val="000000"/>
              </a:solidFill>
              <a:effectLst/>
              <a:latin typeface="Arial"/>
              <a:ea typeface="Arial"/>
              <a:cs typeface="Arial"/>
              <a:sym typeface="Arial"/>
            </a:endParaRP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Chat UI (Giao diện trò chuyện):</a:t>
            </a:r>
            <a:r>
              <a:rPr lang="vi-VN" sz="1100" b="0" i="0" u="none" strike="noStrike" cap="none" spc="0" dirty="0">
                <a:solidFill>
                  <a:srgbClr val="000000"/>
                </a:solidFill>
                <a:effectLst/>
                <a:latin typeface="Arial"/>
                <a:ea typeface="Arial"/>
                <a:cs typeface="Arial"/>
                <a:sym typeface="Arial"/>
              </a:rPr>
              <a:t> Ô nhập liệu bằng văn bản (text), hệ thống gợi ý câu hỏi (prompt gợi ý), các nút bấm phản hồi.</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Giọng nói (Voice):</a:t>
            </a:r>
            <a:r>
              <a:rPr lang="vi-VN" sz="1100" b="0" i="0" u="none" strike="noStrike" cap="none" spc="0" dirty="0">
                <a:solidFill>
                  <a:srgbClr val="000000"/>
                </a:solidFill>
                <a:effectLst/>
                <a:latin typeface="Arial"/>
                <a:ea typeface="Arial"/>
                <a:cs typeface="Arial"/>
                <a:sym typeface="Arial"/>
              </a:rPr>
              <a:t> Tích hợp công nghệ nhận diện giọng nói (Speech-to-Text) để chuyển lời nói của người dùng thành văn bản và chuyển câu trả lời của AI thành giọng nói (Text-to-Speech).</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Tải tệp đa phương thức (Multimodal Input):</a:t>
            </a:r>
            <a:r>
              <a:rPr lang="vi-VN" sz="1100" b="0" i="0" u="none" strike="noStrike" cap="none" spc="0" dirty="0">
                <a:solidFill>
                  <a:srgbClr val="000000"/>
                </a:solidFill>
                <a:effectLst/>
                <a:latin typeface="Arial"/>
                <a:ea typeface="Arial"/>
                <a:cs typeface="Arial"/>
                <a:sym typeface="Arial"/>
              </a:rPr>
              <a:t> Cho phép người dùng tải lên hình ảnh, tài liệu (PDF, Word, Excel), audio hoặc video để AI phân tích.</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Mục tiêu:</a:t>
            </a:r>
            <a:r>
              <a:rPr lang="vi-VN" sz="1100" b="0" i="0" u="none" strike="noStrike" cap="none" spc="0" dirty="0">
                <a:solidFill>
                  <a:srgbClr val="000000"/>
                </a:solidFill>
                <a:effectLst/>
                <a:latin typeface="Arial"/>
                <a:ea typeface="Arial"/>
                <a:cs typeface="Arial"/>
                <a:sym typeface="Arial"/>
              </a:rPr>
              <a:t> Tạo trải nghiệm mượt mà, tự nhiên và đa dạng cho người dùng khi tương tác với hệ thống.</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2. Tầng Nghiệp Vụ (Backend Operations)</a:t>
            </a:r>
          </a:p>
          <a:p>
            <a:pPr rtl="0"/>
            <a:r>
              <a:rPr lang="vi-VN" sz="1100" b="1" i="0" u="none" strike="noStrike" cap="none" spc="0" dirty="0">
                <a:solidFill>
                  <a:srgbClr val="000000"/>
                </a:solidFill>
                <a:effectLst/>
                <a:latin typeface="Arial"/>
                <a:ea typeface="Arial"/>
                <a:cs typeface="Arial"/>
                <a:sym typeface="Arial"/>
              </a:rPr>
              <a:t>Vị trí &amp; Vai trò:</a:t>
            </a:r>
            <a:r>
              <a:rPr lang="vi-VN" sz="1100" b="0" i="0" u="none" strike="noStrike" cap="none" spc="0" dirty="0">
                <a:solidFill>
                  <a:srgbClr val="000000"/>
                </a:solidFill>
                <a:effectLst/>
                <a:latin typeface="Arial"/>
                <a:ea typeface="Arial"/>
                <a:cs typeface="Arial"/>
                <a:sym typeface="Arial"/>
              </a:rPr>
              <a:t> Là "bộ não xử lý" trung tâm, giúp kết nối câu lệnh của AI với các hệ thống kinh doanh thực tế để thực thi hành động.</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Chi tiết các kết nối:</a:t>
            </a:r>
            <a:endParaRPr lang="vi-VN" sz="1100" b="0" i="0" u="none" strike="noStrike" cap="none" spc="0" dirty="0">
              <a:solidFill>
                <a:srgbClr val="000000"/>
              </a:solidFill>
              <a:effectLst/>
              <a:latin typeface="Arial"/>
              <a:ea typeface="Arial"/>
              <a:cs typeface="Arial"/>
              <a:sym typeface="Arial"/>
            </a:endParaRP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Tích hợp CRM (Quản lý quan hệ khách hàng):</a:t>
            </a:r>
            <a:r>
              <a:rPr lang="vi-VN" sz="1100" b="0" i="0" u="none" strike="noStrike" cap="none" spc="0" dirty="0">
                <a:solidFill>
                  <a:srgbClr val="000000"/>
                </a:solidFill>
                <a:effectLst/>
                <a:latin typeface="Arial"/>
                <a:ea typeface="Arial"/>
                <a:cs typeface="Arial"/>
                <a:sym typeface="Arial"/>
              </a:rPr>
              <a:t> Giúp AI tự động tra cứu thông tin khách hàng, cập nhật lịch sử tư vấn, hoặc tạo đơn hàng/ticket hỗ trợ trực tiếp trên các hệ thống như Salesforce, HubSpot.</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Cơ sở dữ liệu (Database):</a:t>
            </a:r>
            <a:r>
              <a:rPr lang="vi-VN" sz="1100" b="0" i="0" u="none" strike="noStrike" cap="none" spc="0" dirty="0">
                <a:solidFill>
                  <a:srgbClr val="000000"/>
                </a:solidFill>
                <a:effectLst/>
                <a:latin typeface="Arial"/>
                <a:ea typeface="Arial"/>
                <a:cs typeface="Arial"/>
                <a:sym typeface="Arial"/>
              </a:rPr>
              <a:t> Truy vấn dữ liệu nội bộ (kho hàng, giá sản phẩm, chính sách) để cung cấp thông tin chính xác cho AI trả lời.</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API ngoài (External APIs):</a:t>
            </a:r>
            <a:r>
              <a:rPr lang="vi-VN" sz="1100" b="0" i="0" u="none" strike="noStrike" cap="none" spc="0" dirty="0">
                <a:solidFill>
                  <a:srgbClr val="000000"/>
                </a:solidFill>
                <a:effectLst/>
                <a:latin typeface="Arial"/>
                <a:ea typeface="Arial"/>
                <a:cs typeface="Arial"/>
                <a:sym typeface="Arial"/>
              </a:rPr>
              <a:t> Kết nối với các dịch vụ bên thứ ba như cổng thanh toán, đơn vị vận chuyển, dịch vụ thời tiết, hoặc các mô hình AI khác (OpenAI, Gemini API).</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Mục tiêu:</a:t>
            </a:r>
            <a:r>
              <a:rPr lang="vi-VN" sz="1100" b="0" i="0" u="none" strike="noStrike" cap="none" spc="0" dirty="0">
                <a:solidFill>
                  <a:srgbClr val="000000"/>
                </a:solidFill>
                <a:effectLst/>
                <a:latin typeface="Arial"/>
                <a:ea typeface="Arial"/>
                <a:cs typeface="Arial"/>
                <a:sym typeface="Arial"/>
              </a:rPr>
              <a:t> Biến AI từ một cỗ máy "chỉ biết nói" thành một trợ lý "biết làm việc" thực sự.</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3. Tầng Lưu Trữ (Persistence Layer)</a:t>
            </a:r>
          </a:p>
          <a:p>
            <a:pPr rtl="0"/>
            <a:r>
              <a:rPr lang="vi-VN" sz="1100" b="1" i="0" u="none" strike="noStrike" cap="none" spc="0" dirty="0">
                <a:solidFill>
                  <a:srgbClr val="000000"/>
                </a:solidFill>
                <a:effectLst/>
                <a:latin typeface="Arial"/>
                <a:ea typeface="Arial"/>
                <a:cs typeface="Arial"/>
                <a:sym typeface="Arial"/>
              </a:rPr>
              <a:t>Vị trí &amp; Vai trò:</a:t>
            </a:r>
            <a:r>
              <a:rPr lang="vi-VN" sz="1100" b="0" i="0" u="none" strike="noStrike" cap="none" spc="0" dirty="0">
                <a:solidFill>
                  <a:srgbClr val="000000"/>
                </a:solidFill>
                <a:effectLst/>
                <a:latin typeface="Arial"/>
                <a:ea typeface="Arial"/>
                <a:cs typeface="Arial"/>
                <a:sym typeface="Arial"/>
              </a:rPr>
              <a:t> Là "trí nhớ ngắn hạn và dài hạn" của hệ thống AI, chịu trách nhiệm lưu lại lịch sử tương tác và ngữ cảnh.</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Chi tiết chức năng:</a:t>
            </a:r>
            <a:endParaRPr lang="vi-VN" sz="1100" b="0" i="0" u="none" strike="noStrike" cap="none" spc="0" dirty="0">
              <a:solidFill>
                <a:srgbClr val="000000"/>
              </a:solidFill>
              <a:effectLst/>
              <a:latin typeface="Arial"/>
              <a:ea typeface="Arial"/>
              <a:cs typeface="Arial"/>
              <a:sym typeface="Arial"/>
            </a:endParaRP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Lưu giữ lịch sử hội thoại:</a:t>
            </a:r>
            <a:r>
              <a:rPr lang="vi-VN" sz="1100" b="0" i="0" u="none" strike="noStrike" cap="none" spc="0" dirty="0">
                <a:solidFill>
                  <a:srgbClr val="000000"/>
                </a:solidFill>
                <a:effectLst/>
                <a:latin typeface="Arial"/>
                <a:ea typeface="Arial"/>
                <a:cs typeface="Arial"/>
                <a:sym typeface="Arial"/>
              </a:rPr>
              <a:t> Giúp AI nhớ được các câu hỏi/câu trả lời trước đó trong cùng một phiên làm việc để không bị "quên" ngữ cảnh (ví dụ: khi người dùng nói "nó giá bao nhiêu", AI vẫn biết "nó" là sản phẩm vừa đề cập ở câu trước).</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Quản lý ngữ cảnh phiên (Session Context):</a:t>
            </a:r>
            <a:r>
              <a:rPr lang="vi-VN" sz="1100" b="0" i="0" u="none" strike="noStrike" cap="none" spc="0" dirty="0">
                <a:solidFill>
                  <a:srgbClr val="000000"/>
                </a:solidFill>
                <a:effectLst/>
                <a:latin typeface="Arial"/>
                <a:ea typeface="Arial"/>
                <a:cs typeface="Arial"/>
                <a:sym typeface="Arial"/>
              </a:rPr>
              <a:t> Lưu trạng thái làm việc hiện tại của người dùng.</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Phân tích hành vi người dùng:</a:t>
            </a:r>
            <a:r>
              <a:rPr lang="vi-VN" sz="1100" b="0" i="0" u="none" strike="noStrike" cap="none" spc="0" dirty="0">
                <a:solidFill>
                  <a:srgbClr val="000000"/>
                </a:solidFill>
                <a:effectLst/>
                <a:latin typeface="Arial"/>
                <a:ea typeface="Arial"/>
                <a:cs typeface="Arial"/>
                <a:sym typeface="Arial"/>
              </a:rPr>
              <a:t> Dữ liệu lưu trữ được dùng để phân tích thói quen, chủ đề người dùng quan tâm, giúp doanh nghiệp cải thiện chất lượng dịch vụ và cá nhân hóa trải nghiệm về sau.</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Mục tiêu:</a:t>
            </a:r>
            <a:r>
              <a:rPr lang="vi-VN" sz="1100" b="0" i="0" u="none" strike="noStrike" cap="none" spc="0" dirty="0">
                <a:solidFill>
                  <a:srgbClr val="000000"/>
                </a:solidFill>
                <a:effectLst/>
                <a:latin typeface="Arial"/>
                <a:ea typeface="Arial"/>
                <a:cs typeface="Arial"/>
                <a:sym typeface="Arial"/>
              </a:rPr>
              <a:t> Đảm bảo cuộc trò chuyện diễn ra tự nhiên, liền mạch và cung cấp dữ liệu đầu vào cho việc tối ưu hóa hệ thống.</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4. Tầng Bảo Mật (Security Controls)</a:t>
            </a:r>
          </a:p>
          <a:p>
            <a:pPr rtl="0"/>
            <a:r>
              <a:rPr lang="vi-VN" sz="1100" b="1" i="0" u="none" strike="noStrike" cap="none" spc="0" dirty="0">
                <a:solidFill>
                  <a:srgbClr val="000000"/>
                </a:solidFill>
                <a:effectLst/>
                <a:latin typeface="Arial"/>
                <a:ea typeface="Arial"/>
                <a:cs typeface="Arial"/>
                <a:sym typeface="Arial"/>
              </a:rPr>
              <a:t>Vị trí &amp; Vai trò:</a:t>
            </a:r>
            <a:r>
              <a:rPr lang="vi-VN" sz="1100" b="0" i="0" u="none" strike="noStrike" cap="none" spc="0" dirty="0">
                <a:solidFill>
                  <a:srgbClr val="000000"/>
                </a:solidFill>
                <a:effectLst/>
                <a:latin typeface="Arial"/>
                <a:ea typeface="Arial"/>
                <a:cs typeface="Arial"/>
                <a:sym typeface="Arial"/>
              </a:rPr>
              <a:t> Là "lá chắn" bảo vệ toàn bộ ứng dụng, đảm bảo an toàn thông tin cho cả người dùng và doanh nghiệp.</a:t>
            </a: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Chi tiết các giải pháp:</a:t>
            </a:r>
            <a:endParaRPr lang="vi-VN" sz="1100" b="0" i="0" u="none" strike="noStrike" cap="none" spc="0" dirty="0">
              <a:solidFill>
                <a:srgbClr val="000000"/>
              </a:solidFill>
              <a:effectLst/>
              <a:latin typeface="Arial"/>
              <a:ea typeface="Arial"/>
              <a:cs typeface="Arial"/>
              <a:sym typeface="Arial"/>
            </a:endParaRPr>
          </a:p>
          <a:p>
            <a:pPr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Mã hóa dữ liệu truyền tải:</a:t>
            </a:r>
            <a:r>
              <a:rPr lang="vi-VN" sz="1100" b="0" i="0" u="none" strike="noStrike" cap="none" spc="0" dirty="0">
                <a:solidFill>
                  <a:srgbClr val="000000"/>
                </a:solidFill>
                <a:effectLst/>
                <a:latin typeface="Arial"/>
                <a:ea typeface="Arial"/>
                <a:cs typeface="Arial"/>
                <a:sym typeface="Arial"/>
              </a:rPr>
              <a:t> Sử dụng các giao thức bảo mật (như HTTPS/TLS) để mã hóa dữ liệu khi gửi qua lại giữa người dùng, máy chủ và các mô hình AI, tránh bị nghe lén hoặc can thiệp.</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Quản lý API Key:</a:t>
            </a:r>
            <a:r>
              <a:rPr lang="vi-VN" sz="1100" b="0" i="0" u="none" strike="noStrike" cap="none" spc="0" dirty="0">
                <a:solidFill>
                  <a:srgbClr val="000000"/>
                </a:solidFill>
                <a:effectLst/>
                <a:latin typeface="Arial"/>
                <a:ea typeface="Arial"/>
                <a:cs typeface="Arial"/>
                <a:sym typeface="Arial"/>
              </a:rPr>
              <a:t> Bảo mật và quản lý quyền truy cập các khóa API (API Keys/Tokens), tránh việc lộ khóa dẫn đến bị kẻ xấu dùng chui gây tiêu tốn chi phí hoặc sập hệ thống.</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lvl="1" rtl="0"/>
            <a:r>
              <a:rPr lang="vi-VN" sz="1100" b="1" i="0" u="none" strike="noStrike" cap="none" spc="0" dirty="0">
                <a:solidFill>
                  <a:srgbClr val="000000"/>
                </a:solidFill>
                <a:effectLst/>
                <a:latin typeface="Arial"/>
                <a:ea typeface="Arial"/>
                <a:cs typeface="Arial"/>
                <a:sym typeface="Arial"/>
              </a:rPr>
              <a:t>Ngăn chặn rò rỉ dữ liệu nhạy cảm (DLP &amp; Guardrails):</a:t>
            </a:r>
            <a:r>
              <a:rPr lang="vi-VN" sz="1100" b="0" i="0" u="none" strike="noStrike" cap="none" spc="0" dirty="0">
                <a:solidFill>
                  <a:srgbClr val="000000"/>
                </a:solidFill>
                <a:effectLst/>
                <a:latin typeface="Arial"/>
                <a:ea typeface="Arial"/>
                <a:cs typeface="Arial"/>
                <a:sym typeface="Arial"/>
              </a:rPr>
              <a:t> Tự động lọc/che mờ các thông tin cá nhân (PII) như số CMND/CCCD, số thẻ ngân hàng, mật khẩu... trước khi gửi dữ liệu sang mô hình AI hoặc lưu vào cơ sở dữ liệu. Đồng thời chặn các đợt tấn công câu lệnh (Prompt Injection).</a:t>
            </a:r>
          </a:p>
          <a:p>
            <a:pPr lvl="1" rtl="0"/>
            <a:br>
              <a:rPr lang="vi-VN" sz="1100" b="0" i="0" u="none" strike="noStrike" cap="none" spc="0" dirty="0">
                <a:solidFill>
                  <a:srgbClr val="000000"/>
                </a:solidFill>
                <a:effectLst/>
                <a:latin typeface="Arial"/>
                <a:ea typeface="Arial"/>
                <a:cs typeface="Arial"/>
                <a:sym typeface="Arial"/>
              </a:rPr>
            </a:br>
            <a:endParaRPr lang="vi-VN" sz="1100" b="0" i="0" u="none" strike="noStrike" cap="none" spc="0" dirty="0">
              <a:solidFill>
                <a:srgbClr val="000000"/>
              </a:solidFill>
              <a:effectLst/>
              <a:latin typeface="Arial"/>
              <a:ea typeface="Arial"/>
              <a:cs typeface="Arial"/>
              <a:sym typeface="Arial"/>
            </a:endParaRPr>
          </a:p>
          <a:p>
            <a:pPr rtl="0"/>
            <a:r>
              <a:rPr lang="vi-VN" sz="1100" b="1" i="0" u="none" strike="noStrike" cap="none" spc="0" dirty="0">
                <a:solidFill>
                  <a:srgbClr val="000000"/>
                </a:solidFill>
                <a:effectLst/>
                <a:latin typeface="Arial"/>
                <a:ea typeface="Arial"/>
                <a:cs typeface="Arial"/>
                <a:sym typeface="Arial"/>
              </a:rPr>
              <a:t>Mục tiêu:</a:t>
            </a:r>
            <a:r>
              <a:rPr lang="vi-VN" sz="1100" b="0" i="0" u="none" strike="noStrike" cap="none" spc="0" dirty="0">
                <a:solidFill>
                  <a:srgbClr val="000000"/>
                </a:solidFill>
                <a:effectLst/>
                <a:latin typeface="Arial"/>
                <a:ea typeface="Arial"/>
                <a:cs typeface="Arial"/>
                <a:sym typeface="Arial"/>
              </a:rPr>
              <a:t> Đảm bảo hệ thống tuân thủ các quy định về an toàn thông tin và bảo vệ uy tín doanh nghiệp.</a:t>
            </a:r>
          </a:p>
          <a:p>
            <a:pPr rtl="0"/>
            <a:r>
              <a:rPr lang="en-US" sz="1100" b="1" i="0" u="none" strike="noStrike" cap="none" spc="0" dirty="0">
                <a:solidFill>
                  <a:srgbClr val="000000"/>
                </a:solidFill>
                <a:effectLst/>
                <a:latin typeface="Arial"/>
                <a:ea typeface="Arial"/>
                <a:cs typeface="Arial"/>
                <a:sym typeface="Arial"/>
              </a:rPr>
              <a:t>💡 </a:t>
            </a:r>
            <a:r>
              <a:rPr lang="vi-VN" sz="1100" b="1" i="0" u="none" strike="noStrike" cap="none" spc="0" dirty="0">
                <a:solidFill>
                  <a:srgbClr val="000000"/>
                </a:solidFill>
                <a:effectLst/>
                <a:latin typeface="Arial"/>
                <a:ea typeface="Arial"/>
                <a:cs typeface="Arial"/>
                <a:sym typeface="Arial"/>
              </a:rPr>
              <a:t>Tóm tắt mô hình hoạt động tổng thể</a:t>
            </a:r>
          </a:p>
          <a:p>
            <a:pPr rtl="0"/>
            <a:r>
              <a:rPr lang="vi-VN" sz="1100" b="0" i="0" u="none" strike="noStrike" cap="none" spc="0" dirty="0">
                <a:solidFill>
                  <a:srgbClr val="000000"/>
                </a:solidFill>
                <a:effectLst/>
                <a:latin typeface="Arial"/>
                <a:ea typeface="Arial"/>
                <a:cs typeface="Arial"/>
                <a:sym typeface="Arial"/>
              </a:rPr>
              <a:t>Plaintext</a:t>
            </a:r>
          </a:p>
          <a:p>
            <a:pPr rtl="0"/>
            <a:r>
              <a:rPr lang="vi-VN" sz="1100" b="0" i="0" u="none" strike="noStrike" cap="none" spc="0" dirty="0">
                <a:solidFill>
                  <a:srgbClr val="000000"/>
                </a:solidFill>
                <a:effectLst/>
                <a:latin typeface="Arial"/>
                <a:ea typeface="Arial"/>
                <a:cs typeface="Arial"/>
                <a:sym typeface="Arial"/>
              </a:rPr>
              <a:t>[Người dùng] </a:t>
            </a:r>
          </a:p>
          <a:p>
            <a:pPr rtl="0"/>
            <a:r>
              <a:rPr lang="vi-VN" sz="1100" b="0" i="0" u="none" strike="noStrike" cap="none" spc="0" dirty="0">
                <a:solidFill>
                  <a:srgbClr val="000000"/>
                </a:solidFill>
                <a:effectLst/>
                <a:latin typeface="Arial"/>
                <a:ea typeface="Arial"/>
                <a:cs typeface="Arial"/>
                <a:sym typeface="Arial"/>
              </a:rPr>
              <a:t>   └── (1) Gửi câu hỏi qua Chat/Voice/File (Tầng Tương Tác)</a:t>
            </a:r>
          </a:p>
          <a:p>
            <a:pPr rtl="0"/>
            <a:r>
              <a:rPr lang="vi-VN" sz="1100" b="0" i="0" u="none" strike="noStrike" cap="none" spc="0" dirty="0">
                <a:solidFill>
                  <a:srgbClr val="000000"/>
                </a:solidFill>
                <a:effectLst/>
                <a:latin typeface="Arial"/>
                <a:ea typeface="Arial"/>
                <a:cs typeface="Arial"/>
                <a:sym typeface="Arial"/>
              </a:rPr>
              <a:t>          └── (2) Kiểm tra an toàn &amp; mã hóa (Tầng Bảo Mật)</a:t>
            </a:r>
          </a:p>
          <a:p>
            <a:pPr rtl="0"/>
            <a:r>
              <a:rPr lang="vi-VN" sz="1100" b="0" i="0" u="none" strike="noStrike" cap="none" spc="0" dirty="0">
                <a:solidFill>
                  <a:srgbClr val="000000"/>
                </a:solidFill>
                <a:effectLst/>
                <a:latin typeface="Arial"/>
                <a:ea typeface="Arial"/>
                <a:cs typeface="Arial"/>
                <a:sym typeface="Arial"/>
              </a:rPr>
              <a:t>                 └── (3) Tra cứu lịch sử hội thoại (Tầng Lưu Trữ)</a:t>
            </a:r>
          </a:p>
          <a:p>
            <a:pPr rtl="0"/>
            <a:r>
              <a:rPr lang="vi-VN" sz="1100" b="0" i="0" u="none" strike="noStrike" cap="none" spc="0" dirty="0">
                <a:solidFill>
                  <a:srgbClr val="000000"/>
                </a:solidFill>
                <a:effectLst/>
                <a:latin typeface="Arial"/>
                <a:ea typeface="Arial"/>
                <a:cs typeface="Arial"/>
                <a:sym typeface="Arial"/>
              </a:rPr>
              <a:t>                        └── (4) Gọi dữ liệu/API để thực thi công việc (Tầng Nghiệp Vụ)</a:t>
            </a:r>
          </a:p>
          <a:p>
            <a:pPr rtl="0"/>
            <a:r>
              <a:rPr lang="vi-VN" sz="1100" b="0" i="0" u="none" strike="noStrike" cap="none" spc="0" dirty="0">
                <a:solidFill>
                  <a:srgbClr val="000000"/>
                </a:solidFill>
                <a:effectLst/>
                <a:latin typeface="Arial"/>
                <a:ea typeface="Arial"/>
                <a:cs typeface="Arial"/>
                <a:sym typeface="Arial"/>
              </a:rPr>
              <a:t>                               └── (5) Phản hồi kết quả lại cho [Người dùng]</a:t>
            </a:r>
          </a:p>
          <a:p>
            <a:pPr marL="0" lvl="0" indent="0" algn="l" rtl="0">
              <a:spcBef>
                <a:spcPts val="0"/>
              </a:spcBef>
              <a:spcAft>
                <a:spcPts val="0"/>
              </a:spcAft>
              <a:buNone/>
            </a:pPr>
            <a:endParaRPr dirty="0"/>
          </a:p>
        </p:txBody>
      </p:sp>
      <p:sp>
        <p:nvSpPr>
          <p:cNvPr id="143" name="Google Shape;14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6.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2.png"/><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png"/><Relationship Id="rId7"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6.png"/><Relationship Id="rId9" Type="http://schemas.openxmlformats.org/officeDocument/2006/relationships/image" Target="../media/image40.png"/></Relationships>
</file>

<file path=ppt/slides/_rels/slide10.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45.png"/><Relationship Id="rId7" Type="http://schemas.openxmlformats.org/officeDocument/2006/relationships/image" Target="../media/image6.png"/><Relationship Id="rId12" Type="http://schemas.openxmlformats.org/officeDocument/2006/relationships/image" Target="../media/image53.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8.png"/><Relationship Id="rId11" Type="http://schemas.openxmlformats.org/officeDocument/2006/relationships/image" Target="../media/image52.png"/><Relationship Id="rId5" Type="http://schemas.openxmlformats.org/officeDocument/2006/relationships/image" Target="../media/image47.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6" name="Google Shape;86;p13"/>
          <p:cNvSpPr txBox="1"/>
          <p:nvPr/>
        </p:nvSpPr>
        <p:spPr>
          <a:xfrm>
            <a:off x="1345406" y="2672804"/>
            <a:ext cx="9501187" cy="1440394"/>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900" b="0" i="0" u="none" strike="noStrike" cap="none" dirty="0">
                <a:solidFill>
                  <a:srgbClr val="FFFFFF"/>
                </a:solidFill>
                <a:latin typeface="Plus Jakarta Sans ExtraBold"/>
                <a:ea typeface="Plus Jakarta Sans ExtraBold"/>
                <a:cs typeface="Plus Jakarta Sans ExtraBold"/>
                <a:sym typeface="Plus Jakarta Sans ExtraBold"/>
              </a:rPr>
              <a:t>BÀI 4. THIẾT KẾ GIAO DIỆN VÀ TRẢI NGHIỆM NGƯỜI DÙNG VỚI AI TẠO SINH</a:t>
            </a:r>
            <a:endParaRPr dirty="0"/>
          </a:p>
        </p:txBody>
      </p:sp>
      <p:sp>
        <p:nvSpPr>
          <p:cNvPr id="87" name="Google Shape;87;p13"/>
          <p:cNvSpPr txBox="1"/>
          <p:nvPr/>
        </p:nvSpPr>
        <p:spPr>
          <a:xfrm>
            <a:off x="2286000" y="4147095"/>
            <a:ext cx="7620000" cy="60960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500" b="0" i="0" u="none" strike="noStrike" cap="none" dirty="0" err="1">
                <a:solidFill>
                  <a:srgbClr val="94A3B8"/>
                </a:solidFill>
                <a:latin typeface="Inter"/>
                <a:ea typeface="Inter"/>
                <a:cs typeface="Inter"/>
                <a:sym typeface="Inter"/>
              </a:rPr>
              <a:t>Tối</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ưu</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hóa</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tương</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tác</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người</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dùng</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kiến</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trúc</a:t>
            </a:r>
            <a:r>
              <a:rPr lang="en-US" sz="1500" b="0" i="0" u="none" strike="noStrike" cap="none" dirty="0">
                <a:solidFill>
                  <a:srgbClr val="94A3B8"/>
                </a:solidFill>
                <a:latin typeface="Inter"/>
                <a:ea typeface="Inter"/>
                <a:cs typeface="Inter"/>
                <a:sym typeface="Inter"/>
              </a:rPr>
              <a:t> 4 </a:t>
            </a:r>
            <a:r>
              <a:rPr lang="en-US" sz="1500" b="0" i="0" u="none" strike="noStrike" cap="none" dirty="0" err="1">
                <a:solidFill>
                  <a:srgbClr val="94A3B8"/>
                </a:solidFill>
                <a:latin typeface="Inter"/>
                <a:ea typeface="Inter"/>
                <a:cs typeface="Inter"/>
                <a:sym typeface="Inter"/>
              </a:rPr>
              <a:t>tầng</a:t>
            </a:r>
            <a:r>
              <a:rPr lang="en-US" sz="1500" b="0" i="0" u="none" strike="noStrike" cap="none" dirty="0">
                <a:solidFill>
                  <a:srgbClr val="94A3B8"/>
                </a:solidFill>
                <a:latin typeface="Inter"/>
                <a:ea typeface="Inter"/>
                <a:cs typeface="Inter"/>
                <a:sym typeface="Inter"/>
              </a:rPr>
              <a:t> Chatbot GenAI </a:t>
            </a:r>
            <a:r>
              <a:rPr lang="en-US" sz="1500" b="0" i="0" u="none" strike="noStrike" cap="none" dirty="0" err="1">
                <a:solidFill>
                  <a:srgbClr val="94A3B8"/>
                </a:solidFill>
                <a:latin typeface="Inter"/>
                <a:ea typeface="Inter"/>
                <a:cs typeface="Inter"/>
                <a:sym typeface="Inter"/>
              </a:rPr>
              <a:t>và</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nguyên</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tắc</a:t>
            </a:r>
            <a:r>
              <a:rPr lang="en-US" sz="1500" b="0" i="0" u="none" strike="noStrike" cap="none" dirty="0">
                <a:solidFill>
                  <a:srgbClr val="94A3B8"/>
                </a:solidFill>
                <a:latin typeface="Inter"/>
                <a:ea typeface="Inter"/>
                <a:cs typeface="Inter"/>
                <a:sym typeface="Inter"/>
              </a:rPr>
              <a:t> Well-Architected </a:t>
            </a:r>
            <a:r>
              <a:rPr lang="en-US" sz="1500" b="0" i="0" u="none" strike="noStrike" cap="none" dirty="0" err="1">
                <a:solidFill>
                  <a:srgbClr val="94A3B8"/>
                </a:solidFill>
                <a:latin typeface="Inter"/>
                <a:ea typeface="Inter"/>
                <a:cs typeface="Inter"/>
                <a:sym typeface="Inter"/>
              </a:rPr>
              <a:t>trong</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phát</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triển</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phần</a:t>
            </a:r>
            <a:r>
              <a:rPr lang="en-US" sz="1500" b="0" i="0" u="none" strike="noStrike" cap="none" dirty="0">
                <a:solidFill>
                  <a:srgbClr val="94A3B8"/>
                </a:solidFill>
                <a:latin typeface="Inter"/>
                <a:ea typeface="Inter"/>
                <a:cs typeface="Inter"/>
                <a:sym typeface="Inter"/>
              </a:rPr>
              <a:t> </a:t>
            </a:r>
            <a:r>
              <a:rPr lang="en-US" sz="1500" b="0" i="0" u="none" strike="noStrike" cap="none" dirty="0" err="1">
                <a:solidFill>
                  <a:srgbClr val="94A3B8"/>
                </a:solidFill>
                <a:latin typeface="Inter"/>
                <a:ea typeface="Inter"/>
                <a:cs typeface="Inter"/>
                <a:sym typeface="Inter"/>
              </a:rPr>
              <a:t>mềm</a:t>
            </a:r>
            <a:r>
              <a:rPr lang="en-US" sz="1500" b="0" i="0" u="none" strike="noStrike" cap="none" dirty="0">
                <a:solidFill>
                  <a:srgbClr val="94A3B8"/>
                </a:solidFill>
                <a:latin typeface="Inter"/>
                <a:ea typeface="Inter"/>
                <a:cs typeface="Inter"/>
                <a:sym typeface="Inter"/>
              </a:rPr>
              <a:t> AI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571500" y="2493168"/>
            <a:ext cx="3524250" cy="2514600"/>
          </a:xfrm>
          <a:prstGeom prst="rect">
            <a:avLst/>
          </a:prstGeom>
          <a:noFill/>
          <a:ln>
            <a:noFill/>
          </a:ln>
        </p:spPr>
      </p:pic>
      <p:pic>
        <p:nvPicPr>
          <p:cNvPr id="94" name="Google Shape;94;p14" descr="image.png"/>
          <p:cNvPicPr preferRelativeResize="0"/>
          <p:nvPr/>
        </p:nvPicPr>
        <p:blipFill rotWithShape="1">
          <a:blip r:embed="rId5">
            <a:alphaModFix/>
          </a:blip>
          <a:srcRect/>
          <a:stretch/>
        </p:blipFill>
        <p:spPr>
          <a:xfrm>
            <a:off x="4333875" y="2493168"/>
            <a:ext cx="3524250" cy="2514600"/>
          </a:xfrm>
          <a:prstGeom prst="rect">
            <a:avLst/>
          </a:prstGeom>
          <a:noFill/>
          <a:ln>
            <a:noFill/>
          </a:ln>
        </p:spPr>
      </p:pic>
      <p:pic>
        <p:nvPicPr>
          <p:cNvPr id="95" name="Google Shape;95;p14" descr="image.png"/>
          <p:cNvPicPr preferRelativeResize="0"/>
          <p:nvPr/>
        </p:nvPicPr>
        <p:blipFill rotWithShape="1">
          <a:blip r:embed="rId6">
            <a:alphaModFix/>
          </a:blip>
          <a:srcRect/>
          <a:stretch/>
        </p:blipFill>
        <p:spPr>
          <a:xfrm>
            <a:off x="8096250" y="2493168"/>
            <a:ext cx="3524250" cy="2514600"/>
          </a:xfrm>
          <a:prstGeom prst="rect">
            <a:avLst/>
          </a:prstGeom>
          <a:noFill/>
          <a:ln>
            <a:noFill/>
          </a:ln>
        </p:spPr>
      </p:pic>
      <p:pic>
        <p:nvPicPr>
          <p:cNvPr id="96" name="Google Shape;96;p14" descr="image.png"/>
          <p:cNvPicPr preferRelativeResize="0"/>
          <p:nvPr/>
        </p:nvPicPr>
        <p:blipFill rotWithShape="1">
          <a:blip r:embed="rId7">
            <a:alphaModFix/>
          </a:blip>
          <a:srcRect/>
          <a:stretch/>
        </p:blipFill>
        <p:spPr>
          <a:xfrm>
            <a:off x="571500" y="6400800"/>
            <a:ext cx="11049000" cy="266700"/>
          </a:xfrm>
          <a:prstGeom prst="rect">
            <a:avLst/>
          </a:prstGeom>
          <a:noFill/>
          <a:ln>
            <a:noFill/>
          </a:ln>
        </p:spPr>
      </p:pic>
      <p:sp>
        <p:nvSpPr>
          <p:cNvPr id="97" name="Google Shape;97;p14"/>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98" name="Google Shape;98;p14"/>
          <p:cNvSpPr txBox="1"/>
          <p:nvPr/>
        </p:nvSpPr>
        <p:spPr>
          <a:xfrm>
            <a:off x="11210925" y="6524625"/>
            <a:ext cx="40957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2</a:t>
            </a:r>
            <a:endParaRPr/>
          </a:p>
        </p:txBody>
      </p:sp>
      <p:pic>
        <p:nvPicPr>
          <p:cNvPr id="99" name="Google Shape;99;p14" descr="image.png"/>
          <p:cNvPicPr preferRelativeResize="0"/>
          <p:nvPr/>
        </p:nvPicPr>
        <p:blipFill rotWithShape="1">
          <a:blip r:embed="rId8">
            <a:alphaModFix/>
          </a:blip>
          <a:srcRect/>
          <a:stretch/>
        </p:blipFill>
        <p:spPr>
          <a:xfrm>
            <a:off x="819150" y="2788443"/>
            <a:ext cx="523875" cy="523875"/>
          </a:xfrm>
          <a:prstGeom prst="rect">
            <a:avLst/>
          </a:prstGeom>
          <a:noFill/>
          <a:ln>
            <a:noFill/>
          </a:ln>
        </p:spPr>
      </p:pic>
      <p:sp>
        <p:nvSpPr>
          <p:cNvPr id="100" name="Google Shape;100;p14"/>
          <p:cNvSpPr txBox="1"/>
          <p:nvPr/>
        </p:nvSpPr>
        <p:spPr>
          <a:xfrm>
            <a:off x="819150" y="3502818"/>
            <a:ext cx="1630203"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1. Chuyển Đổi UX</a:t>
            </a:r>
            <a:endParaRPr/>
          </a:p>
        </p:txBody>
      </p:sp>
      <p:sp>
        <p:nvSpPr>
          <p:cNvPr id="101" name="Google Shape;101;p14"/>
          <p:cNvSpPr txBox="1"/>
          <p:nvPr/>
        </p:nvSpPr>
        <p:spPr>
          <a:xfrm>
            <a:off x="819150" y="3855243"/>
            <a:ext cx="3028950" cy="85725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dirty="0" err="1">
                <a:solidFill>
                  <a:srgbClr val="475569"/>
                </a:solidFill>
                <a:latin typeface="Inter"/>
                <a:ea typeface="Inter"/>
                <a:cs typeface="Inter"/>
                <a:sym typeface="Inter"/>
              </a:rPr>
              <a:t>Cá</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nhân</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hóa</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giao</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diện</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dựa</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trên</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hành</a:t>
            </a:r>
            <a:r>
              <a:rPr lang="en-US" sz="1125" b="0" i="0" u="none" strike="noStrike" cap="none" dirty="0">
                <a:solidFill>
                  <a:srgbClr val="475569"/>
                </a:solidFill>
                <a:latin typeface="Inter"/>
                <a:ea typeface="Inter"/>
                <a:cs typeface="Inter"/>
                <a:sym typeface="Inter"/>
              </a:rPr>
              <a:t> vi </a:t>
            </a:r>
            <a:r>
              <a:rPr lang="en-US" sz="1125" b="0" i="0" u="none" strike="noStrike" cap="none" dirty="0" err="1">
                <a:solidFill>
                  <a:srgbClr val="475569"/>
                </a:solidFill>
                <a:latin typeface="Inter"/>
                <a:ea typeface="Inter"/>
                <a:cs typeface="Inter"/>
                <a:sym typeface="Inter"/>
              </a:rPr>
              <a:t>và</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sở</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thích</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cá</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nhân</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Tạo</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ra</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các</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tương</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tác</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thích</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ứng</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mà</a:t>
            </a:r>
            <a:r>
              <a:rPr lang="en-US" sz="1125" b="0" i="0" u="none" strike="noStrike" cap="none" dirty="0">
                <a:solidFill>
                  <a:srgbClr val="475569"/>
                </a:solidFill>
                <a:latin typeface="Inter"/>
                <a:ea typeface="Inter"/>
                <a:cs typeface="Inter"/>
                <a:sym typeface="Inter"/>
              </a:rPr>
              <a:t> ở </a:t>
            </a:r>
            <a:r>
              <a:rPr lang="en-US" sz="1125" b="0" i="0" u="none" strike="noStrike" cap="none" dirty="0" err="1">
                <a:solidFill>
                  <a:srgbClr val="475569"/>
                </a:solidFill>
                <a:latin typeface="Inter"/>
                <a:ea typeface="Inter"/>
                <a:cs typeface="Inter"/>
                <a:sym typeface="Inter"/>
              </a:rPr>
              <a:t>đó</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hệ</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thống</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học</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cách</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phục</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vụ</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từng</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người</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dùng</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tốt</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hơn</a:t>
            </a:r>
            <a:r>
              <a:rPr lang="en-US" sz="1125" b="0" i="0" u="none" strike="noStrike" cap="none" dirty="0">
                <a:solidFill>
                  <a:srgbClr val="475569"/>
                </a:solidFill>
                <a:latin typeface="Inter"/>
                <a:ea typeface="Inter"/>
                <a:cs typeface="Inter"/>
                <a:sym typeface="Inter"/>
              </a:rPr>
              <a:t>.</a:t>
            </a:r>
            <a:endParaRPr dirty="0"/>
          </a:p>
        </p:txBody>
      </p:sp>
      <p:pic>
        <p:nvPicPr>
          <p:cNvPr id="102" name="Google Shape;102;p14" descr="image.png"/>
          <p:cNvPicPr preferRelativeResize="0"/>
          <p:nvPr/>
        </p:nvPicPr>
        <p:blipFill rotWithShape="1">
          <a:blip r:embed="rId9">
            <a:alphaModFix/>
          </a:blip>
          <a:srcRect/>
          <a:stretch/>
        </p:blipFill>
        <p:spPr>
          <a:xfrm>
            <a:off x="4581525" y="2788443"/>
            <a:ext cx="523875" cy="523875"/>
          </a:xfrm>
          <a:prstGeom prst="rect">
            <a:avLst/>
          </a:prstGeom>
          <a:noFill/>
          <a:ln>
            <a:noFill/>
          </a:ln>
        </p:spPr>
      </p:pic>
      <p:sp>
        <p:nvSpPr>
          <p:cNvPr id="103" name="Google Shape;103;p14"/>
          <p:cNvSpPr txBox="1"/>
          <p:nvPr/>
        </p:nvSpPr>
        <p:spPr>
          <a:xfrm>
            <a:off x="4581525" y="3502818"/>
            <a:ext cx="225028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2. Nâng Cao Năng Suất</a:t>
            </a:r>
            <a:endParaRPr/>
          </a:p>
        </p:txBody>
      </p:sp>
      <p:sp>
        <p:nvSpPr>
          <p:cNvPr id="104" name="Google Shape;104;p14"/>
          <p:cNvSpPr txBox="1"/>
          <p:nvPr/>
        </p:nvSpPr>
        <p:spPr>
          <a:xfrm>
            <a:off x="4581525" y="3855243"/>
            <a:ext cx="3028950" cy="85725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475569"/>
                </a:solidFill>
                <a:latin typeface="Inter"/>
                <a:ea typeface="Inter"/>
                <a:cs typeface="Inter"/>
                <a:sym typeface="Inter"/>
              </a:rPr>
              <a:t>Tự động hóa các tác vụ lặp đi lặp lại. Giúp người dùng giải phóng thời gian thủ công để tập trung vào sáng tạo và ra quyết định chiến lược.</a:t>
            </a:r>
            <a:endParaRPr/>
          </a:p>
        </p:txBody>
      </p:sp>
      <p:pic>
        <p:nvPicPr>
          <p:cNvPr id="105" name="Google Shape;105;p14" descr="image.png"/>
          <p:cNvPicPr preferRelativeResize="0"/>
          <p:nvPr/>
        </p:nvPicPr>
        <p:blipFill rotWithShape="1">
          <a:blip r:embed="rId8">
            <a:alphaModFix/>
          </a:blip>
          <a:srcRect/>
          <a:stretch/>
        </p:blipFill>
        <p:spPr>
          <a:xfrm>
            <a:off x="8343900" y="2788443"/>
            <a:ext cx="523875" cy="523875"/>
          </a:xfrm>
          <a:prstGeom prst="rect">
            <a:avLst/>
          </a:prstGeom>
          <a:noFill/>
          <a:ln>
            <a:noFill/>
          </a:ln>
        </p:spPr>
      </p:pic>
      <p:sp>
        <p:nvSpPr>
          <p:cNvPr id="106" name="Google Shape;106;p14"/>
          <p:cNvSpPr txBox="1"/>
          <p:nvPr/>
        </p:nvSpPr>
        <p:spPr>
          <a:xfrm>
            <a:off x="8343900" y="3502818"/>
            <a:ext cx="2110263"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3. Hiệu Quả Vận Hành</a:t>
            </a:r>
            <a:endParaRPr/>
          </a:p>
        </p:txBody>
      </p:sp>
      <p:sp>
        <p:nvSpPr>
          <p:cNvPr id="107" name="Google Shape;107;p14"/>
          <p:cNvSpPr txBox="1"/>
          <p:nvPr/>
        </p:nvSpPr>
        <p:spPr>
          <a:xfrm>
            <a:off x="8343900" y="3855243"/>
            <a:ext cx="3028950" cy="857250"/>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475569"/>
                </a:solidFill>
                <a:latin typeface="Inter"/>
                <a:ea typeface="Inter"/>
                <a:cs typeface="Inter"/>
                <a:sym typeface="Inter"/>
              </a:rPr>
              <a:t>Tối ưu hóa quy trình nghiệp vụ thông qua phân tích thông minh, đưa ra dự đoán chính xác và cải thiện tốc độ phản hồi cho doanh nghiệp.</a:t>
            </a:r>
            <a:endParaRPr/>
          </a:p>
        </p:txBody>
      </p:sp>
      <p:pic>
        <p:nvPicPr>
          <p:cNvPr id="108" name="Google Shape;108;p14" descr="image.png"/>
          <p:cNvPicPr preferRelativeResize="0"/>
          <p:nvPr/>
        </p:nvPicPr>
        <p:blipFill rotWithShape="1">
          <a:blip r:embed="rId10">
            <a:alphaModFix/>
          </a:blip>
          <a:srcRect/>
          <a:stretch/>
        </p:blipFill>
        <p:spPr>
          <a:xfrm>
            <a:off x="938212" y="2936081"/>
            <a:ext cx="285750" cy="228600"/>
          </a:xfrm>
          <a:prstGeom prst="rect">
            <a:avLst/>
          </a:prstGeom>
          <a:noFill/>
          <a:ln>
            <a:noFill/>
          </a:ln>
        </p:spPr>
      </p:pic>
      <p:pic>
        <p:nvPicPr>
          <p:cNvPr id="109" name="Google Shape;109;p14" descr="image.png"/>
          <p:cNvPicPr preferRelativeResize="0"/>
          <p:nvPr/>
        </p:nvPicPr>
        <p:blipFill rotWithShape="1">
          <a:blip r:embed="rId11">
            <a:alphaModFix/>
          </a:blip>
          <a:srcRect/>
          <a:stretch/>
        </p:blipFill>
        <p:spPr>
          <a:xfrm>
            <a:off x="4729162" y="2936081"/>
            <a:ext cx="228600" cy="228600"/>
          </a:xfrm>
          <a:prstGeom prst="rect">
            <a:avLst/>
          </a:prstGeom>
          <a:noFill/>
          <a:ln>
            <a:noFill/>
          </a:ln>
        </p:spPr>
      </p:pic>
      <p:pic>
        <p:nvPicPr>
          <p:cNvPr id="110" name="Google Shape;110;p14" descr="image.png"/>
          <p:cNvPicPr preferRelativeResize="0"/>
          <p:nvPr/>
        </p:nvPicPr>
        <p:blipFill rotWithShape="1">
          <a:blip r:embed="rId12">
            <a:alphaModFix/>
          </a:blip>
          <a:srcRect/>
          <a:stretch/>
        </p:blipFill>
        <p:spPr>
          <a:xfrm>
            <a:off x="8491537" y="2936081"/>
            <a:ext cx="228600" cy="228600"/>
          </a:xfrm>
          <a:prstGeom prst="rect">
            <a:avLst/>
          </a:prstGeom>
          <a:noFill/>
          <a:ln>
            <a:noFill/>
          </a:ln>
        </p:spPr>
      </p:pic>
      <p:sp>
        <p:nvSpPr>
          <p:cNvPr id="111" name="Google Shape;111;p14"/>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4.1.Ba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Trụ</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Cột</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Của</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Ứng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Dụng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AI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Tạo</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Sinh</a:t>
            </a:r>
            <a:endParaRPr dirty="0"/>
          </a:p>
        </p:txBody>
      </p:sp>
      <p:sp>
        <p:nvSpPr>
          <p:cNvPr id="112" name="Google Shape;112;p14"/>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pic>
        <p:nvPicPr>
          <p:cNvPr id="117" name="Google Shape;11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8" name="Google Shape;118;p15" descr="image.png"/>
          <p:cNvPicPr preferRelativeResize="0"/>
          <p:nvPr/>
        </p:nvPicPr>
        <p:blipFill rotWithShape="1">
          <a:blip r:embed="rId4">
            <a:alphaModFix/>
          </a:blip>
          <a:srcRect/>
          <a:stretch/>
        </p:blipFill>
        <p:spPr>
          <a:xfrm>
            <a:off x="571500" y="2474118"/>
            <a:ext cx="11049000" cy="2552700"/>
          </a:xfrm>
          <a:prstGeom prst="rect">
            <a:avLst/>
          </a:prstGeom>
          <a:noFill/>
          <a:ln>
            <a:noFill/>
          </a:ln>
        </p:spPr>
      </p:pic>
      <p:pic>
        <p:nvPicPr>
          <p:cNvPr id="119" name="Google Shape;119;p15" descr="image.png"/>
          <p:cNvPicPr preferRelativeResize="0"/>
          <p:nvPr/>
        </p:nvPicPr>
        <p:blipFill rotWithShape="1">
          <a:blip r:embed="rId5">
            <a:alphaModFix/>
          </a:blip>
          <a:srcRect/>
          <a:stretch/>
        </p:blipFill>
        <p:spPr>
          <a:xfrm>
            <a:off x="571500" y="6400800"/>
            <a:ext cx="11049000" cy="266700"/>
          </a:xfrm>
          <a:prstGeom prst="rect">
            <a:avLst/>
          </a:prstGeom>
          <a:noFill/>
          <a:ln>
            <a:noFill/>
          </a:ln>
        </p:spPr>
      </p:pic>
      <p:sp>
        <p:nvSpPr>
          <p:cNvPr id="120" name="Google Shape;120;p15"/>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121" name="Google Shape;121;p15"/>
          <p:cNvSpPr txBox="1"/>
          <p:nvPr/>
        </p:nvSpPr>
        <p:spPr>
          <a:xfrm>
            <a:off x="11210925" y="6524625"/>
            <a:ext cx="40957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3</a:t>
            </a:r>
            <a:endParaRPr/>
          </a:p>
        </p:txBody>
      </p:sp>
      <p:sp>
        <p:nvSpPr>
          <p:cNvPr id="122" name="Google Shape;122;p15"/>
          <p:cNvSpPr/>
          <p:nvPr/>
        </p:nvSpPr>
        <p:spPr>
          <a:xfrm>
            <a:off x="581025" y="2483643"/>
            <a:ext cx="11029950" cy="253365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23" name="Google Shape;123;p15"/>
          <p:cNvGraphicFramePr/>
          <p:nvPr>
            <p:extLst>
              <p:ext uri="{D42A27DB-BD31-4B8C-83A1-F6EECF244321}">
                <p14:modId xmlns:p14="http://schemas.microsoft.com/office/powerpoint/2010/main" val="475843726"/>
              </p:ext>
            </p:extLst>
          </p:nvPr>
        </p:nvGraphicFramePr>
        <p:xfrm>
          <a:off x="581025" y="2483643"/>
          <a:ext cx="11029950" cy="2533625"/>
        </p:xfrm>
        <a:graphic>
          <a:graphicData uri="http://schemas.openxmlformats.org/drawingml/2006/table">
            <a:tbl>
              <a:tblPr firstRow="1" bandRow="1">
                <a:noFill/>
                <a:tableStyleId>{065E774B-8F5C-4378-9205-2874BD6356DD}</a:tableStyleId>
              </a:tblPr>
              <a:tblGrid>
                <a:gridCol w="1768225">
                  <a:extLst>
                    <a:ext uri="{9D8B030D-6E8A-4147-A177-3AD203B41FA5}">
                      <a16:colId xmlns:a16="http://schemas.microsoft.com/office/drawing/2014/main" val="20000"/>
                    </a:ext>
                  </a:extLst>
                </a:gridCol>
                <a:gridCol w="1939525">
                  <a:extLst>
                    <a:ext uri="{9D8B030D-6E8A-4147-A177-3AD203B41FA5}">
                      <a16:colId xmlns:a16="http://schemas.microsoft.com/office/drawing/2014/main" val="20001"/>
                    </a:ext>
                  </a:extLst>
                </a:gridCol>
                <a:gridCol w="3883525">
                  <a:extLst>
                    <a:ext uri="{9D8B030D-6E8A-4147-A177-3AD203B41FA5}">
                      <a16:colId xmlns:a16="http://schemas.microsoft.com/office/drawing/2014/main" val="20002"/>
                    </a:ext>
                  </a:extLst>
                </a:gridCol>
                <a:gridCol w="3438675">
                  <a:extLst>
                    <a:ext uri="{9D8B030D-6E8A-4147-A177-3AD203B41FA5}">
                      <a16:colId xmlns:a16="http://schemas.microsoft.com/office/drawing/2014/main" val="20003"/>
                    </a:ext>
                  </a:extLst>
                </a:gridCol>
              </a:tblGrid>
              <a:tr h="633400">
                <a:tc>
                  <a:txBody>
                    <a:bodyPr/>
                    <a:lstStyle/>
                    <a:p>
                      <a:pPr marL="0" marR="0" lvl="0" indent="0" algn="l"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Cấp Độ</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00" b="1" i="0" u="none" strike="noStrike" cap="none" dirty="0">
                          <a:solidFill>
                            <a:srgbClr val="FFFFFF"/>
                          </a:solidFill>
                          <a:latin typeface="Plus Jakarta Sans"/>
                          <a:ea typeface="Plus Jakarta Sans"/>
                          <a:cs typeface="Plus Jakarta Sans"/>
                          <a:sym typeface="Plus Jakarta Sans"/>
                        </a:rPr>
                        <a:t>Công </a:t>
                      </a:r>
                      <a:r>
                        <a:rPr lang="en-US" sz="1200" b="1" i="0" u="none" strike="noStrike" cap="none" dirty="0" err="1">
                          <a:solidFill>
                            <a:srgbClr val="FFFFFF"/>
                          </a:solidFill>
                          <a:latin typeface="Plus Jakarta Sans"/>
                          <a:ea typeface="Plus Jakarta Sans"/>
                          <a:cs typeface="Plus Jakarta Sans"/>
                          <a:sym typeface="Plus Jakarta Sans"/>
                        </a:rPr>
                        <a:t>Cụ</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Thế Mạnh Chính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00" b="1" i="0" u="none" strike="noStrike" cap="none">
                          <a:solidFill>
                            <a:srgbClr val="FFFFFF"/>
                          </a:solidFill>
                          <a:latin typeface="Plus Jakarta Sans"/>
                          <a:ea typeface="Plus Jakarta Sans"/>
                          <a:cs typeface="Plus Jakarta Sans"/>
                          <a:sym typeface="Plus Jakarta Sans"/>
                        </a:rPr>
                        <a:t>Hạn Chế Cần Lưu Ý</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633400">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Tạo mẫu nhanh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334155"/>
                          </a:solidFill>
                          <a:latin typeface="Inter"/>
                          <a:ea typeface="Inter"/>
                          <a:cs typeface="Inter"/>
                          <a:sym typeface="Inter"/>
                        </a:rPr>
                        <a:t>Gradio, Streamlit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Dựng giao diện trong vài phút, ít code, tích hợp sẵn mô hình ML/AI. Lý tưởng cho demo.</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Không phù hợp sản xuất quy mô lớn, khả năng tùy biến UI hạn chế.</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33400">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Sản xuất (Production)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1" i="0" u="none" strike="noStrike" cap="none">
                          <a:solidFill>
                            <a:srgbClr val="334155"/>
                          </a:solidFill>
                          <a:latin typeface="Inter"/>
                          <a:ea typeface="Inter"/>
                          <a:cs typeface="Inter"/>
                          <a:sym typeface="Inter"/>
                        </a:rPr>
                        <a:t>Flask, Django, Node.js + React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Bảo mật cao, mở rộng linh hoạt, quản lý người dùng &amp; tích hợp hạ tầng doanh nghiệp.</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Yêu cầu kỹ năng front-end/back-end toàn diện, thời gian phát triển dài hơn.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633425">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Tích hợp Front-end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1" i="0" u="none" strike="noStrike" cap="none">
                          <a:solidFill>
                            <a:srgbClr val="334155"/>
                          </a:solidFill>
                          <a:latin typeface="Inter"/>
                          <a:ea typeface="Inter"/>
                          <a:cs typeface="Inter"/>
                          <a:sym typeface="Inter"/>
                        </a:rPr>
                        <a:t>LangChain.js, Shiny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a:solidFill>
                            <a:srgbClr val="334155"/>
                          </a:solidFill>
                          <a:latin typeface="Inter"/>
                          <a:ea typeface="Inter"/>
                          <a:cs typeface="Inter"/>
                          <a:sym typeface="Inter"/>
                        </a:rPr>
                        <a:t>Gắn LLM trực tiếp vào trình duyệt client, lập trình phản ứng (reactive programming).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125" b="0" i="0" u="none" strike="noStrike" cap="none" dirty="0" err="1">
                          <a:solidFill>
                            <a:srgbClr val="334155"/>
                          </a:solidFill>
                          <a:latin typeface="Inter"/>
                          <a:ea typeface="Inter"/>
                          <a:cs typeface="Inter"/>
                          <a:sym typeface="Inter"/>
                        </a:rPr>
                        <a:t>Phụ</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thuộc</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hệ</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sinh</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thái</a:t>
                      </a:r>
                      <a:r>
                        <a:rPr lang="en-US" sz="1125" b="0" i="0" u="none" strike="noStrike" cap="none" dirty="0">
                          <a:solidFill>
                            <a:srgbClr val="334155"/>
                          </a:solidFill>
                          <a:latin typeface="Inter"/>
                          <a:ea typeface="Inter"/>
                          <a:cs typeface="Inter"/>
                          <a:sym typeface="Inter"/>
                        </a:rPr>
                        <a:t> JavaScript/R, </a:t>
                      </a:r>
                      <a:r>
                        <a:rPr lang="en-US" sz="1125" b="0" i="0" u="none" strike="noStrike" cap="none" dirty="0" err="1">
                          <a:solidFill>
                            <a:srgbClr val="334155"/>
                          </a:solidFill>
                          <a:latin typeface="Inter"/>
                          <a:ea typeface="Inter"/>
                          <a:cs typeface="Inter"/>
                          <a:sym typeface="Inter"/>
                        </a:rPr>
                        <a:t>một</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số</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thư</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viện</a:t>
                      </a:r>
                      <a:r>
                        <a:rPr lang="en-US" sz="1125" b="0" i="0" u="none" strike="noStrike" cap="none" dirty="0">
                          <a:solidFill>
                            <a:srgbClr val="334155"/>
                          </a:solidFill>
                          <a:latin typeface="Inter"/>
                          <a:ea typeface="Inter"/>
                          <a:cs typeface="Inter"/>
                          <a:sym typeface="Inter"/>
                        </a:rPr>
                        <a:t> </a:t>
                      </a:r>
                      <a:r>
                        <a:rPr lang="en-US" sz="1125" b="0" i="0" u="none" strike="noStrike" cap="none" dirty="0" err="1">
                          <a:solidFill>
                            <a:srgbClr val="334155"/>
                          </a:solidFill>
                          <a:latin typeface="Inter"/>
                          <a:ea typeface="Inter"/>
                          <a:cs typeface="Inter"/>
                          <a:sym typeface="Inter"/>
                        </a:rPr>
                        <a:t>còn</a:t>
                      </a:r>
                      <a:r>
                        <a:rPr lang="en-US" sz="1125" b="0" i="0" u="none" strike="noStrike" cap="none" dirty="0">
                          <a:solidFill>
                            <a:srgbClr val="334155"/>
                          </a:solidFill>
                          <a:latin typeface="Inter"/>
                          <a:ea typeface="Inter"/>
                          <a:cs typeface="Inter"/>
                          <a:sym typeface="Inter"/>
                        </a:rPr>
                        <a:t> non </a:t>
                      </a:r>
                      <a:r>
                        <a:rPr lang="en-US" sz="1125" b="0" i="0" u="none" strike="noStrike" cap="none" dirty="0" err="1">
                          <a:solidFill>
                            <a:srgbClr val="334155"/>
                          </a:solidFill>
                          <a:latin typeface="Inter"/>
                          <a:ea typeface="Inter"/>
                          <a:cs typeface="Inter"/>
                          <a:sym typeface="Inter"/>
                        </a:rPr>
                        <a:t>trẻ</a:t>
                      </a:r>
                      <a:r>
                        <a:rPr lang="en-US" sz="1125" b="0" i="0" u="none" strike="noStrike" cap="none" dirty="0">
                          <a:solidFill>
                            <a:srgbClr val="334155"/>
                          </a:solidFill>
                          <a:latin typeface="Inter"/>
                          <a:ea typeface="Inter"/>
                          <a:cs typeface="Inter"/>
                          <a:sym typeface="Inter"/>
                        </a:rPr>
                        <a:t>.</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24" name="Google Shape;124;p15"/>
          <p:cNvSpPr/>
          <p:nvPr/>
        </p:nvSpPr>
        <p:spPr>
          <a:xfrm>
            <a:off x="581025" y="3650456"/>
            <a:ext cx="17682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5"/>
          <p:cNvSpPr/>
          <p:nvPr/>
        </p:nvSpPr>
        <p:spPr>
          <a:xfrm>
            <a:off x="2349251" y="3650456"/>
            <a:ext cx="19395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6" name="Google Shape;126;p15"/>
          <p:cNvSpPr/>
          <p:nvPr/>
        </p:nvSpPr>
        <p:spPr>
          <a:xfrm>
            <a:off x="4288780" y="3650456"/>
            <a:ext cx="388352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5"/>
          <p:cNvSpPr/>
          <p:nvPr/>
        </p:nvSpPr>
        <p:spPr>
          <a:xfrm>
            <a:off x="8172301" y="3650456"/>
            <a:ext cx="34386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5"/>
          <p:cNvSpPr/>
          <p:nvPr/>
        </p:nvSpPr>
        <p:spPr>
          <a:xfrm>
            <a:off x="581025" y="4326731"/>
            <a:ext cx="17682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5"/>
          <p:cNvSpPr/>
          <p:nvPr/>
        </p:nvSpPr>
        <p:spPr>
          <a:xfrm>
            <a:off x="2349251" y="4326731"/>
            <a:ext cx="19395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5"/>
          <p:cNvSpPr/>
          <p:nvPr/>
        </p:nvSpPr>
        <p:spPr>
          <a:xfrm>
            <a:off x="4288780" y="4326731"/>
            <a:ext cx="388352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 name="Google Shape;131;p15"/>
          <p:cNvSpPr/>
          <p:nvPr/>
        </p:nvSpPr>
        <p:spPr>
          <a:xfrm>
            <a:off x="8172301" y="4326731"/>
            <a:ext cx="34386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5"/>
          <p:cNvSpPr/>
          <p:nvPr/>
        </p:nvSpPr>
        <p:spPr>
          <a:xfrm>
            <a:off x="581025" y="5003006"/>
            <a:ext cx="176822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15"/>
          <p:cNvSpPr/>
          <p:nvPr/>
        </p:nvSpPr>
        <p:spPr>
          <a:xfrm>
            <a:off x="2349251" y="5003006"/>
            <a:ext cx="193952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4" name="Google Shape;134;p15"/>
          <p:cNvSpPr/>
          <p:nvPr/>
        </p:nvSpPr>
        <p:spPr>
          <a:xfrm>
            <a:off x="4288780" y="5003006"/>
            <a:ext cx="388352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 name="Google Shape;135;p15"/>
          <p:cNvSpPr/>
          <p:nvPr/>
        </p:nvSpPr>
        <p:spPr>
          <a:xfrm>
            <a:off x="8172301" y="5003006"/>
            <a:ext cx="34386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36" name="Google Shape;136;p15" descr="image.png"/>
          <p:cNvPicPr preferRelativeResize="0"/>
          <p:nvPr/>
        </p:nvPicPr>
        <p:blipFill rotWithShape="1">
          <a:blip r:embed="rId6">
            <a:alphaModFix/>
          </a:blip>
          <a:srcRect/>
          <a:stretch/>
        </p:blipFill>
        <p:spPr>
          <a:xfrm>
            <a:off x="771525" y="3140868"/>
            <a:ext cx="1200150" cy="219075"/>
          </a:xfrm>
          <a:prstGeom prst="rect">
            <a:avLst/>
          </a:prstGeom>
          <a:noFill/>
          <a:ln>
            <a:noFill/>
          </a:ln>
        </p:spPr>
      </p:pic>
      <p:pic>
        <p:nvPicPr>
          <p:cNvPr id="137" name="Google Shape;137;p15" descr="image.png"/>
          <p:cNvPicPr preferRelativeResize="0"/>
          <p:nvPr/>
        </p:nvPicPr>
        <p:blipFill rotWithShape="1">
          <a:blip r:embed="rId7">
            <a:alphaModFix/>
          </a:blip>
          <a:srcRect/>
          <a:stretch/>
        </p:blipFill>
        <p:spPr>
          <a:xfrm>
            <a:off x="771525" y="3817143"/>
            <a:ext cx="1387226" cy="361950"/>
          </a:xfrm>
          <a:prstGeom prst="rect">
            <a:avLst/>
          </a:prstGeom>
          <a:noFill/>
          <a:ln>
            <a:noFill/>
          </a:ln>
        </p:spPr>
      </p:pic>
      <p:pic>
        <p:nvPicPr>
          <p:cNvPr id="138" name="Google Shape;138;p15" descr="image.png"/>
          <p:cNvPicPr preferRelativeResize="0"/>
          <p:nvPr/>
        </p:nvPicPr>
        <p:blipFill rotWithShape="1">
          <a:blip r:embed="rId8">
            <a:alphaModFix/>
          </a:blip>
          <a:srcRect/>
          <a:stretch/>
        </p:blipFill>
        <p:spPr>
          <a:xfrm>
            <a:off x="771525" y="4493418"/>
            <a:ext cx="1387226" cy="361950"/>
          </a:xfrm>
          <a:prstGeom prst="rect">
            <a:avLst/>
          </a:prstGeom>
          <a:noFill/>
          <a:ln>
            <a:noFill/>
          </a:ln>
        </p:spPr>
      </p:pic>
      <p:sp>
        <p:nvSpPr>
          <p:cNvPr id="139" name="Google Shape;139;p15"/>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4.2.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Hệ</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Sinh Thái Công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Cụ</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Xây</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Dựng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Giao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Diện</a:t>
            </a:r>
            <a:endParaRPr dirty="0"/>
          </a:p>
        </p:txBody>
      </p:sp>
      <p:sp>
        <p:nvSpPr>
          <p:cNvPr id="140" name="Google Shape;140;p15"/>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4"/>
        <p:cNvGrpSpPr/>
        <p:nvPr/>
      </p:nvGrpSpPr>
      <p:grpSpPr>
        <a:xfrm>
          <a:off x="0" y="0"/>
          <a:ext cx="0" cy="0"/>
          <a:chOff x="0" y="0"/>
          <a:chExt cx="0" cy="0"/>
        </a:xfrm>
      </p:grpSpPr>
      <p:pic>
        <p:nvPicPr>
          <p:cNvPr id="145" name="Google Shape;145;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6" name="Google Shape;146;p16" descr="image.png"/>
          <p:cNvPicPr preferRelativeResize="0"/>
          <p:nvPr/>
        </p:nvPicPr>
        <p:blipFill rotWithShape="1">
          <a:blip r:embed="rId4">
            <a:alphaModFix/>
          </a:blip>
          <a:srcRect/>
          <a:stretch/>
        </p:blipFill>
        <p:spPr>
          <a:xfrm>
            <a:off x="6262687" y="1940718"/>
            <a:ext cx="5357812" cy="3619500"/>
          </a:xfrm>
          <a:prstGeom prst="rect">
            <a:avLst/>
          </a:prstGeom>
          <a:noFill/>
          <a:ln>
            <a:noFill/>
          </a:ln>
        </p:spPr>
      </p:pic>
      <p:pic>
        <p:nvPicPr>
          <p:cNvPr id="147" name="Google Shape;147;p16" descr="image.png"/>
          <p:cNvPicPr preferRelativeResize="0"/>
          <p:nvPr/>
        </p:nvPicPr>
        <p:blipFill rotWithShape="1">
          <a:blip r:embed="rId5">
            <a:alphaModFix/>
          </a:blip>
          <a:srcRect/>
          <a:stretch/>
        </p:blipFill>
        <p:spPr>
          <a:xfrm>
            <a:off x="571500" y="6400800"/>
            <a:ext cx="11049000" cy="266700"/>
          </a:xfrm>
          <a:prstGeom prst="rect">
            <a:avLst/>
          </a:prstGeom>
          <a:noFill/>
          <a:ln>
            <a:noFill/>
          </a:ln>
        </p:spPr>
      </p:pic>
      <p:sp>
        <p:nvSpPr>
          <p:cNvPr id="148" name="Google Shape;148;p16"/>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149" name="Google Shape;149;p16"/>
          <p:cNvSpPr txBox="1"/>
          <p:nvPr/>
        </p:nvSpPr>
        <p:spPr>
          <a:xfrm>
            <a:off x="11201400" y="6524625"/>
            <a:ext cx="4191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4</a:t>
            </a:r>
            <a:endParaRPr/>
          </a:p>
        </p:txBody>
      </p:sp>
      <p:pic>
        <p:nvPicPr>
          <p:cNvPr id="150" name="Google Shape;150;p16" descr="image.png"/>
          <p:cNvPicPr preferRelativeResize="0"/>
          <p:nvPr/>
        </p:nvPicPr>
        <p:blipFill rotWithShape="1">
          <a:blip r:embed="rId6">
            <a:alphaModFix/>
          </a:blip>
          <a:srcRect/>
          <a:stretch/>
        </p:blipFill>
        <p:spPr>
          <a:xfrm>
            <a:off x="6272212" y="1950243"/>
            <a:ext cx="5338762" cy="3600450"/>
          </a:xfrm>
          <a:prstGeom prst="rect">
            <a:avLst/>
          </a:prstGeom>
          <a:noFill/>
          <a:ln>
            <a:noFill/>
          </a:ln>
        </p:spPr>
      </p:pic>
      <p:sp>
        <p:nvSpPr>
          <p:cNvPr id="151" name="Google Shape;151;p16"/>
          <p:cNvSpPr txBox="1"/>
          <p:nvPr/>
        </p:nvSpPr>
        <p:spPr>
          <a:xfrm>
            <a:off x="1000125" y="2493168"/>
            <a:ext cx="4929187"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Tầng Tương Tác (Interaction Layer):</a:t>
            </a:r>
            <a:r>
              <a:rPr lang="en-US" sz="1200" b="0" i="0" u="none" strike="noStrike" cap="none">
                <a:solidFill>
                  <a:srgbClr val="475569"/>
                </a:solidFill>
                <a:latin typeface="Inter"/>
                <a:ea typeface="Inter"/>
                <a:cs typeface="Inter"/>
                <a:sym typeface="Inter"/>
              </a:rPr>
              <a:t> Nơi người dùng tiếp xúc qua chat UI, giọng nói hoặc tải tệp đa phương thức.</a:t>
            </a:r>
            <a:endParaRPr/>
          </a:p>
        </p:txBody>
      </p:sp>
      <p:sp>
        <p:nvSpPr>
          <p:cNvPr id="152" name="Google Shape;152;p16"/>
          <p:cNvSpPr txBox="1"/>
          <p:nvPr/>
        </p:nvSpPr>
        <p:spPr>
          <a:xfrm>
            <a:off x="1000125" y="3121818"/>
            <a:ext cx="4929187"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dirty="0" err="1">
                <a:solidFill>
                  <a:srgbClr val="475569"/>
                </a:solidFill>
                <a:latin typeface="Inter"/>
                <a:ea typeface="Inter"/>
                <a:cs typeface="Inter"/>
                <a:sym typeface="Inter"/>
              </a:rPr>
              <a:t>Tầng</a:t>
            </a:r>
            <a:r>
              <a:rPr lang="en-US" sz="1200" b="1" i="0" u="none" strike="noStrike" cap="none" dirty="0">
                <a:solidFill>
                  <a:srgbClr val="475569"/>
                </a:solidFill>
                <a:latin typeface="Inter"/>
                <a:ea typeface="Inter"/>
                <a:cs typeface="Inter"/>
                <a:sym typeface="Inter"/>
              </a:rPr>
              <a:t> </a:t>
            </a:r>
            <a:r>
              <a:rPr lang="en-US" sz="1200" b="1" i="0" u="none" strike="noStrike" cap="none" dirty="0" err="1">
                <a:solidFill>
                  <a:srgbClr val="475569"/>
                </a:solidFill>
                <a:latin typeface="Inter"/>
                <a:ea typeface="Inter"/>
                <a:cs typeface="Inter"/>
                <a:sym typeface="Inter"/>
              </a:rPr>
              <a:t>Nghiệp</a:t>
            </a:r>
            <a:r>
              <a:rPr lang="en-US" sz="1200" b="1" i="0" u="none" strike="noStrike" cap="none" dirty="0">
                <a:solidFill>
                  <a:srgbClr val="475569"/>
                </a:solidFill>
                <a:latin typeface="Inter"/>
                <a:ea typeface="Inter"/>
                <a:cs typeface="Inter"/>
                <a:sym typeface="Inter"/>
              </a:rPr>
              <a:t> </a:t>
            </a:r>
            <a:r>
              <a:rPr lang="en-US" sz="1200" b="1" i="0" u="none" strike="noStrike" cap="none" dirty="0" err="1">
                <a:solidFill>
                  <a:srgbClr val="475569"/>
                </a:solidFill>
                <a:latin typeface="Inter"/>
                <a:ea typeface="Inter"/>
                <a:cs typeface="Inter"/>
                <a:sym typeface="Inter"/>
              </a:rPr>
              <a:t>Vụ</a:t>
            </a:r>
            <a:r>
              <a:rPr lang="en-US" sz="1200" b="1" i="0" u="none" strike="noStrike" cap="none" dirty="0">
                <a:solidFill>
                  <a:srgbClr val="475569"/>
                </a:solidFill>
                <a:latin typeface="Inter"/>
                <a:ea typeface="Inter"/>
                <a:cs typeface="Inter"/>
                <a:sym typeface="Inter"/>
              </a:rPr>
              <a:t> (Backend Operations):</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Tích</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hợp</a:t>
            </a:r>
            <a:r>
              <a:rPr lang="en-US" sz="1200" b="0" i="0" u="none" strike="noStrike" cap="none" dirty="0">
                <a:solidFill>
                  <a:srgbClr val="475569"/>
                </a:solidFill>
                <a:latin typeface="Inter"/>
                <a:ea typeface="Inter"/>
                <a:cs typeface="Inter"/>
                <a:sym typeface="Inter"/>
              </a:rPr>
              <a:t> CRM, </a:t>
            </a:r>
            <a:r>
              <a:rPr lang="en-US" sz="1200" b="0" i="0" u="none" strike="noStrike" cap="none" dirty="0" err="1">
                <a:solidFill>
                  <a:srgbClr val="475569"/>
                </a:solidFill>
                <a:latin typeface="Inter"/>
                <a:ea typeface="Inter"/>
                <a:cs typeface="Inter"/>
                <a:sym typeface="Inter"/>
              </a:rPr>
              <a:t>cơ</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sở</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dữ</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liệu</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và</a:t>
            </a:r>
            <a:r>
              <a:rPr lang="en-US" sz="1200" b="0" i="0" u="none" strike="noStrike" cap="none" dirty="0">
                <a:solidFill>
                  <a:srgbClr val="475569"/>
                </a:solidFill>
                <a:latin typeface="Inter"/>
                <a:ea typeface="Inter"/>
                <a:cs typeface="Inter"/>
                <a:sym typeface="Inter"/>
              </a:rPr>
              <a:t> API </a:t>
            </a:r>
            <a:r>
              <a:rPr lang="en-US" sz="1200" b="0" i="0" u="none" strike="noStrike" cap="none" dirty="0" err="1">
                <a:solidFill>
                  <a:srgbClr val="475569"/>
                </a:solidFill>
                <a:latin typeface="Inter"/>
                <a:ea typeface="Inter"/>
                <a:cs typeface="Inter"/>
                <a:sym typeface="Inter"/>
              </a:rPr>
              <a:t>ngoài</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để</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thực</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thi</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các</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tác</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vụ</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thực</a:t>
            </a:r>
            <a:r>
              <a:rPr lang="en-US" sz="1200" b="0" i="0" u="none" strike="noStrike" cap="none" dirty="0">
                <a:solidFill>
                  <a:srgbClr val="475569"/>
                </a:solidFill>
                <a:latin typeface="Inter"/>
                <a:ea typeface="Inter"/>
                <a:cs typeface="Inter"/>
                <a:sym typeface="Inter"/>
              </a:rPr>
              <a:t> </a:t>
            </a:r>
            <a:r>
              <a:rPr lang="en-US" sz="1200" b="0" i="0" u="none" strike="noStrike" cap="none" dirty="0" err="1">
                <a:solidFill>
                  <a:srgbClr val="475569"/>
                </a:solidFill>
                <a:latin typeface="Inter"/>
                <a:ea typeface="Inter"/>
                <a:cs typeface="Inter"/>
                <a:sym typeface="Inter"/>
              </a:rPr>
              <a:t>tế</a:t>
            </a:r>
            <a:r>
              <a:rPr lang="en-US" sz="1200" b="0" i="0" u="none" strike="noStrike" cap="none" dirty="0">
                <a:solidFill>
                  <a:srgbClr val="475569"/>
                </a:solidFill>
                <a:latin typeface="Inter"/>
                <a:ea typeface="Inter"/>
                <a:cs typeface="Inter"/>
                <a:sym typeface="Inter"/>
              </a:rPr>
              <a:t>.</a:t>
            </a:r>
            <a:endParaRPr dirty="0"/>
          </a:p>
        </p:txBody>
      </p:sp>
      <p:sp>
        <p:nvSpPr>
          <p:cNvPr id="153" name="Google Shape;153;p16"/>
          <p:cNvSpPr txBox="1"/>
          <p:nvPr/>
        </p:nvSpPr>
        <p:spPr>
          <a:xfrm>
            <a:off x="1000125" y="3750468"/>
            <a:ext cx="4929187"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Tầng Lưu Trữ (Persistence Layer):</a:t>
            </a:r>
            <a:r>
              <a:rPr lang="en-US" sz="1200" b="0" i="0" u="none" strike="noStrike" cap="none">
                <a:solidFill>
                  <a:srgbClr val="475569"/>
                </a:solidFill>
                <a:latin typeface="Inter"/>
                <a:ea typeface="Inter"/>
                <a:cs typeface="Inter"/>
                <a:sym typeface="Inter"/>
              </a:rPr>
              <a:t> Lưu giữ lịch sử hội thoại, ngữ cảnh phiên giúp phân tích hành vi người dùng.</a:t>
            </a:r>
            <a:endParaRPr/>
          </a:p>
        </p:txBody>
      </p:sp>
      <p:sp>
        <p:nvSpPr>
          <p:cNvPr id="154" name="Google Shape;154;p16"/>
          <p:cNvSpPr txBox="1"/>
          <p:nvPr/>
        </p:nvSpPr>
        <p:spPr>
          <a:xfrm>
            <a:off x="1000125" y="4379118"/>
            <a:ext cx="4929187" cy="4572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Tầng Bảo Mật (Security Controls):</a:t>
            </a:r>
            <a:r>
              <a:rPr lang="en-US" sz="1200" b="0" i="0" u="none" strike="noStrike" cap="none">
                <a:solidFill>
                  <a:srgbClr val="475569"/>
                </a:solidFill>
                <a:latin typeface="Inter"/>
                <a:ea typeface="Inter"/>
                <a:cs typeface="Inter"/>
                <a:sym typeface="Inter"/>
              </a:rPr>
              <a:t> Mã hóa dữ liệu truyền tải, quản lý API key và ngăn chặn rò rỉ dữ liệu nhạy cảm.</a:t>
            </a:r>
            <a:endParaRPr/>
          </a:p>
        </p:txBody>
      </p:sp>
      <p:pic>
        <p:nvPicPr>
          <p:cNvPr id="155" name="Google Shape;155;p16" descr="image.png"/>
          <p:cNvPicPr preferRelativeResize="0"/>
          <p:nvPr/>
        </p:nvPicPr>
        <p:blipFill rotWithShape="1">
          <a:blip r:embed="rId7">
            <a:alphaModFix/>
          </a:blip>
          <a:srcRect/>
          <a:stretch/>
        </p:blipFill>
        <p:spPr>
          <a:xfrm>
            <a:off x="571500" y="2507456"/>
            <a:ext cx="238125" cy="219075"/>
          </a:xfrm>
          <a:prstGeom prst="rect">
            <a:avLst/>
          </a:prstGeom>
          <a:noFill/>
          <a:ln>
            <a:noFill/>
          </a:ln>
        </p:spPr>
      </p:pic>
      <p:pic>
        <p:nvPicPr>
          <p:cNvPr id="156" name="Google Shape;156;p16" descr="image.png"/>
          <p:cNvPicPr preferRelativeResize="0"/>
          <p:nvPr/>
        </p:nvPicPr>
        <p:blipFill rotWithShape="1">
          <a:blip r:embed="rId8">
            <a:alphaModFix/>
          </a:blip>
          <a:srcRect/>
          <a:stretch/>
        </p:blipFill>
        <p:spPr>
          <a:xfrm>
            <a:off x="571500" y="3136106"/>
            <a:ext cx="266700" cy="219075"/>
          </a:xfrm>
          <a:prstGeom prst="rect">
            <a:avLst/>
          </a:prstGeom>
          <a:noFill/>
          <a:ln>
            <a:noFill/>
          </a:ln>
        </p:spPr>
      </p:pic>
      <p:pic>
        <p:nvPicPr>
          <p:cNvPr id="157" name="Google Shape;157;p16" descr="image.png"/>
          <p:cNvPicPr preferRelativeResize="0"/>
          <p:nvPr/>
        </p:nvPicPr>
        <p:blipFill rotWithShape="1">
          <a:blip r:embed="rId9">
            <a:alphaModFix/>
          </a:blip>
          <a:srcRect/>
          <a:stretch/>
        </p:blipFill>
        <p:spPr>
          <a:xfrm>
            <a:off x="571500" y="3764756"/>
            <a:ext cx="180975" cy="219075"/>
          </a:xfrm>
          <a:prstGeom prst="rect">
            <a:avLst/>
          </a:prstGeom>
          <a:noFill/>
          <a:ln>
            <a:noFill/>
          </a:ln>
        </p:spPr>
      </p:pic>
      <p:pic>
        <p:nvPicPr>
          <p:cNvPr id="158" name="Google Shape;158;p16" descr="image.png"/>
          <p:cNvPicPr preferRelativeResize="0"/>
          <p:nvPr/>
        </p:nvPicPr>
        <p:blipFill rotWithShape="1">
          <a:blip r:embed="rId10">
            <a:alphaModFix/>
          </a:blip>
          <a:srcRect/>
          <a:stretch/>
        </p:blipFill>
        <p:spPr>
          <a:xfrm>
            <a:off x="571500" y="4393406"/>
            <a:ext cx="209550" cy="219075"/>
          </a:xfrm>
          <a:prstGeom prst="rect">
            <a:avLst/>
          </a:prstGeom>
          <a:noFill/>
          <a:ln>
            <a:noFill/>
          </a:ln>
        </p:spPr>
      </p:pic>
      <p:sp>
        <p:nvSpPr>
          <p:cNvPr id="159" name="Google Shape;159;p16"/>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4.3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Kiến</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Trúc 4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Tầng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Của</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Chatbot GenAI</a:t>
            </a:r>
            <a:endParaRPr dirty="0"/>
          </a:p>
        </p:txBody>
      </p:sp>
      <p:sp>
        <p:nvSpPr>
          <p:cNvPr id="160" name="Google Shape;160;p16"/>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6"/>
        <p:cNvGrpSpPr/>
        <p:nvPr/>
      </p:nvGrpSpPr>
      <p:grpSpPr>
        <a:xfrm>
          <a:off x="0" y="0"/>
          <a:ext cx="0" cy="0"/>
          <a:chOff x="0" y="0"/>
          <a:chExt cx="0" cy="0"/>
        </a:xfrm>
      </p:grpSpPr>
      <p:pic>
        <p:nvPicPr>
          <p:cNvPr id="187" name="Google Shape;18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8" name="Google Shape;188;p18" descr="image.png"/>
          <p:cNvPicPr preferRelativeResize="0"/>
          <p:nvPr/>
        </p:nvPicPr>
        <p:blipFill rotWithShape="1">
          <a:blip r:embed="rId4">
            <a:alphaModFix/>
          </a:blip>
          <a:srcRect/>
          <a:stretch/>
        </p:blipFill>
        <p:spPr>
          <a:xfrm>
            <a:off x="571500" y="2414587"/>
            <a:ext cx="5381625" cy="2671762"/>
          </a:xfrm>
          <a:prstGeom prst="rect">
            <a:avLst/>
          </a:prstGeom>
          <a:noFill/>
          <a:ln>
            <a:noFill/>
          </a:ln>
        </p:spPr>
      </p:pic>
      <p:pic>
        <p:nvPicPr>
          <p:cNvPr id="189" name="Google Shape;189;p18" descr="image.png"/>
          <p:cNvPicPr preferRelativeResize="0"/>
          <p:nvPr/>
        </p:nvPicPr>
        <p:blipFill rotWithShape="1">
          <a:blip r:embed="rId5">
            <a:alphaModFix/>
          </a:blip>
          <a:srcRect/>
          <a:stretch/>
        </p:blipFill>
        <p:spPr>
          <a:xfrm>
            <a:off x="6238875" y="2414587"/>
            <a:ext cx="5381625" cy="2671762"/>
          </a:xfrm>
          <a:prstGeom prst="rect">
            <a:avLst/>
          </a:prstGeom>
          <a:noFill/>
          <a:ln>
            <a:noFill/>
          </a:ln>
        </p:spPr>
      </p:pic>
      <p:pic>
        <p:nvPicPr>
          <p:cNvPr id="190" name="Google Shape;190;p18" descr="image.png"/>
          <p:cNvPicPr preferRelativeResize="0"/>
          <p:nvPr/>
        </p:nvPicPr>
        <p:blipFill rotWithShape="1">
          <a:blip r:embed="rId6">
            <a:alphaModFix/>
          </a:blip>
          <a:srcRect/>
          <a:stretch/>
        </p:blipFill>
        <p:spPr>
          <a:xfrm>
            <a:off x="571500" y="6400800"/>
            <a:ext cx="11049000" cy="266700"/>
          </a:xfrm>
          <a:prstGeom prst="rect">
            <a:avLst/>
          </a:prstGeom>
          <a:noFill/>
          <a:ln>
            <a:noFill/>
          </a:ln>
        </p:spPr>
      </p:pic>
      <p:sp>
        <p:nvSpPr>
          <p:cNvPr id="191" name="Google Shape;191;p18"/>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192" name="Google Shape;192;p18"/>
          <p:cNvSpPr txBox="1"/>
          <p:nvPr/>
        </p:nvSpPr>
        <p:spPr>
          <a:xfrm>
            <a:off x="11210925" y="6524625"/>
            <a:ext cx="40957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6</a:t>
            </a:r>
            <a:endParaRPr/>
          </a:p>
        </p:txBody>
      </p:sp>
      <p:sp>
        <p:nvSpPr>
          <p:cNvPr id="193" name="Google Shape;193;p18"/>
          <p:cNvSpPr txBox="1"/>
          <p:nvPr/>
        </p:nvSpPr>
        <p:spPr>
          <a:xfrm>
            <a:off x="1171575" y="2709862"/>
            <a:ext cx="4710588" cy="266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284C7"/>
                </a:solidFill>
                <a:latin typeface="Plus Jakarta Sans"/>
                <a:ea typeface="Plus Jakarta Sans"/>
                <a:cs typeface="Plus Jakarta Sans"/>
                <a:sym typeface="Plus Jakarta Sans"/>
              </a:rPr>
              <a:t>Sai Lệch &amp; Chi Phí Vận Hành</a:t>
            </a:r>
            <a:endParaRPr/>
          </a:p>
        </p:txBody>
      </p:sp>
      <p:sp>
        <p:nvSpPr>
          <p:cNvPr id="194" name="Google Shape;194;p18"/>
          <p:cNvSpPr txBox="1"/>
          <p:nvPr/>
        </p:nvSpPr>
        <p:spPr>
          <a:xfrm>
            <a:off x="6896100" y="2709862"/>
            <a:ext cx="4650581" cy="266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284C7"/>
                </a:solidFill>
                <a:latin typeface="Plus Jakarta Sans"/>
                <a:ea typeface="Plus Jakarta Sans"/>
                <a:cs typeface="Plus Jakarta Sans"/>
                <a:sym typeface="Plus Jakarta Sans"/>
              </a:rPr>
              <a:t>Độ Tin Cậy &amp; Vai Trò Con Người</a:t>
            </a:r>
            <a:endParaRPr/>
          </a:p>
        </p:txBody>
      </p:sp>
      <p:pic>
        <p:nvPicPr>
          <p:cNvPr id="195" name="Google Shape;195;p18" descr="image.png"/>
          <p:cNvPicPr preferRelativeResize="0"/>
          <p:nvPr/>
        </p:nvPicPr>
        <p:blipFill rotWithShape="1">
          <a:blip r:embed="rId7">
            <a:alphaModFix/>
          </a:blip>
          <a:srcRect/>
          <a:stretch/>
        </p:blipFill>
        <p:spPr>
          <a:xfrm>
            <a:off x="866775" y="2738437"/>
            <a:ext cx="209550" cy="209550"/>
          </a:xfrm>
          <a:prstGeom prst="rect">
            <a:avLst/>
          </a:prstGeom>
          <a:noFill/>
          <a:ln>
            <a:noFill/>
          </a:ln>
        </p:spPr>
      </p:pic>
      <p:sp>
        <p:nvSpPr>
          <p:cNvPr id="196" name="Google Shape;196;p18"/>
          <p:cNvSpPr txBox="1"/>
          <p:nvPr/>
        </p:nvSpPr>
        <p:spPr>
          <a:xfrm>
            <a:off x="1095375" y="3119437"/>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1" i="0" u="none" strike="noStrike" cap="none">
                <a:solidFill>
                  <a:srgbClr val="475569"/>
                </a:solidFill>
                <a:latin typeface="Inter"/>
                <a:ea typeface="Inter"/>
                <a:cs typeface="Inter"/>
                <a:sym typeface="Inter"/>
              </a:rPr>
              <a:t>Sai lệch (Bias):</a:t>
            </a:r>
            <a:r>
              <a:rPr lang="en-US" sz="1125" b="0" i="0" u="none" strike="noStrike" cap="none">
                <a:solidFill>
                  <a:srgbClr val="475569"/>
                </a:solidFill>
                <a:latin typeface="Inter"/>
                <a:ea typeface="Inter"/>
                <a:cs typeface="Inter"/>
                <a:sym typeface="Inter"/>
              </a:rPr>
              <a:t> Nảy sinh từ kiến trúc mô hình, hàm mục tiêu hoặc dữ liệu huấn luyện mang định kiến lịch sử.</a:t>
            </a:r>
            <a:endParaRPr/>
          </a:p>
        </p:txBody>
      </p:sp>
      <p:sp>
        <p:nvSpPr>
          <p:cNvPr id="197" name="Google Shape;197;p18"/>
          <p:cNvSpPr txBox="1"/>
          <p:nvPr/>
        </p:nvSpPr>
        <p:spPr>
          <a:xfrm>
            <a:off x="1095375" y="3676650"/>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1" i="0" u="none" strike="noStrike" cap="none">
                <a:solidFill>
                  <a:srgbClr val="475569"/>
                </a:solidFill>
                <a:latin typeface="Inter"/>
                <a:ea typeface="Inter"/>
                <a:cs typeface="Inter"/>
                <a:sym typeface="Inter"/>
              </a:rPr>
              <a:t>Chi phí Inference:</a:t>
            </a:r>
            <a:r>
              <a:rPr lang="en-US" sz="1125" b="0" i="0" u="none" strike="noStrike" cap="none">
                <a:solidFill>
                  <a:srgbClr val="475569"/>
                </a:solidFill>
                <a:latin typeface="Inter"/>
                <a:ea typeface="Inter"/>
                <a:cs typeface="Inter"/>
                <a:sym typeface="Inter"/>
              </a:rPr>
              <a:t> Tốn kém tài nguyên tính toán cho từng truy vấn real-time của người dùng.</a:t>
            </a:r>
            <a:endParaRPr/>
          </a:p>
        </p:txBody>
      </p:sp>
      <p:sp>
        <p:nvSpPr>
          <p:cNvPr id="198" name="Google Shape;198;p18"/>
          <p:cNvSpPr txBox="1"/>
          <p:nvPr/>
        </p:nvSpPr>
        <p:spPr>
          <a:xfrm>
            <a:off x="1095375" y="4233862"/>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1" i="0" u="none" strike="noStrike" cap="none">
                <a:solidFill>
                  <a:srgbClr val="475569"/>
                </a:solidFill>
                <a:latin typeface="Inter"/>
                <a:ea typeface="Inter"/>
                <a:cs typeface="Inter"/>
                <a:sym typeface="Inter"/>
              </a:rPr>
              <a:t>Tối ưu hóa:</a:t>
            </a:r>
            <a:r>
              <a:rPr lang="en-US" sz="1125" b="0" i="0" u="none" strike="noStrike" cap="none">
                <a:solidFill>
                  <a:srgbClr val="475569"/>
                </a:solidFill>
                <a:latin typeface="Inter"/>
                <a:ea typeface="Inter"/>
                <a:cs typeface="Inter"/>
                <a:sym typeface="Inter"/>
              </a:rPr>
              <a:t> Cần kết hợp caching, batch processing và chọn model kích thước phù hợp.</a:t>
            </a:r>
            <a:endParaRPr/>
          </a:p>
        </p:txBody>
      </p:sp>
      <p:pic>
        <p:nvPicPr>
          <p:cNvPr id="199" name="Google Shape;199;p18" descr="image.png"/>
          <p:cNvPicPr preferRelativeResize="0"/>
          <p:nvPr/>
        </p:nvPicPr>
        <p:blipFill rotWithShape="1">
          <a:blip r:embed="rId8">
            <a:alphaModFix/>
          </a:blip>
          <a:srcRect/>
          <a:stretch/>
        </p:blipFill>
        <p:spPr>
          <a:xfrm>
            <a:off x="6534150" y="2738437"/>
            <a:ext cx="266700" cy="209550"/>
          </a:xfrm>
          <a:prstGeom prst="rect">
            <a:avLst/>
          </a:prstGeom>
          <a:noFill/>
          <a:ln>
            <a:noFill/>
          </a:ln>
        </p:spPr>
      </p:pic>
      <p:sp>
        <p:nvSpPr>
          <p:cNvPr id="200" name="Google Shape;200;p18"/>
          <p:cNvSpPr txBox="1"/>
          <p:nvPr/>
        </p:nvSpPr>
        <p:spPr>
          <a:xfrm>
            <a:off x="6762750" y="3119437"/>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1" i="0" u="none" strike="noStrike" cap="none">
                <a:solidFill>
                  <a:srgbClr val="475569"/>
                </a:solidFill>
                <a:latin typeface="Inter"/>
                <a:ea typeface="Inter"/>
                <a:cs typeface="Inter"/>
                <a:sym typeface="Inter"/>
              </a:rPr>
              <a:t>Ảo giác (Hallucination):</a:t>
            </a:r>
            <a:r>
              <a:rPr lang="en-US" sz="1125" b="0" i="0" u="none" strike="noStrike" cap="none">
                <a:solidFill>
                  <a:srgbClr val="475569"/>
                </a:solidFill>
                <a:latin typeface="Inter"/>
                <a:ea typeface="Inter"/>
                <a:cs typeface="Inter"/>
                <a:sym typeface="Inter"/>
              </a:rPr>
              <a:t> AI tự tin tạo nội dung không có thật, gây rủi ro lớn trong y tế/pháp lý.</a:t>
            </a:r>
            <a:endParaRPr/>
          </a:p>
        </p:txBody>
      </p:sp>
      <p:sp>
        <p:nvSpPr>
          <p:cNvPr id="201" name="Google Shape;201;p18"/>
          <p:cNvSpPr txBox="1"/>
          <p:nvPr/>
        </p:nvSpPr>
        <p:spPr>
          <a:xfrm>
            <a:off x="6762750" y="3676650"/>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1" i="0" u="none" strike="noStrike" cap="none">
                <a:solidFill>
                  <a:srgbClr val="475569"/>
                </a:solidFill>
                <a:latin typeface="Inter"/>
                <a:ea typeface="Inter"/>
                <a:cs typeface="Inter"/>
                <a:sym typeface="Inter"/>
              </a:rPr>
              <a:t>Hộp đen suy luận:</a:t>
            </a:r>
            <a:r>
              <a:rPr lang="en-US" sz="1125" b="0" i="0" u="none" strike="noStrike" cap="none">
                <a:solidFill>
                  <a:srgbClr val="475569"/>
                </a:solidFill>
                <a:latin typeface="Inter"/>
                <a:ea typeface="Inter"/>
                <a:cs typeface="Inter"/>
                <a:sym typeface="Inter"/>
              </a:rPr>
              <a:t> Khó khăn trong việc giải thích lý do AI đưa ra quyết định cụ thể.</a:t>
            </a:r>
            <a:endParaRPr/>
          </a:p>
        </p:txBody>
      </p:sp>
      <p:sp>
        <p:nvSpPr>
          <p:cNvPr id="202" name="Google Shape;202;p18"/>
          <p:cNvSpPr txBox="1"/>
          <p:nvPr/>
        </p:nvSpPr>
        <p:spPr>
          <a:xfrm>
            <a:off x="6762750" y="4233862"/>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1" i="0" u="none" strike="noStrike" cap="none">
                <a:solidFill>
                  <a:srgbClr val="475569"/>
                </a:solidFill>
                <a:latin typeface="Inter"/>
                <a:ea typeface="Inter"/>
                <a:cs typeface="Inter"/>
                <a:sym typeface="Inter"/>
              </a:rPr>
              <a:t>Human-in-the-loop:</a:t>
            </a:r>
            <a:r>
              <a:rPr lang="en-US" sz="1125" b="0" i="0" u="none" strike="noStrike" cap="none">
                <a:solidFill>
                  <a:srgbClr val="475569"/>
                </a:solidFill>
                <a:latin typeface="Inter"/>
                <a:ea typeface="Inter"/>
                <a:cs typeface="Inter"/>
                <a:sym typeface="Inter"/>
              </a:rPr>
              <a:t> AI chỉ là "người đồng hành", con người giữ vai trò ra quyết định cuối cùng.</a:t>
            </a:r>
            <a:endParaRPr/>
          </a:p>
        </p:txBody>
      </p:sp>
      <p:sp>
        <p:nvSpPr>
          <p:cNvPr id="203" name="Google Shape;203;p18"/>
          <p:cNvSpPr txBox="1"/>
          <p:nvPr/>
        </p:nvSpPr>
        <p:spPr>
          <a:xfrm>
            <a:off x="914400" y="3081337"/>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04" name="Google Shape;204;p18"/>
          <p:cNvSpPr txBox="1"/>
          <p:nvPr/>
        </p:nvSpPr>
        <p:spPr>
          <a:xfrm>
            <a:off x="914400" y="3638550"/>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05" name="Google Shape;205;p18"/>
          <p:cNvSpPr txBox="1"/>
          <p:nvPr/>
        </p:nvSpPr>
        <p:spPr>
          <a:xfrm>
            <a:off x="914400" y="4195762"/>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06" name="Google Shape;206;p18"/>
          <p:cNvSpPr txBox="1"/>
          <p:nvPr/>
        </p:nvSpPr>
        <p:spPr>
          <a:xfrm>
            <a:off x="6581775" y="3081337"/>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07" name="Google Shape;207;p18"/>
          <p:cNvSpPr txBox="1"/>
          <p:nvPr/>
        </p:nvSpPr>
        <p:spPr>
          <a:xfrm>
            <a:off x="6581775" y="3638550"/>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08" name="Google Shape;208;p18"/>
          <p:cNvSpPr txBox="1"/>
          <p:nvPr/>
        </p:nvSpPr>
        <p:spPr>
          <a:xfrm>
            <a:off x="6581775" y="4195762"/>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09" name="Google Shape;209;p18"/>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4.4.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Thách</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Thức</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Và</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Rủi</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Ro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Cần</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Quản Lý</a:t>
            </a:r>
            <a:endParaRPr dirty="0"/>
          </a:p>
        </p:txBody>
      </p:sp>
      <p:sp>
        <p:nvSpPr>
          <p:cNvPr id="210" name="Google Shape;210;p18"/>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4"/>
        <p:cNvGrpSpPr/>
        <p:nvPr/>
      </p:nvGrpSpPr>
      <p:grpSpPr>
        <a:xfrm>
          <a:off x="0" y="0"/>
          <a:ext cx="0" cy="0"/>
          <a:chOff x="0" y="0"/>
          <a:chExt cx="0" cy="0"/>
        </a:xfrm>
      </p:grpSpPr>
      <p:pic>
        <p:nvPicPr>
          <p:cNvPr id="215" name="Google Shape;215;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6" name="Google Shape;216;p19" descr="image.png"/>
          <p:cNvPicPr preferRelativeResize="0"/>
          <p:nvPr/>
        </p:nvPicPr>
        <p:blipFill rotWithShape="1">
          <a:blip r:embed="rId4">
            <a:alphaModFix/>
          </a:blip>
          <a:srcRect/>
          <a:stretch/>
        </p:blipFill>
        <p:spPr>
          <a:xfrm>
            <a:off x="571500" y="2521743"/>
            <a:ext cx="3555950" cy="1133475"/>
          </a:xfrm>
          <a:prstGeom prst="rect">
            <a:avLst/>
          </a:prstGeom>
          <a:noFill/>
          <a:ln>
            <a:noFill/>
          </a:ln>
        </p:spPr>
      </p:pic>
      <p:pic>
        <p:nvPicPr>
          <p:cNvPr id="217" name="Google Shape;217;p19" descr="image.png"/>
          <p:cNvPicPr preferRelativeResize="0"/>
          <p:nvPr/>
        </p:nvPicPr>
        <p:blipFill rotWithShape="1">
          <a:blip r:embed="rId5">
            <a:alphaModFix/>
          </a:blip>
          <a:srcRect/>
          <a:stretch/>
        </p:blipFill>
        <p:spPr>
          <a:xfrm>
            <a:off x="4317950" y="2521743"/>
            <a:ext cx="3555950" cy="1133475"/>
          </a:xfrm>
          <a:prstGeom prst="rect">
            <a:avLst/>
          </a:prstGeom>
          <a:noFill/>
          <a:ln>
            <a:noFill/>
          </a:ln>
        </p:spPr>
      </p:pic>
      <p:pic>
        <p:nvPicPr>
          <p:cNvPr id="218" name="Google Shape;218;p19" descr="image.png"/>
          <p:cNvPicPr preferRelativeResize="0"/>
          <p:nvPr/>
        </p:nvPicPr>
        <p:blipFill rotWithShape="1">
          <a:blip r:embed="rId6">
            <a:alphaModFix/>
          </a:blip>
          <a:srcRect/>
          <a:stretch/>
        </p:blipFill>
        <p:spPr>
          <a:xfrm>
            <a:off x="8064400" y="2521743"/>
            <a:ext cx="3556099" cy="1133475"/>
          </a:xfrm>
          <a:prstGeom prst="rect">
            <a:avLst/>
          </a:prstGeom>
          <a:noFill/>
          <a:ln>
            <a:noFill/>
          </a:ln>
        </p:spPr>
      </p:pic>
      <p:pic>
        <p:nvPicPr>
          <p:cNvPr id="219" name="Google Shape;219;p19" descr="image.png"/>
          <p:cNvPicPr preferRelativeResize="0"/>
          <p:nvPr/>
        </p:nvPicPr>
        <p:blipFill rotWithShape="1">
          <a:blip r:embed="rId7">
            <a:alphaModFix/>
          </a:blip>
          <a:srcRect/>
          <a:stretch/>
        </p:blipFill>
        <p:spPr>
          <a:xfrm>
            <a:off x="571500" y="3845718"/>
            <a:ext cx="3555950" cy="1133475"/>
          </a:xfrm>
          <a:prstGeom prst="rect">
            <a:avLst/>
          </a:prstGeom>
          <a:noFill/>
          <a:ln>
            <a:noFill/>
          </a:ln>
        </p:spPr>
      </p:pic>
      <p:pic>
        <p:nvPicPr>
          <p:cNvPr id="220" name="Google Shape;220;p19" descr="image.png"/>
          <p:cNvPicPr preferRelativeResize="0"/>
          <p:nvPr/>
        </p:nvPicPr>
        <p:blipFill rotWithShape="1">
          <a:blip r:embed="rId5">
            <a:alphaModFix/>
          </a:blip>
          <a:srcRect/>
          <a:stretch/>
        </p:blipFill>
        <p:spPr>
          <a:xfrm>
            <a:off x="4317950" y="3845718"/>
            <a:ext cx="3555950" cy="1133475"/>
          </a:xfrm>
          <a:prstGeom prst="rect">
            <a:avLst/>
          </a:prstGeom>
          <a:noFill/>
          <a:ln>
            <a:noFill/>
          </a:ln>
        </p:spPr>
      </p:pic>
      <p:pic>
        <p:nvPicPr>
          <p:cNvPr id="221" name="Google Shape;221;p19" descr="image.png"/>
          <p:cNvPicPr preferRelativeResize="0"/>
          <p:nvPr/>
        </p:nvPicPr>
        <p:blipFill rotWithShape="1">
          <a:blip r:embed="rId8">
            <a:alphaModFix/>
          </a:blip>
          <a:srcRect/>
          <a:stretch/>
        </p:blipFill>
        <p:spPr>
          <a:xfrm>
            <a:off x="8064400" y="3845718"/>
            <a:ext cx="3556099" cy="1133475"/>
          </a:xfrm>
          <a:prstGeom prst="rect">
            <a:avLst/>
          </a:prstGeom>
          <a:noFill/>
          <a:ln>
            <a:noFill/>
          </a:ln>
        </p:spPr>
      </p:pic>
      <p:pic>
        <p:nvPicPr>
          <p:cNvPr id="222" name="Google Shape;222;p19" descr="image.png"/>
          <p:cNvPicPr preferRelativeResize="0"/>
          <p:nvPr/>
        </p:nvPicPr>
        <p:blipFill rotWithShape="1">
          <a:blip r:embed="rId9">
            <a:alphaModFix/>
          </a:blip>
          <a:srcRect/>
          <a:stretch/>
        </p:blipFill>
        <p:spPr>
          <a:xfrm>
            <a:off x="571500" y="6400800"/>
            <a:ext cx="11049000" cy="266700"/>
          </a:xfrm>
          <a:prstGeom prst="rect">
            <a:avLst/>
          </a:prstGeom>
          <a:noFill/>
          <a:ln>
            <a:noFill/>
          </a:ln>
        </p:spPr>
      </p:pic>
      <p:sp>
        <p:nvSpPr>
          <p:cNvPr id="223" name="Google Shape;223;p19"/>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224" name="Google Shape;224;p19"/>
          <p:cNvSpPr txBox="1"/>
          <p:nvPr/>
        </p:nvSpPr>
        <p:spPr>
          <a:xfrm>
            <a:off x="11210925" y="6524625"/>
            <a:ext cx="40957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7</a:t>
            </a:r>
            <a:endParaRPr/>
          </a:p>
        </p:txBody>
      </p:sp>
      <p:sp>
        <p:nvSpPr>
          <p:cNvPr id="225" name="Google Shape;225;p19"/>
          <p:cNvSpPr txBox="1"/>
          <p:nvPr/>
        </p:nvSpPr>
        <p:spPr>
          <a:xfrm>
            <a:off x="771525" y="2721768"/>
            <a:ext cx="178022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284C7"/>
                </a:solidFill>
                <a:latin typeface="Plus Jakarta Sans"/>
                <a:ea typeface="Plus Jakarta Sans"/>
                <a:cs typeface="Plus Jakarta Sans"/>
                <a:sym typeface="Plus Jakarta Sans"/>
              </a:rPr>
              <a:t>1. Vận Hành Xuất Sắc</a:t>
            </a:r>
            <a:endParaRPr/>
          </a:p>
        </p:txBody>
      </p:sp>
      <p:sp>
        <p:nvSpPr>
          <p:cNvPr id="226" name="Google Shape;226;p19"/>
          <p:cNvSpPr txBox="1"/>
          <p:nvPr/>
        </p:nvSpPr>
        <p:spPr>
          <a:xfrm>
            <a:off x="771525" y="3055143"/>
            <a:ext cx="31559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Inter"/>
                <a:ea typeface="Inter"/>
                <a:cs typeface="Inter"/>
                <a:sym typeface="Inter"/>
              </a:rPr>
              <a:t>Thiết lập pipeline CI/CD tự động test chất lượng đầu ra LLM và giám sát độ trễ real-time.</a:t>
            </a:r>
            <a:endParaRPr/>
          </a:p>
        </p:txBody>
      </p:sp>
      <p:sp>
        <p:nvSpPr>
          <p:cNvPr id="227" name="Google Shape;227;p19"/>
          <p:cNvSpPr txBox="1"/>
          <p:nvPr/>
        </p:nvSpPr>
        <p:spPr>
          <a:xfrm>
            <a:off x="4517975" y="2721768"/>
            <a:ext cx="152019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284C7"/>
                </a:solidFill>
                <a:latin typeface="Plus Jakarta Sans"/>
                <a:ea typeface="Plus Jakarta Sans"/>
                <a:cs typeface="Plus Jakarta Sans"/>
                <a:sym typeface="Plus Jakarta Sans"/>
              </a:rPr>
              <a:t>2. Bảo Mật Cho AI</a:t>
            </a:r>
            <a:endParaRPr/>
          </a:p>
        </p:txBody>
      </p:sp>
      <p:sp>
        <p:nvSpPr>
          <p:cNvPr id="228" name="Google Shape;228;p19"/>
          <p:cNvSpPr txBox="1"/>
          <p:nvPr/>
        </p:nvSpPr>
        <p:spPr>
          <a:xfrm>
            <a:off x="4517975" y="3055143"/>
            <a:ext cx="31559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Inter"/>
                <a:ea typeface="Inter"/>
                <a:cs typeface="Inter"/>
                <a:sym typeface="Inter"/>
              </a:rPr>
              <a:t>Chống Prompt Injection, ngăn chặn rò rỉ dữ liệu huấn luyện nhạy cảm và bảo vệ API key.</a:t>
            </a:r>
            <a:endParaRPr/>
          </a:p>
        </p:txBody>
      </p:sp>
      <p:sp>
        <p:nvSpPr>
          <p:cNvPr id="229" name="Google Shape;229;p19"/>
          <p:cNvSpPr txBox="1"/>
          <p:nvPr/>
        </p:nvSpPr>
        <p:spPr>
          <a:xfrm>
            <a:off x="8264425" y="2721768"/>
            <a:ext cx="113014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284C7"/>
                </a:solidFill>
                <a:latin typeface="Plus Jakarta Sans"/>
                <a:ea typeface="Plus Jakarta Sans"/>
                <a:cs typeface="Plus Jakarta Sans"/>
                <a:sym typeface="Plus Jakarta Sans"/>
              </a:rPr>
              <a:t>3. Độ Tin Cậy</a:t>
            </a:r>
            <a:endParaRPr/>
          </a:p>
        </p:txBody>
      </p:sp>
      <p:sp>
        <p:nvSpPr>
          <p:cNvPr id="230" name="Google Shape;230;p19"/>
          <p:cNvSpPr txBox="1"/>
          <p:nvPr/>
        </p:nvSpPr>
        <p:spPr>
          <a:xfrm>
            <a:off x="8264425" y="3055143"/>
            <a:ext cx="3156049"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Inter"/>
                <a:ea typeface="Inter"/>
                <a:cs typeface="Inter"/>
                <a:sym typeface="Inter"/>
              </a:rPr>
              <a:t>Xử lý quá tải linh hoạt (graceful degradation), đảm bảo rate limit không làm nghẽn hệ thống.</a:t>
            </a:r>
            <a:endParaRPr/>
          </a:p>
        </p:txBody>
      </p:sp>
      <p:sp>
        <p:nvSpPr>
          <p:cNvPr id="231" name="Google Shape;231;p19"/>
          <p:cNvSpPr txBox="1"/>
          <p:nvPr/>
        </p:nvSpPr>
        <p:spPr>
          <a:xfrm>
            <a:off x="771525" y="4045743"/>
            <a:ext cx="2070258"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284C7"/>
                </a:solidFill>
                <a:latin typeface="Plus Jakarta Sans"/>
                <a:ea typeface="Plus Jakarta Sans"/>
                <a:cs typeface="Plus Jakarta Sans"/>
                <a:sym typeface="Plus Jakarta Sans"/>
              </a:rPr>
              <a:t>4. Hiệu Suất High-Level</a:t>
            </a:r>
            <a:endParaRPr/>
          </a:p>
        </p:txBody>
      </p:sp>
      <p:sp>
        <p:nvSpPr>
          <p:cNvPr id="232" name="Google Shape;232;p19"/>
          <p:cNvSpPr txBox="1"/>
          <p:nvPr/>
        </p:nvSpPr>
        <p:spPr>
          <a:xfrm>
            <a:off x="771525" y="4379118"/>
            <a:ext cx="31559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Inter"/>
                <a:ea typeface="Inter"/>
                <a:cs typeface="Inter"/>
                <a:sym typeface="Inter"/>
              </a:rPr>
              <a:t>Nén mô hình (quantization, pruning) và áp dụng caching câu trả lời phổ biến.</a:t>
            </a:r>
            <a:endParaRPr/>
          </a:p>
        </p:txBody>
      </p:sp>
      <p:sp>
        <p:nvSpPr>
          <p:cNvPr id="233" name="Google Shape;233;p19"/>
          <p:cNvSpPr txBox="1"/>
          <p:nvPr/>
        </p:nvSpPr>
        <p:spPr>
          <a:xfrm>
            <a:off x="4517975" y="4045743"/>
            <a:ext cx="1380172"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284C7"/>
                </a:solidFill>
                <a:latin typeface="Plus Jakarta Sans"/>
                <a:ea typeface="Plus Jakarta Sans"/>
                <a:cs typeface="Plus Jakarta Sans"/>
                <a:sym typeface="Plus Jakarta Sans"/>
              </a:rPr>
              <a:t>5. Tối Ưu Chi Phí</a:t>
            </a:r>
            <a:endParaRPr/>
          </a:p>
        </p:txBody>
      </p:sp>
      <p:sp>
        <p:nvSpPr>
          <p:cNvPr id="234" name="Google Shape;234;p19"/>
          <p:cNvSpPr txBox="1"/>
          <p:nvPr/>
        </p:nvSpPr>
        <p:spPr>
          <a:xfrm>
            <a:off x="4517975" y="4379118"/>
            <a:ext cx="3155900"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Inter"/>
                <a:ea typeface="Inter"/>
                <a:cs typeface="Inter"/>
                <a:sym typeface="Inter"/>
              </a:rPr>
              <a:t>Kỹ thuật Prompt Routing: gửi truy vấn đơn giản cho model nhỏ, truy vấn khó cho LLM lớn.</a:t>
            </a:r>
            <a:endParaRPr/>
          </a:p>
        </p:txBody>
      </p:sp>
      <p:sp>
        <p:nvSpPr>
          <p:cNvPr id="235" name="Google Shape;235;p19"/>
          <p:cNvSpPr txBox="1"/>
          <p:nvPr/>
        </p:nvSpPr>
        <p:spPr>
          <a:xfrm>
            <a:off x="8264425" y="4045743"/>
            <a:ext cx="145018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284C7"/>
                </a:solidFill>
                <a:latin typeface="Plus Jakarta Sans"/>
                <a:ea typeface="Plus Jakarta Sans"/>
                <a:cs typeface="Plus Jakarta Sans"/>
                <a:sym typeface="Plus Jakarta Sans"/>
              </a:rPr>
              <a:t>6. Tính Bền Vững</a:t>
            </a:r>
            <a:endParaRPr/>
          </a:p>
        </p:txBody>
      </p:sp>
      <p:sp>
        <p:nvSpPr>
          <p:cNvPr id="236" name="Google Shape;236;p19"/>
          <p:cNvSpPr txBox="1"/>
          <p:nvPr/>
        </p:nvSpPr>
        <p:spPr>
          <a:xfrm>
            <a:off x="8264425" y="4379118"/>
            <a:ext cx="3156049" cy="4000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050" b="0" i="0" u="none" strike="noStrike" cap="none">
                <a:solidFill>
                  <a:srgbClr val="475569"/>
                </a:solidFill>
                <a:latin typeface="Inter"/>
                <a:ea typeface="Inter"/>
                <a:cs typeface="Inter"/>
                <a:sym typeface="Inter"/>
              </a:rPr>
              <a:t>Giảm thiểu dấu chân carbon (carbon footprint) thông qua tối ưu hóa tài nguyên tính toán.</a:t>
            </a:r>
            <a:endParaRPr/>
          </a:p>
        </p:txBody>
      </p:sp>
      <p:sp>
        <p:nvSpPr>
          <p:cNvPr id="237" name="Google Shape;237;p19"/>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4.5. Khung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Kiến</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Trúc Well-Architected 6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Trụ</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Cột</a:t>
            </a:r>
            <a:endParaRPr dirty="0"/>
          </a:p>
        </p:txBody>
      </p:sp>
      <p:sp>
        <p:nvSpPr>
          <p:cNvPr id="238" name="Google Shape;238;p19"/>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2"/>
        <p:cNvGrpSpPr/>
        <p:nvPr/>
      </p:nvGrpSpPr>
      <p:grpSpPr>
        <a:xfrm>
          <a:off x="0" y="0"/>
          <a:ext cx="0" cy="0"/>
          <a:chOff x="0" y="0"/>
          <a:chExt cx="0" cy="0"/>
        </a:xfrm>
      </p:grpSpPr>
      <p:pic>
        <p:nvPicPr>
          <p:cNvPr id="243" name="Google Shape;243;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4" name="Google Shape;244;p20" descr="image.png"/>
          <p:cNvPicPr preferRelativeResize="0"/>
          <p:nvPr/>
        </p:nvPicPr>
        <p:blipFill rotWithShape="1">
          <a:blip r:embed="rId4">
            <a:alphaModFix/>
          </a:blip>
          <a:srcRect/>
          <a:stretch/>
        </p:blipFill>
        <p:spPr>
          <a:xfrm>
            <a:off x="571500" y="2525315"/>
            <a:ext cx="5381625" cy="2450306"/>
          </a:xfrm>
          <a:prstGeom prst="rect">
            <a:avLst/>
          </a:prstGeom>
          <a:noFill/>
          <a:ln>
            <a:noFill/>
          </a:ln>
        </p:spPr>
      </p:pic>
      <p:pic>
        <p:nvPicPr>
          <p:cNvPr id="245" name="Google Shape;245;p20" descr="image.png"/>
          <p:cNvPicPr preferRelativeResize="0"/>
          <p:nvPr/>
        </p:nvPicPr>
        <p:blipFill rotWithShape="1">
          <a:blip r:embed="rId5">
            <a:alphaModFix/>
          </a:blip>
          <a:srcRect/>
          <a:stretch/>
        </p:blipFill>
        <p:spPr>
          <a:xfrm>
            <a:off x="6238875" y="2525315"/>
            <a:ext cx="5381625" cy="2450306"/>
          </a:xfrm>
          <a:prstGeom prst="rect">
            <a:avLst/>
          </a:prstGeom>
          <a:noFill/>
          <a:ln>
            <a:noFill/>
          </a:ln>
        </p:spPr>
      </p:pic>
      <p:pic>
        <p:nvPicPr>
          <p:cNvPr id="246" name="Google Shape;246;p20" descr="image.png"/>
          <p:cNvPicPr preferRelativeResize="0"/>
          <p:nvPr/>
        </p:nvPicPr>
        <p:blipFill rotWithShape="1">
          <a:blip r:embed="rId6">
            <a:alphaModFix/>
          </a:blip>
          <a:srcRect/>
          <a:stretch/>
        </p:blipFill>
        <p:spPr>
          <a:xfrm>
            <a:off x="571500" y="6400800"/>
            <a:ext cx="11049000" cy="266700"/>
          </a:xfrm>
          <a:prstGeom prst="rect">
            <a:avLst/>
          </a:prstGeom>
          <a:noFill/>
          <a:ln>
            <a:noFill/>
          </a:ln>
        </p:spPr>
      </p:pic>
      <p:sp>
        <p:nvSpPr>
          <p:cNvPr id="247" name="Google Shape;247;p20"/>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248" name="Google Shape;248;p20"/>
          <p:cNvSpPr txBox="1"/>
          <p:nvPr/>
        </p:nvSpPr>
        <p:spPr>
          <a:xfrm>
            <a:off x="11210925" y="6524625"/>
            <a:ext cx="40957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8</a:t>
            </a:r>
            <a:endParaRPr/>
          </a:p>
        </p:txBody>
      </p:sp>
      <p:sp>
        <p:nvSpPr>
          <p:cNvPr id="249" name="Google Shape;249;p20"/>
          <p:cNvSpPr txBox="1"/>
          <p:nvPr/>
        </p:nvSpPr>
        <p:spPr>
          <a:xfrm>
            <a:off x="1171575" y="2820590"/>
            <a:ext cx="4710588" cy="266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284C7"/>
                </a:solidFill>
                <a:latin typeface="Plus Jakarta Sans"/>
                <a:ea typeface="Plus Jakarta Sans"/>
                <a:cs typeface="Plus Jakarta Sans"/>
                <a:sym typeface="Plus Jakarta Sans"/>
              </a:rPr>
              <a:t>Cơ Chế Guardrails (Rào Chắn)</a:t>
            </a:r>
            <a:endParaRPr/>
          </a:p>
        </p:txBody>
      </p:sp>
      <p:sp>
        <p:nvSpPr>
          <p:cNvPr id="250" name="Google Shape;250;p20"/>
          <p:cNvSpPr txBox="1"/>
          <p:nvPr/>
        </p:nvSpPr>
        <p:spPr>
          <a:xfrm>
            <a:off x="6867525" y="2820590"/>
            <a:ext cx="4680585" cy="266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50" b="1" i="0" u="none" strike="noStrike" cap="none">
                <a:solidFill>
                  <a:srgbClr val="0284C7"/>
                </a:solidFill>
                <a:latin typeface="Plus Jakarta Sans"/>
                <a:ea typeface="Plus Jakarta Sans"/>
                <a:cs typeface="Plus Jakarta Sans"/>
                <a:sym typeface="Plus Jakarta Sans"/>
              </a:rPr>
              <a:t>Kỹ Thuật RAG (Retrieval-Augmented)</a:t>
            </a:r>
            <a:endParaRPr/>
          </a:p>
        </p:txBody>
      </p:sp>
      <p:pic>
        <p:nvPicPr>
          <p:cNvPr id="251" name="Google Shape;251;p20" descr="image.png"/>
          <p:cNvPicPr preferRelativeResize="0"/>
          <p:nvPr/>
        </p:nvPicPr>
        <p:blipFill rotWithShape="1">
          <a:blip r:embed="rId7">
            <a:alphaModFix/>
          </a:blip>
          <a:srcRect/>
          <a:stretch/>
        </p:blipFill>
        <p:spPr>
          <a:xfrm>
            <a:off x="866775" y="2849165"/>
            <a:ext cx="209550" cy="209550"/>
          </a:xfrm>
          <a:prstGeom prst="rect">
            <a:avLst/>
          </a:prstGeom>
          <a:noFill/>
          <a:ln>
            <a:noFill/>
          </a:ln>
        </p:spPr>
      </p:pic>
      <p:sp>
        <p:nvSpPr>
          <p:cNvPr id="252" name="Google Shape;252;p20"/>
          <p:cNvSpPr txBox="1"/>
          <p:nvPr/>
        </p:nvSpPr>
        <p:spPr>
          <a:xfrm>
            <a:off x="1095375" y="3230165"/>
            <a:ext cx="4562475" cy="221456"/>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0" i="0" u="none" strike="noStrike" cap="none">
                <a:solidFill>
                  <a:srgbClr val="475569"/>
                </a:solidFill>
                <a:latin typeface="Inter"/>
                <a:ea typeface="Inter"/>
                <a:cs typeface="Inter"/>
                <a:sym typeface="Inter"/>
              </a:rPr>
              <a:t>Hoạt động như bộ lọc nhiều lớp kiểm soát đầu vào và đầu ra.</a:t>
            </a:r>
            <a:endParaRPr/>
          </a:p>
        </p:txBody>
      </p:sp>
      <p:sp>
        <p:nvSpPr>
          <p:cNvPr id="253" name="Google Shape;253;p20"/>
          <p:cNvSpPr txBox="1"/>
          <p:nvPr/>
        </p:nvSpPr>
        <p:spPr>
          <a:xfrm>
            <a:off x="1095375" y="3565921"/>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0" i="0" u="none" strike="noStrike" cap="none">
                <a:solidFill>
                  <a:srgbClr val="475569"/>
                </a:solidFill>
                <a:latin typeface="Inter"/>
                <a:ea typeface="Inter"/>
                <a:cs typeface="Inter"/>
                <a:sym typeface="Inter"/>
              </a:rPr>
              <a:t>Sử dụng mô hình giám định (LLM-as-a-Judge) để đánh giá độ an toàn.</a:t>
            </a:r>
            <a:endParaRPr/>
          </a:p>
        </p:txBody>
      </p:sp>
      <p:sp>
        <p:nvSpPr>
          <p:cNvPr id="254" name="Google Shape;254;p20"/>
          <p:cNvSpPr txBox="1"/>
          <p:nvPr/>
        </p:nvSpPr>
        <p:spPr>
          <a:xfrm>
            <a:off x="1095375" y="4123134"/>
            <a:ext cx="4562475" cy="442912"/>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0" i="0" u="none" strike="noStrike" cap="none">
                <a:solidFill>
                  <a:srgbClr val="475569"/>
                </a:solidFill>
                <a:latin typeface="Inter"/>
                <a:ea typeface="Inter"/>
                <a:cs typeface="Inter"/>
                <a:sym typeface="Inter"/>
              </a:rPr>
              <a:t>Ngăn chặn vi phạm bản quyền, nội dung độc hại và cam kết sai phép.</a:t>
            </a:r>
            <a:endParaRPr/>
          </a:p>
        </p:txBody>
      </p:sp>
      <p:pic>
        <p:nvPicPr>
          <p:cNvPr id="255" name="Google Shape;255;p20" descr="image.png"/>
          <p:cNvPicPr preferRelativeResize="0"/>
          <p:nvPr/>
        </p:nvPicPr>
        <p:blipFill rotWithShape="1">
          <a:blip r:embed="rId8">
            <a:alphaModFix/>
          </a:blip>
          <a:srcRect/>
          <a:stretch/>
        </p:blipFill>
        <p:spPr>
          <a:xfrm>
            <a:off x="6534150" y="2849165"/>
            <a:ext cx="238125" cy="209550"/>
          </a:xfrm>
          <a:prstGeom prst="rect">
            <a:avLst/>
          </a:prstGeom>
          <a:noFill/>
          <a:ln>
            <a:noFill/>
          </a:ln>
        </p:spPr>
      </p:pic>
      <p:sp>
        <p:nvSpPr>
          <p:cNvPr id="256" name="Google Shape;256;p20"/>
          <p:cNvSpPr txBox="1"/>
          <p:nvPr/>
        </p:nvSpPr>
        <p:spPr>
          <a:xfrm>
            <a:off x="6762750" y="3230165"/>
            <a:ext cx="4562475" cy="221456"/>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0" i="0" u="none" strike="noStrike" cap="none">
                <a:solidFill>
                  <a:srgbClr val="475569"/>
                </a:solidFill>
                <a:latin typeface="Inter"/>
                <a:ea typeface="Inter"/>
                <a:cs typeface="Inter"/>
                <a:sym typeface="Inter"/>
              </a:rPr>
              <a:t>Chuyển câu hỏi thành vector embedding và tìm trong Vector DB.</a:t>
            </a:r>
            <a:endParaRPr/>
          </a:p>
        </p:txBody>
      </p:sp>
      <p:sp>
        <p:nvSpPr>
          <p:cNvPr id="257" name="Google Shape;257;p20"/>
          <p:cNvSpPr txBox="1"/>
          <p:nvPr/>
        </p:nvSpPr>
        <p:spPr>
          <a:xfrm>
            <a:off x="6762750" y="3565921"/>
            <a:ext cx="4562475" cy="221456"/>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0" i="0" u="none" strike="noStrike" cap="none">
                <a:solidFill>
                  <a:srgbClr val="475569"/>
                </a:solidFill>
                <a:latin typeface="Inter"/>
                <a:ea typeface="Inter"/>
                <a:cs typeface="Inter"/>
                <a:sym typeface="Inter"/>
              </a:rPr>
              <a:t>Chỉ đưa đoạn văn bản liên quan nhất vào ngữ cảnh prompt.</a:t>
            </a:r>
            <a:endParaRPr/>
          </a:p>
        </p:txBody>
      </p:sp>
      <p:sp>
        <p:nvSpPr>
          <p:cNvPr id="258" name="Google Shape;258;p20"/>
          <p:cNvSpPr txBox="1"/>
          <p:nvPr/>
        </p:nvSpPr>
        <p:spPr>
          <a:xfrm>
            <a:off x="6762750" y="3901678"/>
            <a:ext cx="4562475" cy="221456"/>
          </a:xfrm>
          <a:prstGeom prst="rect">
            <a:avLst/>
          </a:prstGeom>
          <a:noFill/>
          <a:ln>
            <a:noFill/>
          </a:ln>
        </p:spPr>
        <p:txBody>
          <a:bodyPr spcFirstLastPara="1" wrap="square" lIns="0" tIns="0" rIns="0" bIns="0" anchor="t" anchorCtr="0">
            <a:spAutoFit/>
          </a:bodyPr>
          <a:lstStyle/>
          <a:p>
            <a:pPr marL="0" marR="0" lvl="0" indent="0" algn="l" rtl="0">
              <a:lnSpc>
                <a:spcPct val="154933"/>
              </a:lnSpc>
              <a:spcBef>
                <a:spcPts val="0"/>
              </a:spcBef>
              <a:spcAft>
                <a:spcPts val="0"/>
              </a:spcAft>
              <a:buNone/>
            </a:pPr>
            <a:r>
              <a:rPr lang="en-US" sz="1125" b="0" i="0" u="none" strike="noStrike" cap="none">
                <a:solidFill>
                  <a:srgbClr val="475569"/>
                </a:solidFill>
                <a:latin typeface="Inter"/>
                <a:ea typeface="Inter"/>
                <a:cs typeface="Inter"/>
                <a:sym typeface="Inter"/>
              </a:rPr>
              <a:t>Cập nhật tri thức mới nhất, hạn chế tối đa hiện tượng "ảo giác".</a:t>
            </a:r>
            <a:endParaRPr/>
          </a:p>
        </p:txBody>
      </p:sp>
      <p:sp>
        <p:nvSpPr>
          <p:cNvPr id="259" name="Google Shape;259;p20"/>
          <p:cNvSpPr txBox="1"/>
          <p:nvPr/>
        </p:nvSpPr>
        <p:spPr>
          <a:xfrm>
            <a:off x="914400" y="3192065"/>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60" name="Google Shape;260;p20"/>
          <p:cNvSpPr txBox="1"/>
          <p:nvPr/>
        </p:nvSpPr>
        <p:spPr>
          <a:xfrm>
            <a:off x="914400" y="3527821"/>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61" name="Google Shape;261;p20"/>
          <p:cNvSpPr txBox="1"/>
          <p:nvPr/>
        </p:nvSpPr>
        <p:spPr>
          <a:xfrm>
            <a:off x="914400" y="4085034"/>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62" name="Google Shape;262;p20"/>
          <p:cNvSpPr txBox="1"/>
          <p:nvPr/>
        </p:nvSpPr>
        <p:spPr>
          <a:xfrm>
            <a:off x="6581775" y="3192065"/>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63" name="Google Shape;263;p20"/>
          <p:cNvSpPr txBox="1"/>
          <p:nvPr/>
        </p:nvSpPr>
        <p:spPr>
          <a:xfrm>
            <a:off x="6581775" y="3527821"/>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64" name="Google Shape;264;p20"/>
          <p:cNvSpPr txBox="1"/>
          <p:nvPr/>
        </p:nvSpPr>
        <p:spPr>
          <a:xfrm>
            <a:off x="6581775" y="3863578"/>
            <a:ext cx="114300" cy="323850"/>
          </a:xfrm>
          <a:prstGeom prst="rect">
            <a:avLst/>
          </a:prstGeom>
          <a:noFill/>
          <a:ln>
            <a:noFill/>
          </a:ln>
        </p:spPr>
        <p:txBody>
          <a:bodyPr spcFirstLastPara="1" wrap="square" lIns="0" tIns="0" rIns="0" bIns="0" anchor="t" anchorCtr="0">
            <a:spAutoFit/>
          </a:bodyPr>
          <a:lstStyle/>
          <a:p>
            <a:pPr marL="0" marR="0" lvl="0" indent="0" algn="l" rtl="0">
              <a:lnSpc>
                <a:spcPct val="154969"/>
              </a:lnSpc>
              <a:spcBef>
                <a:spcPts val="0"/>
              </a:spcBef>
              <a:spcAft>
                <a:spcPts val="0"/>
              </a:spcAft>
              <a:buNone/>
            </a:pPr>
            <a:r>
              <a:rPr lang="en-US" sz="1650" b="0" i="0" u="none" strike="noStrike" cap="none">
                <a:solidFill>
                  <a:srgbClr val="0284C7"/>
                </a:solidFill>
                <a:latin typeface="Inter"/>
                <a:ea typeface="Inter"/>
                <a:cs typeface="Inter"/>
                <a:sym typeface="Inter"/>
              </a:rPr>
              <a:t>•</a:t>
            </a:r>
            <a:endParaRPr/>
          </a:p>
        </p:txBody>
      </p:sp>
      <p:sp>
        <p:nvSpPr>
          <p:cNvPr id="265" name="Google Shape;265;p20"/>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4.6.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Cơ</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Chế</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Rào</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Chắn</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(Guardrails)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Và</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RAG</a:t>
            </a:r>
            <a:endParaRPr dirty="0"/>
          </a:p>
        </p:txBody>
      </p:sp>
      <p:sp>
        <p:nvSpPr>
          <p:cNvPr id="266" name="Google Shape;266;p20"/>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pic>
        <p:nvPicPr>
          <p:cNvPr id="271" name="Google Shape;27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2" name="Google Shape;272;p21"/>
          <p:cNvSpPr txBox="1"/>
          <p:nvPr/>
        </p:nvSpPr>
        <p:spPr>
          <a:xfrm>
            <a:off x="571500" y="476250"/>
            <a:ext cx="5600700"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4.7. Công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Cụ</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Thiết</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Kế</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UI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Bằng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AI</a:t>
            </a:r>
            <a:endParaRPr dirty="0"/>
          </a:p>
        </p:txBody>
      </p:sp>
      <p:pic>
        <p:nvPicPr>
          <p:cNvPr id="273" name="Google Shape;273;p21" descr="image.png"/>
          <p:cNvPicPr preferRelativeResize="0"/>
          <p:nvPr/>
        </p:nvPicPr>
        <p:blipFill rotWithShape="1">
          <a:blip r:embed="rId4">
            <a:alphaModFix/>
          </a:blip>
          <a:srcRect/>
          <a:stretch/>
        </p:blipFill>
        <p:spPr>
          <a:xfrm>
            <a:off x="6286500" y="0"/>
            <a:ext cx="5905500" cy="6858000"/>
          </a:xfrm>
          <a:prstGeom prst="rect">
            <a:avLst/>
          </a:prstGeom>
          <a:noFill/>
          <a:ln>
            <a:noFill/>
          </a:ln>
        </p:spPr>
      </p:pic>
      <p:sp>
        <p:nvSpPr>
          <p:cNvPr id="274" name="Google Shape;274;p21"/>
          <p:cNvSpPr txBox="1"/>
          <p:nvPr/>
        </p:nvSpPr>
        <p:spPr>
          <a:xfrm>
            <a:off x="571500" y="2872233"/>
            <a:ext cx="5334000" cy="752772"/>
          </a:xfrm>
          <a:prstGeom prst="rect">
            <a:avLst/>
          </a:prstGeom>
          <a:noFill/>
          <a:ln>
            <a:noFill/>
          </a:ln>
        </p:spPr>
        <p:txBody>
          <a:bodyPr spcFirstLastPara="1" wrap="square" lIns="0" tIns="0" rIns="0" bIns="0" anchor="t" anchorCtr="0">
            <a:spAutoFit/>
          </a:bodyPr>
          <a:lstStyle/>
          <a:p>
            <a:pPr marL="0" marR="0" lvl="0" indent="0" algn="l" rtl="0">
              <a:lnSpc>
                <a:spcPct val="154980"/>
              </a:lnSpc>
              <a:spcBef>
                <a:spcPts val="0"/>
              </a:spcBef>
              <a:spcAft>
                <a:spcPts val="0"/>
              </a:spcAft>
              <a:buNone/>
            </a:pPr>
            <a:r>
              <a:rPr lang="en-US" sz="1275" b="1" i="0" u="none" strike="noStrike" cap="none">
                <a:solidFill>
                  <a:srgbClr val="475569"/>
                </a:solidFill>
                <a:latin typeface="Inter"/>
                <a:ea typeface="Inter"/>
                <a:cs typeface="Inter"/>
                <a:sym typeface="Inter"/>
              </a:rPr>
              <a:t>Công Cụ Thiết Kế UI (UI Design):</a:t>
            </a:r>
            <a:r>
              <a:rPr lang="en-US" sz="1275" b="0" i="0" u="none" strike="noStrike" cap="none">
                <a:solidFill>
                  <a:srgbClr val="475569"/>
                </a:solidFill>
                <a:latin typeface="Inter"/>
                <a:ea typeface="Inter"/>
                <a:cs typeface="Inter"/>
                <a:sym typeface="Inter"/>
              </a:rPr>
              <a:t> Uizard (chuyển bản vẽ tay thành wireframe), Figma AI (tự động sinh layout, đổi màu, điền nội dung mẫu).</a:t>
            </a:r>
            <a:endParaRPr/>
          </a:p>
        </p:txBody>
      </p:sp>
      <p:sp>
        <p:nvSpPr>
          <p:cNvPr id="275" name="Google Shape;275;p21"/>
          <p:cNvSpPr txBox="1"/>
          <p:nvPr/>
        </p:nvSpPr>
        <p:spPr>
          <a:xfrm>
            <a:off x="571500" y="3625006"/>
            <a:ext cx="5334000" cy="501848"/>
          </a:xfrm>
          <a:prstGeom prst="rect">
            <a:avLst/>
          </a:prstGeom>
          <a:noFill/>
          <a:ln>
            <a:noFill/>
          </a:ln>
        </p:spPr>
        <p:txBody>
          <a:bodyPr spcFirstLastPara="1" wrap="square" lIns="0" tIns="0" rIns="0" bIns="0" anchor="t" anchorCtr="0">
            <a:spAutoFit/>
          </a:bodyPr>
          <a:lstStyle/>
          <a:p>
            <a:pPr marL="0" marR="0" lvl="0" indent="0" algn="l" rtl="0">
              <a:lnSpc>
                <a:spcPct val="154980"/>
              </a:lnSpc>
              <a:spcBef>
                <a:spcPts val="0"/>
              </a:spcBef>
              <a:spcAft>
                <a:spcPts val="0"/>
              </a:spcAft>
              <a:buNone/>
            </a:pPr>
            <a:r>
              <a:rPr lang="en-US" sz="1275" b="1" i="0" u="none" strike="noStrike" cap="none">
                <a:solidFill>
                  <a:srgbClr val="475569"/>
                </a:solidFill>
                <a:latin typeface="Inter"/>
                <a:ea typeface="Inter"/>
                <a:cs typeface="Inter"/>
                <a:sym typeface="Inter"/>
              </a:rPr>
              <a:t>Công Cụ Hiện Thực Hóa (UI Implementation):</a:t>
            </a:r>
            <a:r>
              <a:rPr lang="en-US" sz="1275" b="0" i="0" u="none" strike="noStrike" cap="none">
                <a:solidFill>
                  <a:srgbClr val="475569"/>
                </a:solidFill>
                <a:latin typeface="Inter"/>
                <a:ea typeface="Inter"/>
                <a:cs typeface="Inter"/>
                <a:sym typeface="Inter"/>
              </a:rPr>
              <a:t> Gradio, Streamlit (dựng prototype chạy code), Flask/React (triển khai sản xuất).</a:t>
            </a:r>
            <a:endParaRPr/>
          </a:p>
        </p:txBody>
      </p:sp>
      <p:sp>
        <p:nvSpPr>
          <p:cNvPr id="276" name="Google Shape;276;p21"/>
          <p:cNvSpPr txBox="1"/>
          <p:nvPr/>
        </p:nvSpPr>
        <p:spPr>
          <a:xfrm>
            <a:off x="571500" y="4126855"/>
            <a:ext cx="5334000" cy="501848"/>
          </a:xfrm>
          <a:prstGeom prst="rect">
            <a:avLst/>
          </a:prstGeom>
          <a:noFill/>
          <a:ln>
            <a:noFill/>
          </a:ln>
        </p:spPr>
        <p:txBody>
          <a:bodyPr spcFirstLastPara="1" wrap="square" lIns="0" tIns="0" rIns="0" bIns="0" anchor="t" anchorCtr="0">
            <a:spAutoFit/>
          </a:bodyPr>
          <a:lstStyle/>
          <a:p>
            <a:pPr marL="0" marR="0" lvl="0" indent="0" algn="l" rtl="0">
              <a:lnSpc>
                <a:spcPct val="154980"/>
              </a:lnSpc>
              <a:spcBef>
                <a:spcPts val="0"/>
              </a:spcBef>
              <a:spcAft>
                <a:spcPts val="0"/>
              </a:spcAft>
              <a:buNone/>
            </a:pPr>
            <a:r>
              <a:rPr lang="en-US" sz="1275" b="0" i="1" u="none" strike="noStrike" cap="none">
                <a:solidFill>
                  <a:srgbClr val="475569"/>
                </a:solidFill>
                <a:latin typeface="Inter"/>
                <a:ea typeface="Inter"/>
                <a:cs typeface="Inter"/>
                <a:sym typeface="Inter"/>
              </a:rPr>
              <a:t>Quy trình chuẩn: Phác thảo trên Figma AI/Uizard → Duyệt mẫu → Lập trình prototype bằng Streamlit → Triển khai bằng Flask/React.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0"/>
        <p:cNvGrpSpPr/>
        <p:nvPr/>
      </p:nvGrpSpPr>
      <p:grpSpPr>
        <a:xfrm>
          <a:off x="0" y="0"/>
          <a:ext cx="0" cy="0"/>
          <a:chOff x="0" y="0"/>
          <a:chExt cx="0" cy="0"/>
        </a:xfrm>
      </p:grpSpPr>
      <p:pic>
        <p:nvPicPr>
          <p:cNvPr id="281" name="Google Shape;281;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2" name="Google Shape;282;p22" descr="image.png"/>
          <p:cNvPicPr preferRelativeResize="0"/>
          <p:nvPr/>
        </p:nvPicPr>
        <p:blipFill rotWithShape="1">
          <a:blip r:embed="rId4">
            <a:alphaModFix/>
          </a:blip>
          <a:srcRect/>
          <a:stretch/>
        </p:blipFill>
        <p:spPr>
          <a:xfrm>
            <a:off x="571500" y="6400800"/>
            <a:ext cx="11049000" cy="266700"/>
          </a:xfrm>
          <a:prstGeom prst="rect">
            <a:avLst/>
          </a:prstGeom>
          <a:noFill/>
          <a:ln>
            <a:noFill/>
          </a:ln>
        </p:spPr>
      </p:pic>
      <p:sp>
        <p:nvSpPr>
          <p:cNvPr id="283" name="Google Shape;283;p22"/>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284" name="Google Shape;284;p22"/>
          <p:cNvSpPr txBox="1"/>
          <p:nvPr/>
        </p:nvSpPr>
        <p:spPr>
          <a:xfrm>
            <a:off x="11153775" y="6524625"/>
            <a:ext cx="4667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10</a:t>
            </a:r>
            <a:endParaRPr/>
          </a:p>
        </p:txBody>
      </p:sp>
      <p:sp>
        <p:nvSpPr>
          <p:cNvPr id="285" name="Google Shape;285;p22"/>
          <p:cNvSpPr txBox="1"/>
          <p:nvPr/>
        </p:nvSpPr>
        <p:spPr>
          <a:xfrm>
            <a:off x="1000125" y="275034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Xác định yêu cầu &amp; Phạm vi:</a:t>
            </a:r>
            <a:r>
              <a:rPr lang="en-US" sz="1200" b="0" i="0" u="none" strike="noStrike" cap="none">
                <a:solidFill>
                  <a:srgbClr val="475569"/>
                </a:solidFill>
                <a:latin typeface="Inter"/>
                <a:ea typeface="Inter"/>
                <a:cs typeface="Inter"/>
                <a:sym typeface="Inter"/>
              </a:rPr>
              <a:t> Định hình bài toán nghiệp vụ, nhóm người dùng mục tiêu và thiết lập KPIs.</a:t>
            </a:r>
            <a:endParaRPr/>
          </a:p>
        </p:txBody>
      </p:sp>
      <p:sp>
        <p:nvSpPr>
          <p:cNvPr id="286" name="Google Shape;286;p22"/>
          <p:cNvSpPr txBox="1"/>
          <p:nvPr/>
        </p:nvSpPr>
        <p:spPr>
          <a:xfrm>
            <a:off x="1000125" y="315039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Thiết kế Kiến trúc &amp; Chọn Tech Stack:</a:t>
            </a:r>
            <a:r>
              <a:rPr lang="en-US" sz="1200" b="0" i="0" u="none" strike="noStrike" cap="none">
                <a:solidFill>
                  <a:srgbClr val="475569"/>
                </a:solidFill>
                <a:latin typeface="Inter"/>
                <a:ea typeface="Inter"/>
                <a:cs typeface="Inter"/>
                <a:sym typeface="Inter"/>
              </a:rPr>
              <a:t> Lựa chọn LLM (OpenAI/Gemini), Vector DB (Chroma/Pinecone) và UI Framework.</a:t>
            </a:r>
            <a:endParaRPr/>
          </a:p>
        </p:txBody>
      </p:sp>
      <p:sp>
        <p:nvSpPr>
          <p:cNvPr id="287" name="Google Shape;287;p22"/>
          <p:cNvSpPr txBox="1"/>
          <p:nvPr/>
        </p:nvSpPr>
        <p:spPr>
          <a:xfrm>
            <a:off x="1000125" y="355044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Nạp &amp; Xử lý Dữ liệu (Ingestion):</a:t>
            </a:r>
            <a:r>
              <a:rPr lang="en-US" sz="1200" b="0" i="0" u="none" strike="noStrike" cap="none">
                <a:solidFill>
                  <a:srgbClr val="475569"/>
                </a:solidFill>
                <a:latin typeface="Inter"/>
                <a:ea typeface="Inter"/>
                <a:cs typeface="Inter"/>
                <a:sym typeface="Inter"/>
              </a:rPr>
              <a:t> Làm sạch văn bản, cắt đoạn (chunking) và lưu trữ vector embedding vào database.</a:t>
            </a:r>
            <a:endParaRPr/>
          </a:p>
        </p:txBody>
      </p:sp>
      <p:sp>
        <p:nvSpPr>
          <p:cNvPr id="288" name="Google Shape;288;p22"/>
          <p:cNvSpPr txBox="1"/>
          <p:nvPr/>
        </p:nvSpPr>
        <p:spPr>
          <a:xfrm>
            <a:off x="1000125" y="395049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Thiết lập System Prompt &amp; Guardrails:</a:t>
            </a:r>
            <a:r>
              <a:rPr lang="en-US" sz="1200" b="0" i="0" u="none" strike="noStrike" cap="none">
                <a:solidFill>
                  <a:srgbClr val="475569"/>
                </a:solidFill>
                <a:latin typeface="Inter"/>
                <a:ea typeface="Inter"/>
                <a:cs typeface="Inter"/>
                <a:sym typeface="Inter"/>
              </a:rPr>
              <a:t> Định dạng "tính cách", giọng điệu phản hồi và các rào chắn bảo vệ.</a:t>
            </a:r>
            <a:endParaRPr/>
          </a:p>
        </p:txBody>
      </p:sp>
      <p:sp>
        <p:nvSpPr>
          <p:cNvPr id="289" name="Google Shape;289;p22"/>
          <p:cNvSpPr txBox="1"/>
          <p:nvPr/>
        </p:nvSpPr>
        <p:spPr>
          <a:xfrm>
            <a:off x="1000125" y="435054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Tích hợp RAG &amp; Logic Hội thoại:</a:t>
            </a:r>
            <a:r>
              <a:rPr lang="en-US" sz="1200" b="0" i="0" u="none" strike="noStrike" cap="none">
                <a:solidFill>
                  <a:srgbClr val="475569"/>
                </a:solidFill>
                <a:latin typeface="Inter"/>
                <a:ea typeface="Inter"/>
                <a:cs typeface="Inter"/>
                <a:sym typeface="Inter"/>
              </a:rPr>
              <a:t> Sử dụng LangChain/LlamaIndex để kết nối tài liệu và quản lý bộ nhớ phiên.</a:t>
            </a:r>
            <a:endParaRPr/>
          </a:p>
        </p:txBody>
      </p:sp>
      <p:pic>
        <p:nvPicPr>
          <p:cNvPr id="290" name="Google Shape;290;p22" descr="image.png"/>
          <p:cNvPicPr preferRelativeResize="0"/>
          <p:nvPr/>
        </p:nvPicPr>
        <p:blipFill rotWithShape="1">
          <a:blip r:embed="rId5">
            <a:alphaModFix/>
          </a:blip>
          <a:srcRect/>
          <a:stretch/>
        </p:blipFill>
        <p:spPr>
          <a:xfrm>
            <a:off x="571500" y="2764631"/>
            <a:ext cx="104775" cy="219075"/>
          </a:xfrm>
          <a:prstGeom prst="rect">
            <a:avLst/>
          </a:prstGeom>
          <a:noFill/>
          <a:ln>
            <a:noFill/>
          </a:ln>
        </p:spPr>
      </p:pic>
      <p:pic>
        <p:nvPicPr>
          <p:cNvPr id="291" name="Google Shape;291;p22" descr="image.png"/>
          <p:cNvPicPr preferRelativeResize="0"/>
          <p:nvPr/>
        </p:nvPicPr>
        <p:blipFill rotWithShape="1">
          <a:blip r:embed="rId6">
            <a:alphaModFix/>
          </a:blip>
          <a:srcRect/>
          <a:stretch/>
        </p:blipFill>
        <p:spPr>
          <a:xfrm>
            <a:off x="571500" y="3164681"/>
            <a:ext cx="133350" cy="219075"/>
          </a:xfrm>
          <a:prstGeom prst="rect">
            <a:avLst/>
          </a:prstGeom>
          <a:noFill/>
          <a:ln>
            <a:noFill/>
          </a:ln>
        </p:spPr>
      </p:pic>
      <p:pic>
        <p:nvPicPr>
          <p:cNvPr id="292" name="Google Shape;292;p22" descr="image.png"/>
          <p:cNvPicPr preferRelativeResize="0"/>
          <p:nvPr/>
        </p:nvPicPr>
        <p:blipFill rotWithShape="1">
          <a:blip r:embed="rId7">
            <a:alphaModFix/>
          </a:blip>
          <a:srcRect/>
          <a:stretch/>
        </p:blipFill>
        <p:spPr>
          <a:xfrm>
            <a:off x="571500" y="3564731"/>
            <a:ext cx="133350" cy="219075"/>
          </a:xfrm>
          <a:prstGeom prst="rect">
            <a:avLst/>
          </a:prstGeom>
          <a:noFill/>
          <a:ln>
            <a:noFill/>
          </a:ln>
        </p:spPr>
      </p:pic>
      <p:pic>
        <p:nvPicPr>
          <p:cNvPr id="293" name="Google Shape;293;p22" descr="image.png"/>
          <p:cNvPicPr preferRelativeResize="0"/>
          <p:nvPr/>
        </p:nvPicPr>
        <p:blipFill rotWithShape="1">
          <a:blip r:embed="rId8">
            <a:alphaModFix/>
          </a:blip>
          <a:srcRect/>
          <a:stretch/>
        </p:blipFill>
        <p:spPr>
          <a:xfrm>
            <a:off x="571500" y="3964781"/>
            <a:ext cx="161925" cy="219075"/>
          </a:xfrm>
          <a:prstGeom prst="rect">
            <a:avLst/>
          </a:prstGeom>
          <a:noFill/>
          <a:ln>
            <a:noFill/>
          </a:ln>
        </p:spPr>
      </p:pic>
      <p:pic>
        <p:nvPicPr>
          <p:cNvPr id="294" name="Google Shape;294;p22" descr="image.png"/>
          <p:cNvPicPr preferRelativeResize="0"/>
          <p:nvPr/>
        </p:nvPicPr>
        <p:blipFill rotWithShape="1">
          <a:blip r:embed="rId9">
            <a:alphaModFix/>
          </a:blip>
          <a:srcRect/>
          <a:stretch/>
        </p:blipFill>
        <p:spPr>
          <a:xfrm>
            <a:off x="571500" y="4364831"/>
            <a:ext cx="133350" cy="219075"/>
          </a:xfrm>
          <a:prstGeom prst="rect">
            <a:avLst/>
          </a:prstGeom>
          <a:noFill/>
          <a:ln>
            <a:noFill/>
          </a:ln>
        </p:spPr>
      </p:pic>
      <p:sp>
        <p:nvSpPr>
          <p:cNvPr id="295" name="Google Shape;295;p22"/>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4.8. Quy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Trình</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Xây</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Dựng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Chatbot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Bước</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1 - 5)</a:t>
            </a:r>
            <a:endParaRPr dirty="0"/>
          </a:p>
        </p:txBody>
      </p:sp>
      <p:sp>
        <p:nvSpPr>
          <p:cNvPr id="296" name="Google Shape;296;p22"/>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0"/>
        <p:cNvGrpSpPr/>
        <p:nvPr/>
      </p:nvGrpSpPr>
      <p:grpSpPr>
        <a:xfrm>
          <a:off x="0" y="0"/>
          <a:ext cx="0" cy="0"/>
          <a:chOff x="0" y="0"/>
          <a:chExt cx="0" cy="0"/>
        </a:xfrm>
      </p:grpSpPr>
      <p:pic>
        <p:nvPicPr>
          <p:cNvPr id="301" name="Google Shape;301;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2" name="Google Shape;302;p23" descr="image.png"/>
          <p:cNvPicPr preferRelativeResize="0"/>
          <p:nvPr/>
        </p:nvPicPr>
        <p:blipFill rotWithShape="1">
          <a:blip r:embed="rId4">
            <a:alphaModFix/>
          </a:blip>
          <a:srcRect/>
          <a:stretch/>
        </p:blipFill>
        <p:spPr>
          <a:xfrm>
            <a:off x="571500" y="6400800"/>
            <a:ext cx="11049000" cy="266700"/>
          </a:xfrm>
          <a:prstGeom prst="rect">
            <a:avLst/>
          </a:prstGeom>
          <a:noFill/>
          <a:ln>
            <a:noFill/>
          </a:ln>
        </p:spPr>
      </p:pic>
      <p:sp>
        <p:nvSpPr>
          <p:cNvPr id="303" name="Google Shape;303;p23"/>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304" name="Google Shape;304;p23"/>
          <p:cNvSpPr txBox="1"/>
          <p:nvPr/>
        </p:nvSpPr>
        <p:spPr>
          <a:xfrm>
            <a:off x="11182350" y="6524625"/>
            <a:ext cx="43815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11</a:t>
            </a:r>
            <a:endParaRPr/>
          </a:p>
        </p:txBody>
      </p:sp>
      <p:sp>
        <p:nvSpPr>
          <p:cNvPr id="305" name="Google Shape;305;p23"/>
          <p:cNvSpPr txBox="1"/>
          <p:nvPr/>
        </p:nvSpPr>
        <p:spPr>
          <a:xfrm>
            <a:off x="1000125" y="275034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Phát triển Giao diện UI/UX:</a:t>
            </a:r>
            <a:r>
              <a:rPr lang="en-US" sz="1200" b="0" i="0" u="none" strike="noStrike" cap="none">
                <a:solidFill>
                  <a:srgbClr val="475569"/>
                </a:solidFill>
                <a:latin typeface="Inter"/>
                <a:ea typeface="Inter"/>
                <a:cs typeface="Inter"/>
                <a:sym typeface="Inter"/>
              </a:rPr>
              <a:t> Dựng giao diện tương tác người dùng bằng Streamlit hoặc Gradio/React.</a:t>
            </a:r>
            <a:endParaRPr/>
          </a:p>
        </p:txBody>
      </p:sp>
      <p:sp>
        <p:nvSpPr>
          <p:cNvPr id="306" name="Google Shape;306;p23"/>
          <p:cNvSpPr txBox="1"/>
          <p:nvPr/>
        </p:nvSpPr>
        <p:spPr>
          <a:xfrm>
            <a:off x="1000125" y="315039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Kiểm thử &amp; Đánh giá (Evaluation):</a:t>
            </a:r>
            <a:r>
              <a:rPr lang="en-US" sz="1200" b="0" i="0" u="none" strike="noStrike" cap="none">
                <a:solidFill>
                  <a:srgbClr val="475569"/>
                </a:solidFill>
                <a:latin typeface="Inter"/>
                <a:ea typeface="Inter"/>
                <a:cs typeface="Inter"/>
                <a:sym typeface="Inter"/>
              </a:rPr>
              <a:t> Đánh giá độ chính xác RAG, đo lường độ trễ và khả năng chống Prompt Injection.</a:t>
            </a:r>
            <a:endParaRPr/>
          </a:p>
        </p:txBody>
      </p:sp>
      <p:sp>
        <p:nvSpPr>
          <p:cNvPr id="307" name="Google Shape;307;p23"/>
          <p:cNvSpPr txBox="1"/>
          <p:nvPr/>
        </p:nvSpPr>
        <p:spPr>
          <a:xfrm>
            <a:off x="1000125" y="355044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Triển khai Đám mây (Deployment):</a:t>
            </a:r>
            <a:r>
              <a:rPr lang="en-US" sz="1200" b="0" i="0" u="none" strike="noStrike" cap="none">
                <a:solidFill>
                  <a:srgbClr val="475569"/>
                </a:solidFill>
                <a:latin typeface="Inter"/>
                <a:ea typeface="Inter"/>
                <a:cs typeface="Inter"/>
                <a:sym typeface="Inter"/>
              </a:rPr>
              <a:t> Đóng gói ứng dụng với Docker và đưa lên hạ tầng Cloud có Auto-scaling.</a:t>
            </a:r>
            <a:endParaRPr/>
          </a:p>
        </p:txBody>
      </p:sp>
      <p:sp>
        <p:nvSpPr>
          <p:cNvPr id="308" name="Google Shape;308;p23"/>
          <p:cNvSpPr txBox="1"/>
          <p:nvPr/>
        </p:nvSpPr>
        <p:spPr>
          <a:xfrm>
            <a:off x="1000125" y="395049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Giám sát &amp; Quản trị (Monitoring):</a:t>
            </a:r>
            <a:r>
              <a:rPr lang="en-US" sz="1200" b="0" i="0" u="none" strike="noStrike" cap="none">
                <a:solidFill>
                  <a:srgbClr val="475569"/>
                </a:solidFill>
                <a:latin typeface="Inter"/>
                <a:ea typeface="Inter"/>
                <a:cs typeface="Inter"/>
                <a:sym typeface="Inter"/>
              </a:rPr>
              <a:t> Theo dõi chi phí token, log hệ thống và mức độ hài lòng người dùng real-time.</a:t>
            </a:r>
            <a:endParaRPr/>
          </a:p>
        </p:txBody>
      </p:sp>
      <p:sp>
        <p:nvSpPr>
          <p:cNvPr id="309" name="Google Shape;309;p23"/>
          <p:cNvSpPr txBox="1"/>
          <p:nvPr/>
        </p:nvSpPr>
        <p:spPr>
          <a:xfrm>
            <a:off x="1000125" y="4350543"/>
            <a:ext cx="10620375" cy="228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200" b="1" i="0" u="none" strike="noStrike" cap="none">
                <a:solidFill>
                  <a:srgbClr val="475569"/>
                </a:solidFill>
                <a:latin typeface="Inter"/>
                <a:ea typeface="Inter"/>
                <a:cs typeface="Inter"/>
                <a:sym typeface="Inter"/>
              </a:rPr>
              <a:t>Cải tiến Liên tục (Continuous Loop):</a:t>
            </a:r>
            <a:r>
              <a:rPr lang="en-US" sz="1200" b="0" i="0" u="none" strike="noStrike" cap="none">
                <a:solidFill>
                  <a:srgbClr val="475569"/>
                </a:solidFill>
                <a:latin typeface="Inter"/>
                <a:ea typeface="Inter"/>
                <a:cs typeface="Inter"/>
                <a:sym typeface="Inter"/>
              </a:rPr>
              <a:t> Thu thập CSAT, tinh chỉnh prompt và liên tục cập nhật kho tri thức.</a:t>
            </a:r>
            <a:endParaRPr/>
          </a:p>
        </p:txBody>
      </p:sp>
      <p:pic>
        <p:nvPicPr>
          <p:cNvPr id="310" name="Google Shape;310;p23" descr="image.png"/>
          <p:cNvPicPr preferRelativeResize="0"/>
          <p:nvPr/>
        </p:nvPicPr>
        <p:blipFill rotWithShape="1">
          <a:blip r:embed="rId5">
            <a:alphaModFix/>
          </a:blip>
          <a:srcRect/>
          <a:stretch/>
        </p:blipFill>
        <p:spPr>
          <a:xfrm>
            <a:off x="571500" y="2764631"/>
            <a:ext cx="142875" cy="219075"/>
          </a:xfrm>
          <a:prstGeom prst="rect">
            <a:avLst/>
          </a:prstGeom>
          <a:noFill/>
          <a:ln>
            <a:noFill/>
          </a:ln>
        </p:spPr>
      </p:pic>
      <p:pic>
        <p:nvPicPr>
          <p:cNvPr id="311" name="Google Shape;311;p23" descr="image.png"/>
          <p:cNvPicPr preferRelativeResize="0"/>
          <p:nvPr/>
        </p:nvPicPr>
        <p:blipFill rotWithShape="1">
          <a:blip r:embed="rId6">
            <a:alphaModFix/>
          </a:blip>
          <a:srcRect/>
          <a:stretch/>
        </p:blipFill>
        <p:spPr>
          <a:xfrm>
            <a:off x="571500" y="3164681"/>
            <a:ext cx="133350" cy="219075"/>
          </a:xfrm>
          <a:prstGeom prst="rect">
            <a:avLst/>
          </a:prstGeom>
          <a:noFill/>
          <a:ln>
            <a:noFill/>
          </a:ln>
        </p:spPr>
      </p:pic>
      <p:pic>
        <p:nvPicPr>
          <p:cNvPr id="312" name="Google Shape;312;p23" descr="image.png"/>
          <p:cNvPicPr preferRelativeResize="0"/>
          <p:nvPr/>
        </p:nvPicPr>
        <p:blipFill rotWithShape="1">
          <a:blip r:embed="rId7">
            <a:alphaModFix/>
          </a:blip>
          <a:srcRect/>
          <a:stretch/>
        </p:blipFill>
        <p:spPr>
          <a:xfrm>
            <a:off x="571500" y="3564731"/>
            <a:ext cx="133350" cy="219075"/>
          </a:xfrm>
          <a:prstGeom prst="rect">
            <a:avLst/>
          </a:prstGeom>
          <a:noFill/>
          <a:ln>
            <a:noFill/>
          </a:ln>
        </p:spPr>
      </p:pic>
      <p:pic>
        <p:nvPicPr>
          <p:cNvPr id="313" name="Google Shape;313;p23" descr="image.png"/>
          <p:cNvPicPr preferRelativeResize="0"/>
          <p:nvPr/>
        </p:nvPicPr>
        <p:blipFill rotWithShape="1">
          <a:blip r:embed="rId8">
            <a:alphaModFix/>
          </a:blip>
          <a:srcRect/>
          <a:stretch/>
        </p:blipFill>
        <p:spPr>
          <a:xfrm>
            <a:off x="571500" y="3964781"/>
            <a:ext cx="142875" cy="219075"/>
          </a:xfrm>
          <a:prstGeom prst="rect">
            <a:avLst/>
          </a:prstGeom>
          <a:noFill/>
          <a:ln>
            <a:noFill/>
          </a:ln>
        </p:spPr>
      </p:pic>
      <p:sp>
        <p:nvSpPr>
          <p:cNvPr id="314" name="Google Shape;314;p23"/>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4.9. Quy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Trình</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Xây</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Dựng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Chatbot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Bước</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6 - 10)</a:t>
            </a:r>
            <a:endParaRPr dirty="0"/>
          </a:p>
        </p:txBody>
      </p:sp>
      <p:sp>
        <p:nvSpPr>
          <p:cNvPr id="315" name="Google Shape;315;p23"/>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9"/>
        <p:cNvGrpSpPr/>
        <p:nvPr/>
      </p:nvGrpSpPr>
      <p:grpSpPr>
        <a:xfrm>
          <a:off x="0" y="0"/>
          <a:ext cx="0" cy="0"/>
          <a:chOff x="0" y="0"/>
          <a:chExt cx="0" cy="0"/>
        </a:xfrm>
      </p:grpSpPr>
      <p:pic>
        <p:nvPicPr>
          <p:cNvPr id="320" name="Google Shape;320;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1" name="Google Shape;321;p24" descr="image.png"/>
          <p:cNvPicPr preferRelativeResize="0"/>
          <p:nvPr/>
        </p:nvPicPr>
        <p:blipFill rotWithShape="1">
          <a:blip r:embed="rId4">
            <a:alphaModFix/>
          </a:blip>
          <a:srcRect/>
          <a:stretch/>
        </p:blipFill>
        <p:spPr>
          <a:xfrm>
            <a:off x="571500" y="2600325"/>
            <a:ext cx="3524250" cy="2300287"/>
          </a:xfrm>
          <a:prstGeom prst="rect">
            <a:avLst/>
          </a:prstGeom>
          <a:noFill/>
          <a:ln>
            <a:noFill/>
          </a:ln>
        </p:spPr>
      </p:pic>
      <p:pic>
        <p:nvPicPr>
          <p:cNvPr id="322" name="Google Shape;322;p24" descr="image.png"/>
          <p:cNvPicPr preferRelativeResize="0"/>
          <p:nvPr/>
        </p:nvPicPr>
        <p:blipFill rotWithShape="1">
          <a:blip r:embed="rId5">
            <a:alphaModFix/>
          </a:blip>
          <a:srcRect/>
          <a:stretch/>
        </p:blipFill>
        <p:spPr>
          <a:xfrm>
            <a:off x="4333875" y="2600325"/>
            <a:ext cx="3524250" cy="2300287"/>
          </a:xfrm>
          <a:prstGeom prst="rect">
            <a:avLst/>
          </a:prstGeom>
          <a:noFill/>
          <a:ln>
            <a:noFill/>
          </a:ln>
        </p:spPr>
      </p:pic>
      <p:pic>
        <p:nvPicPr>
          <p:cNvPr id="323" name="Google Shape;323;p24" descr="image.png"/>
          <p:cNvPicPr preferRelativeResize="0"/>
          <p:nvPr/>
        </p:nvPicPr>
        <p:blipFill rotWithShape="1">
          <a:blip r:embed="rId6">
            <a:alphaModFix/>
          </a:blip>
          <a:srcRect/>
          <a:stretch/>
        </p:blipFill>
        <p:spPr>
          <a:xfrm>
            <a:off x="8096250" y="2600325"/>
            <a:ext cx="3524250" cy="2300287"/>
          </a:xfrm>
          <a:prstGeom prst="rect">
            <a:avLst/>
          </a:prstGeom>
          <a:noFill/>
          <a:ln>
            <a:noFill/>
          </a:ln>
        </p:spPr>
      </p:pic>
      <p:pic>
        <p:nvPicPr>
          <p:cNvPr id="324" name="Google Shape;324;p24" descr="image.png"/>
          <p:cNvPicPr preferRelativeResize="0"/>
          <p:nvPr/>
        </p:nvPicPr>
        <p:blipFill rotWithShape="1">
          <a:blip r:embed="rId7">
            <a:alphaModFix/>
          </a:blip>
          <a:srcRect/>
          <a:stretch/>
        </p:blipFill>
        <p:spPr>
          <a:xfrm>
            <a:off x="571500" y="6400800"/>
            <a:ext cx="11049000" cy="266700"/>
          </a:xfrm>
          <a:prstGeom prst="rect">
            <a:avLst/>
          </a:prstGeom>
          <a:noFill/>
          <a:ln>
            <a:noFill/>
          </a:ln>
        </p:spPr>
      </p:pic>
      <p:sp>
        <p:nvSpPr>
          <p:cNvPr id="325" name="Google Shape;325;p24"/>
          <p:cNvSpPr txBox="1"/>
          <p:nvPr/>
        </p:nvSpPr>
        <p:spPr>
          <a:xfrm>
            <a:off x="571500" y="6524625"/>
            <a:ext cx="225742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Chương 4: Thiết Kế UI/UX Cho AI Tạo Sinh</a:t>
            </a:r>
            <a:endParaRPr/>
          </a:p>
        </p:txBody>
      </p:sp>
      <p:sp>
        <p:nvSpPr>
          <p:cNvPr id="326" name="Google Shape;326;p24"/>
          <p:cNvSpPr txBox="1"/>
          <p:nvPr/>
        </p:nvSpPr>
        <p:spPr>
          <a:xfrm>
            <a:off x="11163300" y="6524625"/>
            <a:ext cx="4572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Inter"/>
                <a:ea typeface="Inter"/>
                <a:cs typeface="Inter"/>
                <a:sym typeface="Inter"/>
              </a:rPr>
              <a:t>Trang 12</a:t>
            </a:r>
            <a:endParaRPr/>
          </a:p>
        </p:txBody>
      </p:sp>
      <p:pic>
        <p:nvPicPr>
          <p:cNvPr id="327" name="Google Shape;327;p24" descr="image.png"/>
          <p:cNvPicPr preferRelativeResize="0"/>
          <p:nvPr/>
        </p:nvPicPr>
        <p:blipFill rotWithShape="1">
          <a:blip r:embed="rId8">
            <a:alphaModFix/>
          </a:blip>
          <a:srcRect/>
          <a:stretch/>
        </p:blipFill>
        <p:spPr>
          <a:xfrm>
            <a:off x="819150" y="2895600"/>
            <a:ext cx="523875" cy="523875"/>
          </a:xfrm>
          <a:prstGeom prst="rect">
            <a:avLst/>
          </a:prstGeom>
          <a:noFill/>
          <a:ln>
            <a:noFill/>
          </a:ln>
        </p:spPr>
      </p:pic>
      <p:sp>
        <p:nvSpPr>
          <p:cNvPr id="328" name="Google Shape;328;p24"/>
          <p:cNvSpPr txBox="1"/>
          <p:nvPr/>
        </p:nvSpPr>
        <p:spPr>
          <a:xfrm>
            <a:off x="819150" y="3609975"/>
            <a:ext cx="193024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Giao Diện Thích Ứng</a:t>
            </a:r>
            <a:endParaRPr/>
          </a:p>
        </p:txBody>
      </p:sp>
      <p:sp>
        <p:nvSpPr>
          <p:cNvPr id="329" name="Google Shape;329;p24"/>
          <p:cNvSpPr txBox="1"/>
          <p:nvPr/>
        </p:nvSpPr>
        <p:spPr>
          <a:xfrm>
            <a:off x="819150" y="3962400"/>
            <a:ext cx="3028950" cy="642937"/>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475569"/>
                </a:solidFill>
                <a:latin typeface="Inter"/>
                <a:ea typeface="Inter"/>
                <a:cs typeface="Inter"/>
                <a:sym typeface="Inter"/>
              </a:rPr>
              <a:t>Tự động thay đổi layout, gợi ý prompt và mức độ chi tiết dựa trên mức độ thành thạo của từng người dùng.</a:t>
            </a:r>
            <a:endParaRPr/>
          </a:p>
        </p:txBody>
      </p:sp>
      <p:pic>
        <p:nvPicPr>
          <p:cNvPr id="330" name="Google Shape;330;p24" descr="image.png"/>
          <p:cNvPicPr preferRelativeResize="0"/>
          <p:nvPr/>
        </p:nvPicPr>
        <p:blipFill rotWithShape="1">
          <a:blip r:embed="rId9">
            <a:alphaModFix/>
          </a:blip>
          <a:srcRect/>
          <a:stretch/>
        </p:blipFill>
        <p:spPr>
          <a:xfrm>
            <a:off x="4581525" y="2895600"/>
            <a:ext cx="523875" cy="523875"/>
          </a:xfrm>
          <a:prstGeom prst="rect">
            <a:avLst/>
          </a:prstGeom>
          <a:noFill/>
          <a:ln>
            <a:noFill/>
          </a:ln>
        </p:spPr>
      </p:pic>
      <p:sp>
        <p:nvSpPr>
          <p:cNvPr id="331" name="Google Shape;331;p24"/>
          <p:cNvSpPr txBox="1"/>
          <p:nvPr/>
        </p:nvSpPr>
        <p:spPr>
          <a:xfrm>
            <a:off x="4581525" y="3609975"/>
            <a:ext cx="2630328"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Tương Tác Đa Phương Thức</a:t>
            </a:r>
            <a:endParaRPr/>
          </a:p>
        </p:txBody>
      </p:sp>
      <p:sp>
        <p:nvSpPr>
          <p:cNvPr id="332" name="Google Shape;332;p24"/>
          <p:cNvSpPr txBox="1"/>
          <p:nvPr/>
        </p:nvSpPr>
        <p:spPr>
          <a:xfrm>
            <a:off x="4581525" y="3962400"/>
            <a:ext cx="3028950" cy="642937"/>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475569"/>
                </a:solidFill>
                <a:latin typeface="Inter"/>
                <a:ea typeface="Inter"/>
                <a:cs typeface="Inter"/>
                <a:sym typeface="Inter"/>
              </a:rPr>
              <a:t>Kết hợp văn bản, giọng nói, hình ảnh và video đồng thời trong một phiên tương tác duy nhất.</a:t>
            </a:r>
            <a:endParaRPr/>
          </a:p>
        </p:txBody>
      </p:sp>
      <p:pic>
        <p:nvPicPr>
          <p:cNvPr id="333" name="Google Shape;333;p24" descr="image.png"/>
          <p:cNvPicPr preferRelativeResize="0"/>
          <p:nvPr/>
        </p:nvPicPr>
        <p:blipFill rotWithShape="1">
          <a:blip r:embed="rId10">
            <a:alphaModFix/>
          </a:blip>
          <a:srcRect/>
          <a:stretch/>
        </p:blipFill>
        <p:spPr>
          <a:xfrm>
            <a:off x="8343900" y="2895600"/>
            <a:ext cx="523875" cy="523875"/>
          </a:xfrm>
          <a:prstGeom prst="rect">
            <a:avLst/>
          </a:prstGeom>
          <a:noFill/>
          <a:ln>
            <a:noFill/>
          </a:ln>
        </p:spPr>
      </p:pic>
      <p:sp>
        <p:nvSpPr>
          <p:cNvPr id="334" name="Google Shape;334;p24"/>
          <p:cNvSpPr txBox="1"/>
          <p:nvPr/>
        </p:nvSpPr>
        <p:spPr>
          <a:xfrm>
            <a:off x="8343900" y="3609975"/>
            <a:ext cx="2890361" cy="2381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Plus Jakarta Sans"/>
                <a:ea typeface="Plus Jakarta Sans"/>
                <a:cs typeface="Plus Jakarta Sans"/>
                <a:sym typeface="Plus Jakarta Sans"/>
              </a:rPr>
              <a:t>Lấy Con Người Làm Trung Tâm</a:t>
            </a:r>
            <a:endParaRPr/>
          </a:p>
        </p:txBody>
      </p:sp>
      <p:sp>
        <p:nvSpPr>
          <p:cNvPr id="335" name="Google Shape;335;p24"/>
          <p:cNvSpPr txBox="1"/>
          <p:nvPr/>
        </p:nvSpPr>
        <p:spPr>
          <a:xfrm>
            <a:off x="8343900" y="3962400"/>
            <a:ext cx="3028950" cy="642937"/>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475569"/>
                </a:solidFill>
                <a:latin typeface="Inter"/>
                <a:ea typeface="Inter"/>
                <a:cs typeface="Inter"/>
                <a:sym typeface="Inter"/>
              </a:rPr>
              <a:t>AI đóng vai trò hỗ trợ, tối ưu hóa trải nghiệm nhưng luôn giữ nguyên tắc minh bạch và quyền kiểm soát của con người.</a:t>
            </a:r>
            <a:endParaRPr/>
          </a:p>
        </p:txBody>
      </p:sp>
      <p:pic>
        <p:nvPicPr>
          <p:cNvPr id="336" name="Google Shape;336;p24" descr="image.png"/>
          <p:cNvPicPr preferRelativeResize="0"/>
          <p:nvPr/>
        </p:nvPicPr>
        <p:blipFill rotWithShape="1">
          <a:blip r:embed="rId11">
            <a:alphaModFix/>
          </a:blip>
          <a:srcRect/>
          <a:stretch/>
        </p:blipFill>
        <p:spPr>
          <a:xfrm>
            <a:off x="952500" y="3043237"/>
            <a:ext cx="257175" cy="228600"/>
          </a:xfrm>
          <a:prstGeom prst="rect">
            <a:avLst/>
          </a:prstGeom>
          <a:noFill/>
          <a:ln>
            <a:noFill/>
          </a:ln>
        </p:spPr>
      </p:pic>
      <p:pic>
        <p:nvPicPr>
          <p:cNvPr id="337" name="Google Shape;337;p24" descr="image.png"/>
          <p:cNvPicPr preferRelativeResize="0"/>
          <p:nvPr/>
        </p:nvPicPr>
        <p:blipFill rotWithShape="1">
          <a:blip r:embed="rId12">
            <a:alphaModFix/>
          </a:blip>
          <a:srcRect/>
          <a:stretch/>
        </p:blipFill>
        <p:spPr>
          <a:xfrm>
            <a:off x="4700587" y="3043237"/>
            <a:ext cx="285750" cy="228600"/>
          </a:xfrm>
          <a:prstGeom prst="rect">
            <a:avLst/>
          </a:prstGeom>
          <a:noFill/>
          <a:ln>
            <a:noFill/>
          </a:ln>
        </p:spPr>
      </p:pic>
      <p:pic>
        <p:nvPicPr>
          <p:cNvPr id="338" name="Google Shape;338;p24" descr="image.png"/>
          <p:cNvPicPr preferRelativeResize="0"/>
          <p:nvPr/>
        </p:nvPicPr>
        <p:blipFill rotWithShape="1">
          <a:blip r:embed="rId13">
            <a:alphaModFix/>
          </a:blip>
          <a:srcRect/>
          <a:stretch/>
        </p:blipFill>
        <p:spPr>
          <a:xfrm>
            <a:off x="8477250" y="3043237"/>
            <a:ext cx="257175" cy="228600"/>
          </a:xfrm>
          <a:prstGeom prst="rect">
            <a:avLst/>
          </a:prstGeom>
          <a:noFill/>
          <a:ln>
            <a:noFill/>
          </a:ln>
        </p:spPr>
      </p:pic>
      <p:sp>
        <p:nvSpPr>
          <p:cNvPr id="339" name="Google Shape;339;p24"/>
          <p:cNvSpPr txBox="1"/>
          <p:nvPr/>
        </p:nvSpPr>
        <p:spPr>
          <a:xfrm>
            <a:off x="714375" y="476250"/>
            <a:ext cx="11451431" cy="490519"/>
          </a:xfrm>
          <a:prstGeom prst="rect">
            <a:avLst/>
          </a:prstGeom>
          <a:noFill/>
          <a:ln>
            <a:noFill/>
          </a:ln>
        </p:spPr>
        <p:txBody>
          <a:bodyPr spcFirstLastPara="1" wrap="square" lIns="0" tIns="0" rIns="0" bIns="0" anchor="t" anchorCtr="0">
            <a:spAutoFit/>
          </a:bodyPr>
          <a:lstStyle/>
          <a:p>
            <a:pPr marL="0" marR="0" lvl="0" indent="0" algn="l" rtl="0">
              <a:lnSpc>
                <a:spcPct val="124980"/>
              </a:lnSpc>
              <a:spcBef>
                <a:spcPts val="0"/>
              </a:spcBef>
              <a:spcAft>
                <a:spcPts val="0"/>
              </a:spcAft>
              <a:buNone/>
            </a:pP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Tổng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Kết</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&amp; Xu </a:t>
            </a:r>
            <a:r>
              <a:rPr lang="en-US" sz="2550" b="0" i="0" u="none" strike="noStrike" cap="none" dirty="0" err="1">
                <a:solidFill>
                  <a:srgbClr val="0F172A"/>
                </a:solidFill>
                <a:latin typeface="Plus Jakarta Sans ExtraBold"/>
                <a:ea typeface="Plus Jakarta Sans ExtraBold"/>
                <a:cs typeface="Plus Jakarta Sans ExtraBold"/>
                <a:sym typeface="Plus Jakarta Sans ExtraBold"/>
              </a:rPr>
              <a:t>Hướng</a:t>
            </a:r>
            <a:r>
              <a:rPr lang="en-US" sz="2550" b="0" i="0" u="none" strike="noStrike" cap="none" dirty="0">
                <a:solidFill>
                  <a:srgbClr val="0F172A"/>
                </a:solidFill>
                <a:latin typeface="Plus Jakarta Sans ExtraBold"/>
                <a:ea typeface="Plus Jakarta Sans ExtraBold"/>
                <a:cs typeface="Plus Jakarta Sans ExtraBold"/>
                <a:sym typeface="Plus Jakarta Sans ExtraBold"/>
              </a:rPr>
              <a:t> UI/UX Cho AI</a:t>
            </a:r>
            <a:endParaRPr dirty="0"/>
          </a:p>
        </p:txBody>
      </p:sp>
      <p:sp>
        <p:nvSpPr>
          <p:cNvPr id="340" name="Google Shape;340;p24"/>
          <p:cNvSpPr/>
          <p:nvPr/>
        </p:nvSpPr>
        <p:spPr>
          <a:xfrm>
            <a:off x="571500" y="476250"/>
            <a:ext cx="47625" cy="404812"/>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2967</Words>
  <Application>Microsoft Office PowerPoint</Application>
  <PresentationFormat>Widescreen</PresentationFormat>
  <Paragraphs>213</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Plus Jakarta Sans ExtraBold</vt:lpstr>
      <vt:lpstr>Inter</vt:lpstr>
      <vt:lpstr>Calibri</vt:lpstr>
      <vt:lpstr>Arial</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Dung Nguyen</cp:lastModifiedBy>
  <cp:revision>5</cp:revision>
  <dcterms:modified xsi:type="dcterms:W3CDTF">2026-08-14T08:15:41Z</dcterms:modified>
</cp:coreProperties>
</file>