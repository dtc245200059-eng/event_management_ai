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3"/>
  </p:notesMasterIdLst>
  <p:sldIdLst>
    <p:sldId id="293" r:id="rId2"/>
    <p:sldId id="297" r:id="rId3"/>
    <p:sldId id="306" r:id="rId4"/>
    <p:sldId id="305" r:id="rId5"/>
    <p:sldId id="298" r:id="rId6"/>
    <p:sldId id="299" r:id="rId7"/>
    <p:sldId id="300" r:id="rId8"/>
    <p:sldId id="301" r:id="rId9"/>
    <p:sldId id="302" r:id="rId10"/>
    <p:sldId id="303" r:id="rId11"/>
    <p:sldId id="30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49823" autoAdjust="0"/>
  </p:normalViewPr>
  <p:slideViewPr>
    <p:cSldViewPr snapToGrid="0">
      <p:cViewPr varScale="1">
        <p:scale>
          <a:sx n="56" d="100"/>
          <a:sy n="56" d="100"/>
        </p:scale>
        <p:origin x="2712"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A41BC4-3796-4806-B886-9E39B90FEC32}"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BD0C0C-DEF9-457C-9DCE-3285BA12395A}" type="slidenum">
              <a:rPr lang="en-US" smtClean="0"/>
              <a:t>‹#›</a:t>
            </a:fld>
            <a:endParaRPr lang="en-US"/>
          </a:p>
        </p:txBody>
      </p:sp>
    </p:spTree>
    <p:extLst>
      <p:ext uri="{BB962C8B-B14F-4D97-AF65-F5344CB8AC3E}">
        <p14:creationId xmlns:p14="http://schemas.microsoft.com/office/powerpoint/2010/main" val="3325910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7629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23B0975-8394-5F0A-4A6F-821ABC4A3D97}"/>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2188BCB2-99F1-F7F4-D303-F91983F9E1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3:notes">
            <a:extLst>
              <a:ext uri="{FF2B5EF4-FFF2-40B4-BE49-F238E27FC236}">
                <a16:creationId xmlns:a16="http://schemas.microsoft.com/office/drawing/2014/main" id="{60CA3F18-13CE-3E47-18E2-5335CEC704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3533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C7B68856-9235-693C-1A3A-07E372A787EE}"/>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1BF87359-0814-4584-2E9C-B6FAABFB631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vi-VN" sz="1200" b="0" i="0" kern="1200" dirty="0">
                <a:solidFill>
                  <a:schemeClr val="tx1"/>
                </a:solidFill>
                <a:effectLst/>
                <a:latin typeface="+mn-lt"/>
                <a:ea typeface="+mn-ea"/>
                <a:cs typeface="+mn-cs"/>
              </a:rPr>
              <a:t>1. Phân tích yêu cầu bằng ChatGPT</a:t>
            </a:r>
          </a:p>
          <a:p>
            <a:r>
              <a:rPr lang="vi-VN" sz="1200" b="0" i="0" kern="1200" dirty="0">
                <a:solidFill>
                  <a:schemeClr val="tx1"/>
                </a:solidFill>
                <a:effectLst/>
                <a:latin typeface="+mn-lt"/>
                <a:ea typeface="+mn-ea"/>
                <a:cs typeface="+mn-cs"/>
              </a:rPr>
              <a:t>Mục tiêu: Hiểu rõ dự án cần làm gì, có những chức năng nào và ai sẽ sử dụng.</a:t>
            </a:r>
          </a:p>
          <a:p>
            <a:r>
              <a:rPr lang="vi-VN" sz="1200" b="0" i="0" kern="1200" dirty="0">
                <a:solidFill>
                  <a:schemeClr val="tx1"/>
                </a:solidFill>
                <a:effectLst/>
                <a:latin typeface="+mn-lt"/>
                <a:ea typeface="+mn-ea"/>
                <a:cs typeface="+mn-cs"/>
              </a:rPr>
              <a:t>Cách thực hiện: Thay vì ngồi tự nghĩ hoặc viết tài liệu từ đầu, bạn cung cấp cho ChatGPT ý tưởng sơ khai của mình (ví dụ: "Tôi muốn làm một ứng dụng đặt đồ ăn"). ChatGPT sẽ giúp bạn liệt kê các chức năng cần có (đăng nhập, tìm món, giỏ hàng, thanh toán), xác định các nhóm người dùng (khách hàng, tài xế, nhà hàng) và chỉ ra các rủi ro có thể gặp phải.</a:t>
            </a:r>
          </a:p>
          <a:p>
            <a:pPr marL="0" lvl="0" indent="0" algn="l" rtl="0">
              <a:spcBef>
                <a:spcPts val="0"/>
              </a:spcBef>
              <a:spcAft>
                <a:spcPts val="0"/>
              </a:spcAft>
              <a:buNone/>
            </a:pPr>
            <a:endParaRPr dirty="0"/>
          </a:p>
        </p:txBody>
      </p:sp>
      <p:sp>
        <p:nvSpPr>
          <p:cNvPr id="108" name="Google Shape;108;p3:notes">
            <a:extLst>
              <a:ext uri="{FF2B5EF4-FFF2-40B4-BE49-F238E27FC236}">
                <a16:creationId xmlns:a16="http://schemas.microsoft.com/office/drawing/2014/main" id="{86DD4FC8-4411-090C-55E2-728706BA78C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5705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82DA429-BB74-F925-3039-0BFB1ED30BEF}"/>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34473449-65BC-2BC6-F79B-E634591A61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b="1" dirty="0" err="1"/>
              <a:t>Thiết</a:t>
            </a:r>
            <a:r>
              <a:rPr lang="en-US" b="1" dirty="0"/>
              <a:t> </a:t>
            </a:r>
            <a:r>
              <a:rPr lang="en-US" b="1" dirty="0" err="1"/>
              <a:t>kế</a:t>
            </a:r>
            <a:r>
              <a:rPr lang="en-US" b="1" dirty="0"/>
              <a:t> </a:t>
            </a:r>
            <a:r>
              <a:rPr lang="en-US" b="1" dirty="0" err="1"/>
              <a:t>giao</a:t>
            </a:r>
            <a:r>
              <a:rPr lang="en-US" b="1" dirty="0"/>
              <a:t> </a:t>
            </a:r>
            <a:r>
              <a:rPr lang="en-US" b="1" dirty="0" err="1"/>
              <a:t>diện</a:t>
            </a:r>
            <a:r>
              <a:rPr lang="en-US" b="1" dirty="0"/>
              <a:t> </a:t>
            </a:r>
            <a:r>
              <a:rPr lang="en-US" b="1" dirty="0" err="1"/>
              <a:t>bằng</a:t>
            </a:r>
            <a:r>
              <a:rPr lang="en-US" b="1" dirty="0"/>
              <a:t> </a:t>
            </a:r>
            <a:r>
              <a:rPr lang="en-US" b="1" dirty="0" err="1"/>
              <a:t>Uizard</a:t>
            </a:r>
            <a:r>
              <a:rPr lang="en-US" b="1" dirty="0"/>
              <a:t> Free</a:t>
            </a:r>
          </a:p>
          <a:p>
            <a:r>
              <a:rPr lang="en-US" b="1" dirty="0" err="1"/>
              <a:t>Mục</a:t>
            </a:r>
            <a:r>
              <a:rPr lang="en-US" b="1" dirty="0"/>
              <a:t> </a:t>
            </a:r>
            <a:r>
              <a:rPr lang="en-US" b="1" dirty="0" err="1"/>
              <a:t>tiêu</a:t>
            </a:r>
            <a:r>
              <a:rPr lang="en-US" b="1" dirty="0"/>
              <a:t>:</a:t>
            </a:r>
            <a:r>
              <a:rPr lang="en-US" dirty="0"/>
              <a:t> </a:t>
            </a:r>
            <a:r>
              <a:rPr lang="en-US" dirty="0" err="1"/>
              <a:t>Tạo</a:t>
            </a:r>
            <a:r>
              <a:rPr lang="en-US" dirty="0"/>
              <a:t> </a:t>
            </a:r>
            <a:r>
              <a:rPr lang="en-US" dirty="0" err="1"/>
              <a:t>ra</a:t>
            </a:r>
            <a:r>
              <a:rPr lang="en-US" dirty="0"/>
              <a:t> </a:t>
            </a:r>
            <a:r>
              <a:rPr lang="en-US" dirty="0" err="1"/>
              <a:t>bản</a:t>
            </a:r>
            <a:r>
              <a:rPr lang="en-US" dirty="0"/>
              <a:t> </a:t>
            </a:r>
            <a:r>
              <a:rPr lang="en-US" dirty="0" err="1"/>
              <a:t>vẽ</a:t>
            </a:r>
            <a:r>
              <a:rPr lang="en-US" dirty="0"/>
              <a:t> </a:t>
            </a:r>
            <a:r>
              <a:rPr lang="en-US" dirty="0" err="1"/>
              <a:t>phác</a:t>
            </a:r>
            <a:r>
              <a:rPr lang="en-US" dirty="0"/>
              <a:t> </a:t>
            </a:r>
            <a:r>
              <a:rPr lang="en-US" dirty="0" err="1"/>
              <a:t>thảo</a:t>
            </a:r>
            <a:r>
              <a:rPr lang="en-US" dirty="0"/>
              <a:t> (Mockup/Wireframe) </a:t>
            </a:r>
            <a:r>
              <a:rPr lang="en-US" dirty="0" err="1"/>
              <a:t>trực</a:t>
            </a:r>
            <a:r>
              <a:rPr lang="en-US" dirty="0"/>
              <a:t> </a:t>
            </a:r>
            <a:r>
              <a:rPr lang="en-US" dirty="0" err="1"/>
              <a:t>quan</a:t>
            </a:r>
            <a:r>
              <a:rPr lang="en-US" dirty="0"/>
              <a:t> </a:t>
            </a:r>
            <a:r>
              <a:rPr lang="en-US" dirty="0" err="1"/>
              <a:t>của</a:t>
            </a:r>
            <a:r>
              <a:rPr lang="en-US" dirty="0"/>
              <a:t> </a:t>
            </a:r>
            <a:r>
              <a:rPr lang="en-US" dirty="0" err="1"/>
              <a:t>ứng</a:t>
            </a:r>
            <a:r>
              <a:rPr lang="en-US" dirty="0"/>
              <a:t> </a:t>
            </a:r>
            <a:r>
              <a:rPr lang="en-US" dirty="0" err="1"/>
              <a:t>dụng</a:t>
            </a:r>
            <a:r>
              <a:rPr lang="en-US" dirty="0"/>
              <a:t> </a:t>
            </a:r>
            <a:r>
              <a:rPr lang="en-US" dirty="0" err="1"/>
              <a:t>để</a:t>
            </a:r>
            <a:r>
              <a:rPr lang="en-US" dirty="0"/>
              <a:t> </a:t>
            </a:r>
            <a:r>
              <a:rPr lang="en-US" dirty="0" err="1"/>
              <a:t>hình</a:t>
            </a:r>
            <a:r>
              <a:rPr lang="en-US" dirty="0"/>
              <a:t> dung </a:t>
            </a:r>
            <a:r>
              <a:rPr lang="en-US" dirty="0" err="1"/>
              <a:t>giao</a:t>
            </a:r>
            <a:r>
              <a:rPr lang="en-US" dirty="0"/>
              <a:t> </a:t>
            </a:r>
            <a:r>
              <a:rPr lang="en-US" dirty="0" err="1"/>
              <a:t>diện</a:t>
            </a:r>
            <a:r>
              <a:rPr lang="en-US" dirty="0"/>
              <a:t> </a:t>
            </a:r>
            <a:r>
              <a:rPr lang="en-US" dirty="0" err="1"/>
              <a:t>thực</a:t>
            </a:r>
            <a:r>
              <a:rPr lang="en-US" dirty="0"/>
              <a:t> </a:t>
            </a:r>
            <a:r>
              <a:rPr lang="en-US" dirty="0" err="1"/>
              <a:t>tế</a:t>
            </a:r>
            <a:r>
              <a:rPr lang="en-US" dirty="0"/>
              <a:t>.</a:t>
            </a:r>
          </a:p>
          <a:p>
            <a:r>
              <a:rPr lang="en-US" b="1" dirty="0" err="1"/>
              <a:t>Cách</a:t>
            </a:r>
            <a:r>
              <a:rPr lang="en-US" b="1" dirty="0"/>
              <a:t> </a:t>
            </a:r>
            <a:r>
              <a:rPr lang="en-US" b="1" dirty="0" err="1"/>
              <a:t>thực</a:t>
            </a:r>
            <a:r>
              <a:rPr lang="en-US" b="1" dirty="0"/>
              <a:t> </a:t>
            </a:r>
            <a:r>
              <a:rPr lang="en-US" b="1" dirty="0" err="1"/>
              <a:t>hiện</a:t>
            </a:r>
            <a:r>
              <a:rPr lang="en-US" b="1" dirty="0"/>
              <a:t>:</a:t>
            </a:r>
            <a:r>
              <a:rPr lang="en-US" dirty="0"/>
              <a:t> </a:t>
            </a:r>
            <a:r>
              <a:rPr lang="en-US" dirty="0" err="1"/>
              <a:t>Uizard</a:t>
            </a:r>
            <a:r>
              <a:rPr lang="en-US" dirty="0"/>
              <a:t> </a:t>
            </a:r>
            <a:r>
              <a:rPr lang="en-US" dirty="0" err="1"/>
              <a:t>là</a:t>
            </a:r>
            <a:r>
              <a:rPr lang="en-US" dirty="0"/>
              <a:t> </a:t>
            </a:r>
            <a:r>
              <a:rPr lang="en-US" dirty="0" err="1"/>
              <a:t>một</a:t>
            </a:r>
            <a:r>
              <a:rPr lang="en-US" dirty="0"/>
              <a:t> </a:t>
            </a:r>
            <a:r>
              <a:rPr lang="en-US" dirty="0" err="1"/>
              <a:t>công</a:t>
            </a:r>
            <a:r>
              <a:rPr lang="en-US" dirty="0"/>
              <a:t> </a:t>
            </a:r>
            <a:r>
              <a:rPr lang="en-US" dirty="0" err="1"/>
              <a:t>cụ</a:t>
            </a:r>
            <a:r>
              <a:rPr lang="en-US" dirty="0"/>
              <a:t> </a:t>
            </a:r>
            <a:r>
              <a:rPr lang="en-US" dirty="0" err="1"/>
              <a:t>thiết</a:t>
            </a:r>
            <a:r>
              <a:rPr lang="en-US" dirty="0"/>
              <a:t> </a:t>
            </a:r>
            <a:r>
              <a:rPr lang="en-US" dirty="0" err="1"/>
              <a:t>kế</a:t>
            </a:r>
            <a:r>
              <a:rPr lang="en-US" dirty="0"/>
              <a:t> </a:t>
            </a:r>
            <a:r>
              <a:rPr lang="en-US" dirty="0" err="1"/>
              <a:t>có</a:t>
            </a:r>
            <a:r>
              <a:rPr lang="en-US" dirty="0"/>
              <a:t> </a:t>
            </a:r>
            <a:r>
              <a:rPr lang="en-US" dirty="0" err="1"/>
              <a:t>tích</a:t>
            </a:r>
            <a:r>
              <a:rPr lang="en-US" dirty="0"/>
              <a:t> </a:t>
            </a:r>
            <a:r>
              <a:rPr lang="en-US" dirty="0" err="1"/>
              <a:t>hợp</a:t>
            </a:r>
            <a:r>
              <a:rPr lang="en-US" dirty="0"/>
              <a:t> AI </a:t>
            </a:r>
            <a:r>
              <a:rPr lang="en-US" dirty="0" err="1"/>
              <a:t>rất</a:t>
            </a:r>
            <a:r>
              <a:rPr lang="en-US" dirty="0"/>
              <a:t> </a:t>
            </a:r>
            <a:r>
              <a:rPr lang="en-US" dirty="0" err="1"/>
              <a:t>mạnh</a:t>
            </a:r>
            <a:r>
              <a:rPr lang="en-US" dirty="0"/>
              <a:t>. </a:t>
            </a:r>
            <a:r>
              <a:rPr lang="en-US" dirty="0" err="1"/>
              <a:t>Bạn</a:t>
            </a:r>
            <a:r>
              <a:rPr lang="en-US" dirty="0"/>
              <a:t> </a:t>
            </a:r>
            <a:r>
              <a:rPr lang="en-US" dirty="0" err="1"/>
              <a:t>có</a:t>
            </a:r>
            <a:r>
              <a:rPr lang="en-US" dirty="0"/>
              <a:t> </a:t>
            </a:r>
            <a:r>
              <a:rPr lang="en-US" dirty="0" err="1"/>
              <a:t>thể</a:t>
            </a:r>
            <a:r>
              <a:rPr lang="en-US" dirty="0"/>
              <a:t> </a:t>
            </a:r>
            <a:r>
              <a:rPr lang="en-US" dirty="0" err="1"/>
              <a:t>vẽ</a:t>
            </a:r>
            <a:r>
              <a:rPr lang="en-US" dirty="0"/>
              <a:t> </a:t>
            </a:r>
            <a:r>
              <a:rPr lang="en-US" dirty="0" err="1"/>
              <a:t>tay</a:t>
            </a:r>
            <a:r>
              <a:rPr lang="en-US" dirty="0"/>
              <a:t> </a:t>
            </a:r>
            <a:r>
              <a:rPr lang="en-US" dirty="0" err="1"/>
              <a:t>màn</a:t>
            </a:r>
            <a:r>
              <a:rPr lang="en-US" dirty="0"/>
              <a:t> </a:t>
            </a:r>
            <a:r>
              <a:rPr lang="en-US" dirty="0" err="1"/>
              <a:t>hình</a:t>
            </a:r>
            <a:r>
              <a:rPr lang="en-US" dirty="0"/>
              <a:t> </a:t>
            </a:r>
            <a:r>
              <a:rPr lang="en-US" dirty="0" err="1"/>
              <a:t>ứng</a:t>
            </a:r>
            <a:r>
              <a:rPr lang="en-US" dirty="0"/>
              <a:t> </a:t>
            </a:r>
            <a:r>
              <a:rPr lang="en-US" dirty="0" err="1"/>
              <a:t>dụng</a:t>
            </a:r>
            <a:r>
              <a:rPr lang="en-US" dirty="0"/>
              <a:t> </a:t>
            </a:r>
            <a:r>
              <a:rPr lang="en-US" dirty="0" err="1"/>
              <a:t>ra</a:t>
            </a:r>
            <a:r>
              <a:rPr lang="en-US" dirty="0"/>
              <a:t> </a:t>
            </a:r>
            <a:r>
              <a:rPr lang="en-US" dirty="0" err="1"/>
              <a:t>giấy</a:t>
            </a:r>
            <a:r>
              <a:rPr lang="en-US" dirty="0"/>
              <a:t> </a:t>
            </a:r>
            <a:r>
              <a:rPr lang="en-US" dirty="0" err="1"/>
              <a:t>rồi</a:t>
            </a:r>
            <a:r>
              <a:rPr lang="en-US" dirty="0"/>
              <a:t> </a:t>
            </a:r>
            <a:r>
              <a:rPr lang="en-US" dirty="0" err="1"/>
              <a:t>chụp</a:t>
            </a:r>
            <a:r>
              <a:rPr lang="en-US" dirty="0"/>
              <a:t> </a:t>
            </a:r>
            <a:r>
              <a:rPr lang="en-US" dirty="0" err="1"/>
              <a:t>ảnh</a:t>
            </a:r>
            <a:r>
              <a:rPr lang="en-US" dirty="0"/>
              <a:t> up </a:t>
            </a:r>
            <a:r>
              <a:rPr lang="en-US" dirty="0" err="1"/>
              <a:t>lên</a:t>
            </a:r>
            <a:r>
              <a:rPr lang="en-US" dirty="0"/>
              <a:t>, </a:t>
            </a:r>
            <a:r>
              <a:rPr lang="en-US" dirty="0" err="1"/>
              <a:t>hoặc</a:t>
            </a:r>
            <a:r>
              <a:rPr lang="en-US" dirty="0"/>
              <a:t> </a:t>
            </a:r>
            <a:r>
              <a:rPr lang="en-US" dirty="0" err="1"/>
              <a:t>chỉ</a:t>
            </a:r>
            <a:r>
              <a:rPr lang="en-US" dirty="0"/>
              <a:t> </a:t>
            </a:r>
            <a:r>
              <a:rPr lang="en-US" dirty="0" err="1"/>
              <a:t>cần</a:t>
            </a:r>
            <a:r>
              <a:rPr lang="en-US" dirty="0"/>
              <a:t> </a:t>
            </a:r>
            <a:r>
              <a:rPr lang="en-US" dirty="0" err="1"/>
              <a:t>gõ</a:t>
            </a:r>
            <a:r>
              <a:rPr lang="en-US" dirty="0"/>
              <a:t> </a:t>
            </a:r>
            <a:r>
              <a:rPr lang="en-US" dirty="0" err="1"/>
              <a:t>yêu</a:t>
            </a:r>
            <a:r>
              <a:rPr lang="en-US" dirty="0"/>
              <a:t> </a:t>
            </a:r>
            <a:r>
              <a:rPr lang="en-US" dirty="0" err="1"/>
              <a:t>cầu</a:t>
            </a:r>
            <a:r>
              <a:rPr lang="en-US" dirty="0"/>
              <a:t> </a:t>
            </a:r>
            <a:r>
              <a:rPr lang="en-US" dirty="0" err="1"/>
              <a:t>bằng</a:t>
            </a:r>
            <a:r>
              <a:rPr lang="en-US" dirty="0"/>
              <a:t> </a:t>
            </a:r>
            <a:r>
              <a:rPr lang="en-US" dirty="0" err="1"/>
              <a:t>văn</a:t>
            </a:r>
            <a:r>
              <a:rPr lang="en-US" dirty="0"/>
              <a:t> </a:t>
            </a:r>
            <a:r>
              <a:rPr lang="en-US" dirty="0" err="1"/>
              <a:t>bản</a:t>
            </a:r>
            <a:r>
              <a:rPr lang="en-US" dirty="0"/>
              <a:t> (Prompt), AI </a:t>
            </a:r>
            <a:r>
              <a:rPr lang="en-US" dirty="0" err="1"/>
              <a:t>của</a:t>
            </a:r>
            <a:r>
              <a:rPr lang="en-US" dirty="0"/>
              <a:t> </a:t>
            </a:r>
            <a:r>
              <a:rPr lang="en-US" dirty="0" err="1"/>
              <a:t>Uizard</a:t>
            </a:r>
            <a:r>
              <a:rPr lang="en-US" dirty="0"/>
              <a:t> </a:t>
            </a:r>
            <a:r>
              <a:rPr lang="en-US" dirty="0" err="1"/>
              <a:t>sẽ</a:t>
            </a:r>
            <a:r>
              <a:rPr lang="en-US" dirty="0"/>
              <a:t> </a:t>
            </a:r>
            <a:r>
              <a:rPr lang="en-US" dirty="0" err="1"/>
              <a:t>tự</a:t>
            </a:r>
            <a:r>
              <a:rPr lang="en-US" dirty="0"/>
              <a:t> </a:t>
            </a:r>
            <a:r>
              <a:rPr lang="en-US" dirty="0" err="1"/>
              <a:t>động</a:t>
            </a:r>
            <a:r>
              <a:rPr lang="en-US" dirty="0"/>
              <a:t> </a:t>
            </a:r>
            <a:r>
              <a:rPr lang="en-US" dirty="0" err="1"/>
              <a:t>tạo</a:t>
            </a:r>
            <a:r>
              <a:rPr lang="en-US" dirty="0"/>
              <a:t> </a:t>
            </a:r>
            <a:r>
              <a:rPr lang="en-US" dirty="0" err="1"/>
              <a:t>ra</a:t>
            </a:r>
            <a:r>
              <a:rPr lang="en-US" dirty="0"/>
              <a:t> </a:t>
            </a:r>
            <a:r>
              <a:rPr lang="en-US" dirty="0" err="1"/>
              <a:t>một</a:t>
            </a:r>
            <a:r>
              <a:rPr lang="en-US" dirty="0"/>
              <a:t> </a:t>
            </a:r>
            <a:r>
              <a:rPr lang="en-US" dirty="0" err="1"/>
              <a:t>giao</a:t>
            </a:r>
            <a:r>
              <a:rPr lang="en-US" dirty="0"/>
              <a:t> </a:t>
            </a:r>
            <a:r>
              <a:rPr lang="en-US" dirty="0" err="1"/>
              <a:t>diện</a:t>
            </a:r>
            <a:r>
              <a:rPr lang="en-US" dirty="0"/>
              <a:t> </a:t>
            </a:r>
            <a:r>
              <a:rPr lang="en-US" dirty="0" err="1"/>
              <a:t>hoàn</a:t>
            </a:r>
            <a:r>
              <a:rPr lang="en-US" dirty="0"/>
              <a:t> </a:t>
            </a:r>
            <a:r>
              <a:rPr lang="en-US" dirty="0" err="1"/>
              <a:t>chỉnh</a:t>
            </a:r>
            <a:r>
              <a:rPr lang="en-US" dirty="0"/>
              <a:t> </a:t>
            </a:r>
            <a:r>
              <a:rPr lang="en-US" dirty="0" err="1"/>
              <a:t>với</a:t>
            </a:r>
            <a:r>
              <a:rPr lang="en-US" dirty="0"/>
              <a:t> </a:t>
            </a:r>
            <a:r>
              <a:rPr lang="en-US" dirty="0" err="1"/>
              <a:t>đầy</a:t>
            </a:r>
            <a:r>
              <a:rPr lang="en-US" dirty="0"/>
              <a:t> </a:t>
            </a:r>
            <a:r>
              <a:rPr lang="en-US" dirty="0" err="1"/>
              <a:t>đủ</a:t>
            </a:r>
            <a:r>
              <a:rPr lang="en-US" dirty="0"/>
              <a:t> </a:t>
            </a:r>
            <a:r>
              <a:rPr lang="en-US" dirty="0" err="1"/>
              <a:t>nút</a:t>
            </a:r>
            <a:r>
              <a:rPr lang="en-US" dirty="0"/>
              <a:t> </a:t>
            </a:r>
            <a:r>
              <a:rPr lang="en-US" dirty="0" err="1"/>
              <a:t>bấm</a:t>
            </a:r>
            <a:r>
              <a:rPr lang="en-US" dirty="0"/>
              <a:t>, </a:t>
            </a:r>
            <a:r>
              <a:rPr lang="en-US" dirty="0" err="1"/>
              <a:t>màu</a:t>
            </a:r>
            <a:r>
              <a:rPr lang="en-US" dirty="0"/>
              <a:t> </a:t>
            </a:r>
            <a:r>
              <a:rPr lang="en-US" dirty="0" err="1"/>
              <a:t>sắc</a:t>
            </a:r>
            <a:r>
              <a:rPr lang="en-US" dirty="0"/>
              <a:t> </a:t>
            </a:r>
            <a:r>
              <a:rPr lang="en-US" dirty="0" err="1"/>
              <a:t>và</a:t>
            </a:r>
            <a:r>
              <a:rPr lang="en-US" dirty="0"/>
              <a:t> </a:t>
            </a:r>
            <a:r>
              <a:rPr lang="en-US" dirty="0" err="1"/>
              <a:t>hình</a:t>
            </a:r>
            <a:r>
              <a:rPr lang="en-US" dirty="0"/>
              <a:t> </a:t>
            </a:r>
            <a:r>
              <a:rPr lang="en-US" dirty="0" err="1"/>
              <a:t>ảnh</a:t>
            </a:r>
            <a:r>
              <a:rPr lang="en-US" dirty="0"/>
              <a:t> </a:t>
            </a:r>
            <a:r>
              <a:rPr lang="en-US" dirty="0" err="1"/>
              <a:t>chỉ</a:t>
            </a:r>
            <a:r>
              <a:rPr lang="en-US" dirty="0"/>
              <a:t> </a:t>
            </a:r>
            <a:r>
              <a:rPr lang="en-US" dirty="0" err="1"/>
              <a:t>trong</a:t>
            </a:r>
            <a:r>
              <a:rPr lang="en-US" dirty="0"/>
              <a:t> </a:t>
            </a:r>
            <a:r>
              <a:rPr lang="en-US" dirty="0" err="1"/>
              <a:t>vài</a:t>
            </a:r>
            <a:r>
              <a:rPr lang="en-US" dirty="0"/>
              <a:t> </a:t>
            </a:r>
            <a:r>
              <a:rPr lang="en-US" dirty="0" err="1"/>
              <a:t>giây</a:t>
            </a:r>
            <a:r>
              <a:rPr lang="en-US" dirty="0"/>
              <a:t>.</a:t>
            </a:r>
          </a:p>
          <a:p>
            <a:pPr marL="0" lvl="0" indent="0" algn="l" rtl="0">
              <a:spcBef>
                <a:spcPts val="0"/>
              </a:spcBef>
              <a:spcAft>
                <a:spcPts val="0"/>
              </a:spcAft>
              <a:buNone/>
            </a:pPr>
            <a:endParaRPr dirty="0"/>
          </a:p>
        </p:txBody>
      </p:sp>
      <p:sp>
        <p:nvSpPr>
          <p:cNvPr id="108" name="Google Shape;108;p3:notes">
            <a:extLst>
              <a:ext uri="{FF2B5EF4-FFF2-40B4-BE49-F238E27FC236}">
                <a16:creationId xmlns:a16="http://schemas.microsoft.com/office/drawing/2014/main" id="{2B31CF9B-FF43-D0CF-E1B5-FDCDC905F5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2039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801813BB-500E-929F-F44B-5E53E9665F01}"/>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36054024-C8D1-93EF-38ED-F780532BC3D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1" kern="1200" dirty="0">
                <a:solidFill>
                  <a:schemeClr val="tx1"/>
                </a:solidFill>
                <a:effectLst/>
                <a:latin typeface="+mn-lt"/>
                <a:ea typeface="+mn-ea"/>
                <a:cs typeface="+mn-cs"/>
              </a:rPr>
              <a:t>Sinh </a:t>
            </a:r>
            <a:r>
              <a:rPr lang="en-US" sz="1200" b="1" kern="1200" dirty="0" err="1">
                <a:solidFill>
                  <a:schemeClr val="tx1"/>
                </a:solidFill>
                <a:effectLst/>
                <a:latin typeface="+mn-lt"/>
                <a:ea typeface="+mn-ea"/>
                <a:cs typeface="+mn-cs"/>
              </a:rPr>
              <a:t>mã</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nguồn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bằng</a:t>
            </a:r>
            <a:r>
              <a:rPr lang="en-US" sz="1200" b="1" kern="1200" dirty="0">
                <a:solidFill>
                  <a:schemeClr val="tx1"/>
                </a:solidFill>
                <a:effectLst/>
                <a:latin typeface="+mn-lt"/>
                <a:ea typeface="+mn-ea"/>
                <a:cs typeface="+mn-cs"/>
              </a:rPr>
              <a:t> ChatGPT </a:t>
            </a:r>
            <a:r>
              <a:rPr lang="en-US" sz="1200" b="1" kern="1200" dirty="0" err="1">
                <a:solidFill>
                  <a:schemeClr val="tx1"/>
                </a:solidFill>
                <a:effectLst/>
                <a:latin typeface="+mn-lt"/>
                <a:ea typeface="+mn-ea"/>
                <a:cs typeface="+mn-cs"/>
              </a:rPr>
              <a:t>hoặc</a:t>
            </a:r>
            <a:r>
              <a:rPr lang="en-US" sz="1200" b="1" kern="1200" dirty="0">
                <a:solidFill>
                  <a:schemeClr val="tx1"/>
                </a:solidFill>
                <a:effectLst/>
                <a:latin typeface="+mn-lt"/>
                <a:ea typeface="+mn-ea"/>
                <a:cs typeface="+mn-cs"/>
              </a:rPr>
              <a:t> GitHub Copilot Free</a:t>
            </a:r>
            <a:endParaRPr lang="en-US" sz="11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Mục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tiêu</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đoạn</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ở </a:t>
            </a:r>
            <a:r>
              <a:rPr lang="en-US" sz="1200"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2.</a:t>
            </a:r>
            <a:endParaRPr lang="en-US" sz="11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Cách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thực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ChatGPT: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viết</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ví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Hãy</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viết</a:t>
            </a:r>
            <a:r>
              <a:rPr lang="en-US" sz="1200" i="1" kern="1200" dirty="0">
                <a:solidFill>
                  <a:schemeClr val="tx1"/>
                </a:solidFill>
                <a:effectLst/>
                <a:latin typeface="+mn-lt"/>
                <a:ea typeface="+mn-ea"/>
                <a:cs typeface="+mn-cs"/>
              </a:rPr>
              <a:t> code HTML/CSS </a:t>
            </a:r>
            <a:r>
              <a:rPr lang="en-US" sz="1200" i="1" kern="1200" dirty="0" err="1">
                <a:solidFill>
                  <a:schemeClr val="tx1"/>
                </a:solidFill>
                <a:effectLst/>
                <a:latin typeface="+mn-lt"/>
                <a:ea typeface="+mn-ea"/>
                <a:cs typeface="+mn-cs"/>
              </a:rPr>
              <a:t>cho</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màn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hình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đăng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nhập</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a:t>
            </a:r>
            <a:endParaRPr lang="en-US" sz="1100" kern="1200" dirty="0">
              <a:solidFill>
                <a:schemeClr val="tx1"/>
              </a:solidFill>
              <a:effectLst/>
              <a:latin typeface="+mn-lt"/>
              <a:ea typeface="+mn-ea"/>
              <a:cs typeface="+mn-cs"/>
            </a:endParaRPr>
          </a:p>
          <a:p>
            <a:pPr lvl="1"/>
            <a:r>
              <a:rPr lang="en-US" sz="1200" b="1" kern="1200" dirty="0">
                <a:solidFill>
                  <a:schemeClr val="tx1"/>
                </a:solidFill>
                <a:effectLst/>
                <a:latin typeface="+mn-lt"/>
                <a:ea typeface="+mn-ea"/>
                <a:cs typeface="+mn-cs"/>
              </a:rPr>
              <a:t>GitHub Copilot:</a:t>
            </a:r>
            <a:r>
              <a:rPr lang="en-US" sz="1200" kern="1200" dirty="0">
                <a:solidFill>
                  <a:schemeClr val="tx1"/>
                </a:solidFill>
                <a:effectLst/>
                <a:latin typeface="+mn-lt"/>
                <a:ea typeface="+mn-ea"/>
                <a:cs typeface="+mn-cs"/>
              </a:rPr>
              <a:t> Công </a:t>
            </a:r>
            <a:r>
              <a:rPr lang="en-US" sz="1200" kern="1200" dirty="0" err="1">
                <a:solidFill>
                  <a:schemeClr val="tx1"/>
                </a:solidFill>
                <a:effectLst/>
                <a:latin typeface="+mn-lt"/>
                <a:ea typeface="+mn-ea"/>
                <a:cs typeface="+mn-cs"/>
              </a:rPr>
              <a:t>cụ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thảo</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VS Code). Khi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vừa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gõ</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dòng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Copilot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đoán</a:t>
            </a:r>
            <a:r>
              <a:rPr lang="en-US" sz="1200" kern="1200" dirty="0">
                <a:solidFill>
                  <a:schemeClr val="tx1"/>
                </a:solidFill>
                <a:effectLst/>
                <a:latin typeface="+mn-lt"/>
                <a:ea typeface="+mn-ea"/>
                <a:cs typeface="+mn-cs"/>
              </a:rPr>
              <a:t>" ý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gợi</a:t>
            </a:r>
            <a:r>
              <a:rPr lang="en-US" sz="1200" kern="1200" dirty="0">
                <a:solidFill>
                  <a:schemeClr val="tx1"/>
                </a:solidFill>
                <a:effectLst/>
                <a:latin typeface="+mn-lt"/>
                <a:ea typeface="+mn-ea"/>
                <a:cs typeface="+mn-cs"/>
              </a:rPr>
              <a:t> ý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tiếp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minh</a:t>
            </a:r>
            <a:r>
              <a:rPr lang="en-US" sz="1200" kern="1200" dirty="0">
                <a:solidFill>
                  <a:schemeClr val="tx1"/>
                </a:solidFill>
                <a:effectLst/>
                <a:latin typeface="+mn-lt"/>
                <a:ea typeface="+mn-ea"/>
                <a:cs typeface="+mn-cs"/>
              </a:rPr>
              <a:t>.</a:t>
            </a:r>
            <a:endParaRPr lang="en-US" sz="1100" kern="1200" dirty="0">
              <a:solidFill>
                <a:schemeClr val="tx1"/>
              </a:solidFill>
              <a:effectLst/>
              <a:latin typeface="+mn-lt"/>
              <a:ea typeface="+mn-ea"/>
              <a:cs typeface="+mn-cs"/>
            </a:endParaRPr>
          </a:p>
          <a:p>
            <a:pPr marL="0" lvl="0" indent="0" algn="l" rtl="0">
              <a:spcBef>
                <a:spcPts val="0"/>
              </a:spcBef>
              <a:spcAft>
                <a:spcPts val="0"/>
              </a:spcAft>
              <a:buNone/>
            </a:pPr>
            <a:endParaRPr dirty="0"/>
          </a:p>
        </p:txBody>
      </p:sp>
      <p:sp>
        <p:nvSpPr>
          <p:cNvPr id="108" name="Google Shape;108;p3:notes">
            <a:extLst>
              <a:ext uri="{FF2B5EF4-FFF2-40B4-BE49-F238E27FC236}">
                <a16:creationId xmlns:a16="http://schemas.microsoft.com/office/drawing/2014/main" id="{B8C57C84-1B98-9D93-F541-253E53A400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82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30380B8-F694-E333-BDC4-DC835F402AA0}"/>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B0C417D8-C4A1-EF02-52D0-68E1C916338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1" kern="1200" dirty="0">
                <a:solidFill>
                  <a:schemeClr val="tx1"/>
                </a:solidFill>
                <a:effectLst/>
                <a:latin typeface="+mn-lt"/>
                <a:ea typeface="+mn-ea"/>
                <a:cs typeface="+mn-cs"/>
              </a:rPr>
              <a:t>Sinh Test Case </a:t>
            </a:r>
            <a:r>
              <a:rPr lang="en-US" sz="1200" b="1" kern="1200" dirty="0" err="1">
                <a:solidFill>
                  <a:schemeClr val="tx1"/>
                </a:solidFill>
                <a:effectLst/>
                <a:latin typeface="+mn-lt"/>
                <a:ea typeface="+mn-ea"/>
                <a:cs typeface="+mn-cs"/>
              </a:rPr>
              <a:t>bằng</a:t>
            </a:r>
            <a:r>
              <a:rPr lang="en-US" sz="1200" b="1" kern="1200" dirty="0">
                <a:solidFill>
                  <a:schemeClr val="tx1"/>
                </a:solidFill>
                <a:effectLst/>
                <a:latin typeface="+mn-lt"/>
                <a:ea typeface="+mn-ea"/>
                <a:cs typeface="+mn-cs"/>
              </a:rPr>
              <a:t> ChatGPT</a:t>
            </a:r>
            <a:endParaRPr lang="en-US" sz="11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Mục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tiêu</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kịch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lỗi</a:t>
            </a:r>
            <a:r>
              <a:rPr lang="en-US" sz="1200" kern="1200" dirty="0">
                <a:solidFill>
                  <a:schemeClr val="tx1"/>
                </a:solidFill>
                <a:effectLst/>
                <a:latin typeface="+mn-lt"/>
                <a:ea typeface="+mn-ea"/>
                <a:cs typeface="+mn-cs"/>
              </a:rPr>
              <a:t>.</a:t>
            </a:r>
            <a:endParaRPr lang="en-US" sz="11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Cách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thực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đoạn</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ChatGPT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hỏi</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Hãy</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tạo</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các</a:t>
            </a:r>
            <a:r>
              <a:rPr lang="en-US" sz="1200" i="1" kern="1200" dirty="0">
                <a:solidFill>
                  <a:schemeClr val="tx1"/>
                </a:solidFill>
                <a:effectLst/>
                <a:latin typeface="+mn-lt"/>
                <a:ea typeface="+mn-ea"/>
                <a:cs typeface="+mn-cs"/>
              </a:rPr>
              <a:t> test case </a:t>
            </a:r>
            <a:r>
              <a:rPr lang="en-US" sz="1200" i="1" kern="1200" dirty="0" err="1">
                <a:solidFill>
                  <a:schemeClr val="tx1"/>
                </a:solidFill>
                <a:effectLst/>
                <a:latin typeface="+mn-lt"/>
                <a:ea typeface="+mn-ea"/>
                <a:cs typeface="+mn-cs"/>
              </a:rPr>
              <a:t>cho</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chức</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năng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chuyển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tiền</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ChatGPT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kê</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nghiệm</a:t>
            </a:r>
            <a:r>
              <a:rPr lang="en-US" sz="1200" kern="1200" dirty="0">
                <a:solidFill>
                  <a:schemeClr val="tx1"/>
                </a:solidFill>
                <a:effectLst/>
                <a:latin typeface="+mn-lt"/>
                <a:ea typeface="+mn-ea"/>
                <a:cs typeface="+mn-cs"/>
              </a:rPr>
              <a:t>:</a:t>
            </a:r>
            <a:endParaRPr lang="en-US" sz="1100" kern="1200" dirty="0">
              <a:solidFill>
                <a:schemeClr val="tx1"/>
              </a:solidFill>
              <a:effectLst/>
              <a:latin typeface="+mn-lt"/>
              <a:ea typeface="+mn-ea"/>
              <a:cs typeface="+mn-cs"/>
            </a:endParaRPr>
          </a:p>
          <a:p>
            <a:pPr lvl="1"/>
            <a:r>
              <a:rPr lang="en-US" sz="1200" i="1" kern="1200" dirty="0">
                <a:solidFill>
                  <a:schemeClr val="tx1"/>
                </a:solidFill>
                <a:effectLst/>
                <a:latin typeface="+mn-lt"/>
                <a:ea typeface="+mn-ea"/>
                <a:cs typeface="+mn-cs"/>
              </a:rPr>
              <a:t>Trường </a:t>
            </a:r>
            <a:r>
              <a:rPr lang="en-US" sz="1200" i="1" kern="1200" dirty="0" err="1">
                <a:solidFill>
                  <a:schemeClr val="tx1"/>
                </a:solidFill>
                <a:effectLst/>
                <a:latin typeface="+mn-lt"/>
                <a:ea typeface="+mn-ea"/>
                <a:cs typeface="+mn-cs"/>
              </a:rPr>
              <a:t>hợp</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đúng</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khoản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tiền</a:t>
            </a:r>
            <a:r>
              <a:rPr lang="en-US" sz="1200" kern="1200" dirty="0">
                <a:solidFill>
                  <a:schemeClr val="tx1"/>
                </a:solidFill>
                <a:effectLst/>
                <a:latin typeface="+mn-lt"/>
                <a:ea typeface="+mn-ea"/>
                <a:cs typeface="+mn-cs"/>
              </a:rPr>
              <a:t>.</a:t>
            </a:r>
            <a:endParaRPr lang="en-US" sz="1100" kern="1200" dirty="0">
              <a:solidFill>
                <a:schemeClr val="tx1"/>
              </a:solidFill>
              <a:effectLst/>
              <a:latin typeface="+mn-lt"/>
              <a:ea typeface="+mn-ea"/>
              <a:cs typeface="+mn-cs"/>
            </a:endParaRPr>
          </a:p>
          <a:p>
            <a:pPr lvl="1"/>
            <a:r>
              <a:rPr lang="en-US" sz="1200" i="1" kern="1200" dirty="0">
                <a:solidFill>
                  <a:schemeClr val="tx1"/>
                </a:solidFill>
                <a:effectLst/>
                <a:latin typeface="+mn-lt"/>
                <a:ea typeface="+mn-ea"/>
                <a:cs typeface="+mn-cs"/>
              </a:rPr>
              <a:t>Trường </a:t>
            </a:r>
            <a:r>
              <a:rPr lang="en-US" sz="1200" i="1" kern="1200" dirty="0" err="1">
                <a:solidFill>
                  <a:schemeClr val="tx1"/>
                </a:solidFill>
                <a:effectLst/>
                <a:latin typeface="+mn-lt"/>
                <a:ea typeface="+mn-ea"/>
                <a:cs typeface="+mn-cs"/>
              </a:rPr>
              <a:t>hợp</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sai</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âm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khoản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a:t>
            </a:r>
            <a:endParaRPr lang="en-US" sz="1100" kern="1200" dirty="0">
              <a:solidFill>
                <a:schemeClr val="tx1"/>
              </a:solidFill>
              <a:effectLst/>
              <a:latin typeface="+mn-lt"/>
              <a:ea typeface="+mn-ea"/>
              <a:cs typeface="+mn-cs"/>
            </a:endParaRPr>
          </a:p>
          <a:p>
            <a:pPr marL="0" lvl="0" indent="0" algn="l" rtl="0">
              <a:spcBef>
                <a:spcPts val="0"/>
              </a:spcBef>
              <a:spcAft>
                <a:spcPts val="0"/>
              </a:spcAft>
              <a:buNone/>
            </a:pPr>
            <a:endParaRPr dirty="0"/>
          </a:p>
        </p:txBody>
      </p:sp>
      <p:sp>
        <p:nvSpPr>
          <p:cNvPr id="108" name="Google Shape;108;p3:notes">
            <a:extLst>
              <a:ext uri="{FF2B5EF4-FFF2-40B4-BE49-F238E27FC236}">
                <a16:creationId xmlns:a16="http://schemas.microsoft.com/office/drawing/2014/main" id="{CF5E786A-D107-EF77-0E2A-C8045E3615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4939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A6F5C1E-16F1-4853-F73E-538E9406817A}"/>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FAC193FD-7364-4041-8CF3-0983B23C656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1" kern="1200" dirty="0">
                <a:solidFill>
                  <a:schemeClr val="tx1"/>
                </a:solidFill>
                <a:effectLst/>
                <a:latin typeface="+mn-lt"/>
                <a:ea typeface="+mn-ea"/>
                <a:cs typeface="+mn-cs"/>
              </a:rPr>
              <a:t>Review Code </a:t>
            </a:r>
            <a:r>
              <a:rPr lang="en-US" sz="1200" b="1" kern="1200" dirty="0" err="1">
                <a:solidFill>
                  <a:schemeClr val="tx1"/>
                </a:solidFill>
                <a:effectLst/>
                <a:latin typeface="+mn-lt"/>
                <a:ea typeface="+mn-ea"/>
                <a:cs typeface="+mn-cs"/>
              </a:rPr>
              <a:t>bằng</a:t>
            </a:r>
            <a:r>
              <a:rPr lang="en-US" sz="1200" b="1" kern="1200" dirty="0">
                <a:solidFill>
                  <a:schemeClr val="tx1"/>
                </a:solidFill>
                <a:effectLst/>
                <a:latin typeface="+mn-lt"/>
                <a:ea typeface="+mn-ea"/>
                <a:cs typeface="+mn-cs"/>
              </a:rPr>
              <a:t> ChatGPT</a:t>
            </a:r>
            <a:endParaRPr lang="en-US" sz="12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Mục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tiêu</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lại</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xem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ưu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chưa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hổng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mật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dễ</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a:t>
            </a:r>
          </a:p>
          <a:p>
            <a:pPr lvl="0"/>
            <a:r>
              <a:rPr lang="en-US" sz="1200" b="1" kern="1200" dirty="0" err="1">
                <a:solidFill>
                  <a:schemeClr val="tx1"/>
                </a:solidFill>
                <a:effectLst/>
                <a:latin typeface="+mn-lt"/>
                <a:ea typeface="+mn-ea"/>
                <a:cs typeface="+mn-cs"/>
              </a:rPr>
              <a:t>Cách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thực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Đóng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trò</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(Senior Developer),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đoạn</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vừa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ChatGPT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giá</a:t>
            </a:r>
            <a:r>
              <a:rPr lang="en-US" sz="1200" kern="1200" dirty="0">
                <a:solidFill>
                  <a:schemeClr val="tx1"/>
                </a:solidFill>
                <a:effectLst/>
                <a:latin typeface="+mn-lt"/>
                <a:ea typeface="+mn-ea"/>
                <a:cs typeface="+mn-cs"/>
              </a:rPr>
              <a:t>. ChatGPT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chưa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do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đoạn</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an </a:t>
            </a:r>
            <a:r>
              <a:rPr lang="en-US" sz="1200" kern="1200" dirty="0" err="1">
                <a:solidFill>
                  <a:schemeClr val="tx1"/>
                </a:solidFill>
                <a:effectLst/>
                <a:latin typeface="+mn-lt"/>
                <a:ea typeface="+mn-ea"/>
                <a:cs typeface="+mn-cs"/>
              </a:rPr>
              <a:t>toàn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hơn</a:t>
            </a:r>
            <a:r>
              <a:rPr lang="en-US" sz="1200" kern="1200" dirty="0">
                <a:solidFill>
                  <a:schemeClr val="tx1"/>
                </a:solidFill>
                <a:effectLst/>
                <a:latin typeface="+mn-lt"/>
                <a:ea typeface="+mn-ea"/>
                <a:cs typeface="+mn-cs"/>
              </a:rPr>
              <a:t>.</a:t>
            </a:r>
          </a:p>
          <a:p>
            <a:pPr marL="0" lvl="0" indent="0" algn="l" rtl="0">
              <a:spcBef>
                <a:spcPts val="0"/>
              </a:spcBef>
              <a:spcAft>
                <a:spcPts val="0"/>
              </a:spcAft>
              <a:buNone/>
            </a:pPr>
            <a:endParaRPr dirty="0"/>
          </a:p>
        </p:txBody>
      </p:sp>
      <p:sp>
        <p:nvSpPr>
          <p:cNvPr id="108" name="Google Shape;108;p3:notes">
            <a:extLst>
              <a:ext uri="{FF2B5EF4-FFF2-40B4-BE49-F238E27FC236}">
                <a16:creationId xmlns:a16="http://schemas.microsoft.com/office/drawing/2014/main" id="{ECCB5E3A-45F4-BFBD-A2A6-9790776155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8496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AF31186-FD90-CAD4-20F0-E3C9A45F9543}"/>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6BA04C8E-2C67-7AB8-10DD-0158AAA0E1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1" kern="1200" dirty="0" err="1">
                <a:solidFill>
                  <a:schemeClr val="tx1"/>
                </a:solidFill>
                <a:effectLst/>
                <a:latin typeface="+mn-lt"/>
                <a:ea typeface="+mn-ea"/>
                <a:cs typeface="+mn-cs"/>
              </a:rPr>
              <a:t>Viết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tài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liệu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kỹ</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thuật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bằng</a:t>
            </a:r>
            <a:r>
              <a:rPr lang="en-US" sz="1200" b="1" kern="1200" dirty="0">
                <a:solidFill>
                  <a:schemeClr val="tx1"/>
                </a:solidFill>
                <a:effectLst/>
                <a:latin typeface="+mn-lt"/>
                <a:ea typeface="+mn-ea"/>
                <a:cs typeface="+mn-cs"/>
              </a:rPr>
              <a:t> ChatGPT</a:t>
            </a:r>
            <a:endParaRPr lang="en-US" sz="12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Mục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tiêu</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hướng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dẫn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đọc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a:t>
            </a:r>
          </a:p>
          <a:p>
            <a:pPr lvl="0"/>
            <a:r>
              <a:rPr lang="en-US" sz="1200" b="1" kern="1200" dirty="0" err="1">
                <a:solidFill>
                  <a:schemeClr val="tx1"/>
                </a:solidFill>
                <a:effectLst/>
                <a:latin typeface="+mn-lt"/>
                <a:ea typeface="+mn-ea"/>
                <a:cs typeface="+mn-cs"/>
              </a:rPr>
              <a:t>Cách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thực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tin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trúc</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ChatGPT </a:t>
            </a:r>
            <a:r>
              <a:rPr lang="en-US" sz="1200" kern="1200" dirty="0" err="1">
                <a:solidFill>
                  <a:schemeClr val="tx1"/>
                </a:solidFill>
                <a:effectLst/>
                <a:latin typeface="+mn-lt"/>
                <a:ea typeface="+mn-ea"/>
                <a:cs typeface="+mn-cs"/>
              </a:rPr>
              <a:t>kèm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câu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Hãy</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viết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tài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liệu</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hướng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dẫn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cài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đặt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và</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sử</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dụng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cho</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dự</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án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này</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AI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file </a:t>
            </a:r>
            <a:r>
              <a:rPr lang="en-US" sz="1200" kern="1200" dirty="0" err="1">
                <a:solidFill>
                  <a:schemeClr val="tx1"/>
                </a:solidFill>
                <a:effectLst/>
                <a:latin typeface="+mn-lt"/>
                <a:ea typeface="+mn-ea"/>
                <a:cs typeface="+mn-cs"/>
              </a:rPr>
              <a:t>tài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(Markdown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Word) </a:t>
            </a:r>
            <a:r>
              <a:rPr lang="en-US" sz="1200" kern="1200" dirty="0" err="1">
                <a:solidFill>
                  <a:schemeClr val="tx1"/>
                </a:solidFill>
                <a:effectLst/>
                <a:latin typeface="+mn-lt"/>
                <a:ea typeface="+mn-ea"/>
                <a:cs typeface="+mn-cs"/>
              </a:rPr>
              <a:t>cực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nghiệp</a:t>
            </a:r>
            <a:r>
              <a:rPr lang="en-US" sz="1200" kern="1200" dirty="0">
                <a:solidFill>
                  <a:schemeClr val="tx1"/>
                </a:solidFill>
                <a:effectLst/>
                <a:latin typeface="+mn-lt"/>
                <a:ea typeface="+mn-ea"/>
                <a:cs typeface="+mn-cs"/>
              </a:rPr>
              <a:t>.</a:t>
            </a:r>
          </a:p>
          <a:p>
            <a:pPr marL="0" lvl="0" indent="0" algn="l" rtl="0">
              <a:spcBef>
                <a:spcPts val="0"/>
              </a:spcBef>
              <a:spcAft>
                <a:spcPts val="0"/>
              </a:spcAft>
              <a:buNone/>
            </a:pPr>
            <a:endParaRPr dirty="0"/>
          </a:p>
        </p:txBody>
      </p:sp>
      <p:sp>
        <p:nvSpPr>
          <p:cNvPr id="108" name="Google Shape;108;p3:notes">
            <a:extLst>
              <a:ext uri="{FF2B5EF4-FFF2-40B4-BE49-F238E27FC236}">
                <a16:creationId xmlns:a16="http://schemas.microsoft.com/office/drawing/2014/main" id="{E14750B1-26F1-DEA5-9209-3C52349309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5233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A0B1A4B-DEDE-9FC1-C041-CD85139234F6}"/>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407745E3-84CC-175D-C30B-21567BFF4AF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1" kern="1200" dirty="0" err="1">
                <a:solidFill>
                  <a:schemeClr val="tx1"/>
                </a:solidFill>
                <a:effectLst/>
                <a:latin typeface="+mn-lt"/>
                <a:ea typeface="+mn-ea"/>
                <a:cs typeface="+mn-cs"/>
              </a:rPr>
              <a:t>Thiết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kế</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sơ</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đồ</a:t>
            </a:r>
            <a:r>
              <a:rPr lang="en-US" sz="1200" b="1" kern="1200" dirty="0">
                <a:solidFill>
                  <a:schemeClr val="tx1"/>
                </a:solidFill>
                <a:effectLst/>
                <a:latin typeface="+mn-lt"/>
                <a:ea typeface="+mn-ea"/>
                <a:cs typeface="+mn-cs"/>
              </a:rPr>
              <a:t> AI-Augmented SDLC</a:t>
            </a:r>
            <a:endParaRPr lang="en-US" sz="12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Mục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tiêu</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đồ</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AI </a:t>
            </a:r>
            <a:r>
              <a:rPr lang="en-US" sz="1200" kern="1200" dirty="0" err="1">
                <a:solidFill>
                  <a:schemeClr val="tx1"/>
                </a:solidFill>
                <a:effectLst/>
                <a:latin typeface="+mn-lt"/>
                <a:ea typeface="+mn-ea"/>
                <a:cs typeface="+mn-cs"/>
              </a:rPr>
              <a:t>tham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vòng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mềm</a:t>
            </a:r>
            <a:r>
              <a:rPr lang="en-US" sz="1200" kern="1200" dirty="0">
                <a:solidFill>
                  <a:schemeClr val="tx1"/>
                </a:solidFill>
                <a:effectLst/>
                <a:latin typeface="+mn-lt"/>
                <a:ea typeface="+mn-ea"/>
                <a:cs typeface="+mn-cs"/>
              </a:rPr>
              <a:t> (SDLC)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nào</a:t>
            </a:r>
            <a:r>
              <a:rPr lang="en-US" sz="1200" kern="1200" dirty="0">
                <a:solidFill>
                  <a:schemeClr val="tx1"/>
                </a:solidFill>
                <a:effectLst/>
                <a:latin typeface="+mn-lt"/>
                <a:ea typeface="+mn-ea"/>
                <a:cs typeface="+mn-cs"/>
              </a:rPr>
              <a:t>.</a:t>
            </a:r>
          </a:p>
          <a:p>
            <a:r>
              <a:rPr lang="en-US" sz="1200" b="1" kern="1200" dirty="0" err="1">
                <a:solidFill>
                  <a:schemeClr val="tx1"/>
                </a:solidFill>
                <a:effectLst/>
                <a:latin typeface="+mn-lt"/>
                <a:ea typeface="+mn-ea"/>
                <a:cs typeface="+mn-cs"/>
              </a:rPr>
              <a:t>Cách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thực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tổng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cụ</a:t>
            </a:r>
            <a:r>
              <a:rPr lang="en-US" sz="1200" kern="1200" dirty="0">
                <a:solidFill>
                  <a:schemeClr val="tx1"/>
                </a:solidFill>
                <a:effectLst/>
                <a:latin typeface="+mn-lt"/>
                <a:ea typeface="+mn-ea"/>
                <a:cs typeface="+mn-cs"/>
              </a:rPr>
              <a:t> AI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1 </a:t>
            </a:r>
            <a:r>
              <a:rPr lang="en-US" sz="1200" kern="1200" dirty="0" err="1">
                <a:solidFill>
                  <a:schemeClr val="tx1"/>
                </a:solidFill>
                <a:effectLst/>
                <a:latin typeface="+mn-lt"/>
                <a:ea typeface="+mn-ea"/>
                <a:cs typeface="+mn-cs"/>
              </a:rPr>
              <a:t>đến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6. Sau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đồ</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Draw.io, Miro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Uizard</a:t>
            </a:r>
            <a:r>
              <a:rPr lang="en-US" sz="1200" kern="1200" dirty="0">
                <a:solidFill>
                  <a:schemeClr val="tx1"/>
                </a:solidFill>
                <a:effectLst/>
                <a:latin typeface="+mn-lt"/>
                <a:ea typeface="+mn-ea"/>
                <a:cs typeface="+mn-cs"/>
              </a:rPr>
              <a:t>/Canva)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khép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đồ</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giúp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nhìn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đoạn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AI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giúp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gì</a:t>
            </a:r>
            <a:r>
              <a:rPr lang="en-US" sz="1200" kern="1200" dirty="0">
                <a:solidFill>
                  <a:schemeClr val="tx1"/>
                </a:solidFill>
                <a:effectLst/>
                <a:latin typeface="+mn-lt"/>
                <a:ea typeface="+mn-ea"/>
                <a:cs typeface="+mn-cs"/>
              </a:rPr>
              <a:t>.</a:t>
            </a:r>
            <a:endParaRPr dirty="0"/>
          </a:p>
        </p:txBody>
      </p:sp>
      <p:sp>
        <p:nvSpPr>
          <p:cNvPr id="108" name="Google Shape;108;p3:notes">
            <a:extLst>
              <a:ext uri="{FF2B5EF4-FFF2-40B4-BE49-F238E27FC236}">
                <a16:creationId xmlns:a16="http://schemas.microsoft.com/office/drawing/2014/main" id="{66ACD219-C4BA-C4D1-76C8-A5627DEC97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2524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C2134C7-4ACB-FDBA-3991-73A13485A36C}"/>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70D91C8B-243F-CBBC-3948-68592B5C722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1" kern="1200" dirty="0" err="1">
                <a:solidFill>
                  <a:schemeClr val="tx1"/>
                </a:solidFill>
                <a:effectLst/>
                <a:latin typeface="+mn-lt"/>
                <a:ea typeface="+mn-ea"/>
                <a:cs typeface="+mn-cs"/>
              </a:rPr>
              <a:t>Thiết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kế</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một</a:t>
            </a:r>
            <a:r>
              <a:rPr lang="en-US" sz="1200" b="1" kern="1200" dirty="0">
                <a:solidFill>
                  <a:schemeClr val="tx1"/>
                </a:solidFill>
                <a:effectLst/>
                <a:latin typeface="+mn-lt"/>
                <a:ea typeface="+mn-ea"/>
                <a:cs typeface="+mn-cs"/>
              </a:rPr>
              <a:t> AI Agent </a:t>
            </a:r>
            <a:r>
              <a:rPr lang="en-US" sz="1200" b="1" kern="1200" dirty="0" err="1">
                <a:solidFill>
                  <a:schemeClr val="tx1"/>
                </a:solidFill>
                <a:effectLst/>
                <a:latin typeface="+mn-lt"/>
                <a:ea typeface="+mn-ea"/>
                <a:cs typeface="+mn-cs"/>
              </a:rPr>
              <a:t>hỗ</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trợ</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một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công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đoạn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Không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lập</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trình</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Mục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tiêu</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AI </a:t>
            </a:r>
            <a:r>
              <a:rPr lang="en-US" sz="1200" kern="1200" dirty="0" err="1">
                <a:solidFill>
                  <a:schemeClr val="tx1"/>
                </a:solidFill>
                <a:effectLst/>
                <a:latin typeface="+mn-lt"/>
                <a:ea typeface="+mn-ea"/>
                <a:cs typeface="+mn-cs"/>
              </a:rPr>
              <a:t>chuyên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biệt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gọi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AI Agent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GPTs)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sẵn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tốt</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duy</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nhất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một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nhiệm</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dòng</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nào</a:t>
            </a:r>
            <a:r>
              <a:rPr lang="en-US" sz="1200" kern="1200" dirty="0">
                <a:solidFill>
                  <a:schemeClr val="tx1"/>
                </a:solidFill>
                <a:effectLst/>
                <a:latin typeface="+mn-lt"/>
                <a:ea typeface="+mn-ea"/>
                <a:cs typeface="+mn-cs"/>
              </a:rPr>
              <a:t>.</a:t>
            </a:r>
          </a:p>
          <a:p>
            <a:pPr lvl="0"/>
            <a:r>
              <a:rPr lang="en-US" sz="1200" b="1" kern="1200" dirty="0" err="1">
                <a:solidFill>
                  <a:schemeClr val="tx1"/>
                </a:solidFill>
                <a:effectLst/>
                <a:latin typeface="+mn-lt"/>
                <a:ea typeface="+mn-ea"/>
                <a:cs typeface="+mn-cs"/>
              </a:rPr>
              <a:t>Cách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thực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Explore GPTs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GPT </a:t>
            </a:r>
            <a:r>
              <a:rPr lang="en-US" sz="1200" kern="1200" dirty="0" err="1">
                <a:solidFill>
                  <a:schemeClr val="tx1"/>
                </a:solidFill>
                <a:effectLst/>
                <a:latin typeface="+mn-lt"/>
                <a:ea typeface="+mn-ea"/>
                <a:cs typeface="+mn-cs"/>
              </a:rPr>
              <a:t>tùy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ChatGPT.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(Prompting)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a:t>
            </a:r>
          </a:p>
          <a:p>
            <a:r>
              <a:rPr lang="en-US" sz="1200" i="1" kern="1200" dirty="0" err="1">
                <a:solidFill>
                  <a:schemeClr val="tx1"/>
                </a:solidFill>
                <a:effectLst/>
                <a:latin typeface="+mn-lt"/>
                <a:ea typeface="+mn-ea"/>
                <a:cs typeface="+mn-cs"/>
              </a:rPr>
              <a:t>Ví</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dụ</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"Agent </a:t>
            </a:r>
            <a:r>
              <a:rPr lang="en-US" sz="1200" b="1" kern="1200" dirty="0" err="1">
                <a:solidFill>
                  <a:schemeClr val="tx1"/>
                </a:solidFill>
                <a:effectLst/>
                <a:latin typeface="+mn-lt"/>
                <a:ea typeface="+mn-ea"/>
                <a:cs typeface="+mn-cs"/>
              </a:rPr>
              <a:t>chuyên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viết</a:t>
            </a:r>
            <a:r>
              <a:rPr lang="en-US" sz="1200" b="1" kern="1200" dirty="0">
                <a:solidFill>
                  <a:schemeClr val="tx1"/>
                </a:solidFill>
                <a:effectLst/>
                <a:latin typeface="+mn-lt"/>
                <a:ea typeface="+mn-ea"/>
                <a:cs typeface="+mn-cs"/>
              </a:rPr>
              <a:t> Test Case"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dẫn</a:t>
            </a:r>
            <a:r>
              <a:rPr lang="en-US" sz="1200" kern="1200" dirty="0">
                <a:solidFill>
                  <a:schemeClr val="tx1"/>
                </a:solidFill>
                <a:effectLst/>
                <a:latin typeface="+mn-lt"/>
                <a:ea typeface="+mn-ea"/>
                <a:cs typeface="+mn-cs"/>
              </a:rPr>
              <a:t> (Instruction) </a:t>
            </a:r>
            <a:r>
              <a:rPr lang="en-US" sz="1200" kern="1200" dirty="0" err="1">
                <a:solidFill>
                  <a:schemeClr val="tx1"/>
                </a:solidFill>
                <a:effectLst/>
                <a:latin typeface="+mn-lt"/>
                <a:ea typeface="+mn-ea"/>
                <a:cs typeface="+mn-cs"/>
              </a:rPr>
              <a:t>quy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Ngươi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là</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chuyên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gia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kiểm</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thử</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Mỗi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khi</a:t>
            </a:r>
            <a:r>
              <a:rPr lang="en-US" sz="1200" i="1" kern="1200" dirty="0">
                <a:solidFill>
                  <a:schemeClr val="tx1"/>
                </a:solidFill>
                <a:effectLst/>
                <a:latin typeface="+mn-lt"/>
                <a:ea typeface="+mn-ea"/>
                <a:cs typeface="+mn-cs"/>
              </a:rPr>
              <a:t> ta </a:t>
            </a:r>
            <a:r>
              <a:rPr lang="en-US" sz="1200" i="1" kern="1200" dirty="0" err="1">
                <a:solidFill>
                  <a:schemeClr val="tx1"/>
                </a:solidFill>
                <a:effectLst/>
                <a:latin typeface="+mn-lt"/>
                <a:ea typeface="+mn-ea"/>
                <a:cs typeface="+mn-cs"/>
              </a:rPr>
              <a:t>đưa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một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đoạn</a:t>
            </a:r>
            <a:r>
              <a:rPr lang="en-US" sz="1200" i="1" kern="1200" dirty="0">
                <a:solidFill>
                  <a:schemeClr val="tx1"/>
                </a:solidFill>
                <a:effectLst/>
                <a:latin typeface="+mn-lt"/>
                <a:ea typeface="+mn-ea"/>
                <a:cs typeface="+mn-cs"/>
              </a:rPr>
              <a:t> code, </a:t>
            </a:r>
            <a:r>
              <a:rPr lang="en-US" sz="1200" i="1" kern="1200" dirty="0" err="1">
                <a:solidFill>
                  <a:schemeClr val="tx1"/>
                </a:solidFill>
                <a:effectLst/>
                <a:latin typeface="+mn-lt"/>
                <a:ea typeface="+mn-ea"/>
                <a:cs typeface="+mn-cs"/>
              </a:rPr>
              <a:t>hãy</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tự</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động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xuất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ra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bảng</a:t>
            </a:r>
            <a:r>
              <a:rPr lang="en-US" sz="1200" i="1" kern="1200" dirty="0">
                <a:solidFill>
                  <a:schemeClr val="tx1"/>
                </a:solidFill>
                <a:effectLst/>
                <a:latin typeface="+mn-lt"/>
                <a:ea typeface="+mn-ea"/>
                <a:cs typeface="+mn-cs"/>
              </a:rPr>
              <a:t> Test Case </a:t>
            </a:r>
            <a:r>
              <a:rPr lang="en-US" sz="1200" i="1" kern="1200" dirty="0" err="1">
                <a:solidFill>
                  <a:schemeClr val="tx1"/>
                </a:solidFill>
                <a:effectLst/>
                <a:latin typeface="+mn-lt"/>
                <a:ea typeface="+mn-ea"/>
                <a:cs typeface="+mn-cs"/>
              </a:rPr>
              <a:t>gồm</a:t>
            </a:r>
            <a:r>
              <a:rPr lang="en-US" sz="1200" i="1" kern="1200" dirty="0">
                <a:solidFill>
                  <a:schemeClr val="tx1"/>
                </a:solidFill>
                <a:effectLst/>
                <a:latin typeface="+mn-lt"/>
                <a:ea typeface="+mn-ea"/>
                <a:cs typeface="+mn-cs"/>
              </a:rPr>
              <a:t> 3 </a:t>
            </a:r>
            <a:r>
              <a:rPr lang="en-US" sz="1200" i="1" kern="1200" dirty="0" err="1">
                <a:solidFill>
                  <a:schemeClr val="tx1"/>
                </a:solidFill>
                <a:effectLst/>
                <a:latin typeface="+mn-lt"/>
                <a:ea typeface="+mn-ea"/>
                <a:cs typeface="+mn-cs"/>
              </a:rPr>
              <a:t>cột</a:t>
            </a:r>
            <a:r>
              <a:rPr lang="en-US" sz="1200" i="1" kern="1200" dirty="0">
                <a:solidFill>
                  <a:schemeClr val="tx1"/>
                </a:solidFill>
                <a:effectLst/>
                <a:latin typeface="+mn-lt"/>
                <a:ea typeface="+mn-ea"/>
                <a:cs typeface="+mn-cs"/>
              </a:rPr>
              <a:t>: ID, Các </a:t>
            </a:r>
            <a:r>
              <a:rPr lang="en-US" sz="1200" i="1" kern="1200" dirty="0" err="1">
                <a:solidFill>
                  <a:schemeClr val="tx1"/>
                </a:solidFill>
                <a:effectLst/>
                <a:latin typeface="+mn-lt"/>
                <a:ea typeface="+mn-ea"/>
                <a:cs typeface="+mn-cs"/>
              </a:rPr>
              <a:t>bước</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thực</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hiện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Kết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quả</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mong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đợi</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ném</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Agent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hảo</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err="1">
                <a:solidFill>
                  <a:schemeClr val="tx1"/>
                </a:solidFill>
                <a:effectLst/>
                <a:latin typeface="+mn-lt"/>
                <a:ea typeface="+mn-ea"/>
                <a:cs typeface="+mn-cs"/>
              </a:rPr>
              <a:t>Tóm</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lại</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Quy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trở</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"Quản </a:t>
            </a:r>
            <a:r>
              <a:rPr lang="en-US" sz="1200" b="1" kern="1200" dirty="0" err="1">
                <a:solidFill>
                  <a:schemeClr val="tx1"/>
                </a:solidFill>
                <a:effectLst/>
                <a:latin typeface="+mn-lt"/>
                <a:ea typeface="+mn-ea"/>
                <a:cs typeface="+mn-cs"/>
              </a:rPr>
              <a:t>lý</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dự</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án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công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nghệ</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giỏi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mọi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thứ</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đến</a:t>
            </a:r>
            <a:r>
              <a:rPr lang="en-US" sz="1200" kern="1200" dirty="0">
                <a:solidFill>
                  <a:schemeClr val="tx1"/>
                </a:solidFill>
                <a:effectLst/>
                <a:latin typeface="+mn-lt"/>
                <a:ea typeface="+mn-ea"/>
                <a:cs typeface="+mn-cs"/>
              </a:rPr>
              <a:t> test, </a:t>
            </a:r>
            <a:r>
              <a:rPr lang="en-US" sz="1200" kern="1200" dirty="0" err="1">
                <a:solidFill>
                  <a:schemeClr val="tx1"/>
                </a:solidFill>
                <a:effectLst/>
                <a:latin typeface="+mn-lt"/>
                <a:ea typeface="+mn-ea"/>
                <a:cs typeface="+mn-cs"/>
              </a:rPr>
              <a:t>mà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học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điều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khiển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và</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phối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hợp</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các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công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cụ</a:t>
            </a:r>
            <a:r>
              <a:rPr lang="en-US" sz="1200" b="1" kern="1200" dirty="0">
                <a:solidFill>
                  <a:schemeClr val="tx1"/>
                </a:solidFill>
                <a:effectLst/>
                <a:latin typeface="+mn-lt"/>
                <a:ea typeface="+mn-ea"/>
                <a:cs typeface="+mn-cs"/>
              </a:rPr>
              <a:t> 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nhất</a:t>
            </a:r>
            <a:r>
              <a:rPr lang="en-US" sz="1200" kern="1200" dirty="0">
                <a:solidFill>
                  <a:schemeClr val="tx1"/>
                </a:solidFill>
                <a:effectLst/>
                <a:latin typeface="+mn-lt"/>
                <a:ea typeface="+mn-ea"/>
                <a:cs typeface="+mn-cs"/>
              </a:rPr>
              <a:t>.</a:t>
            </a:r>
          </a:p>
          <a:p>
            <a:endParaRPr dirty="0"/>
          </a:p>
        </p:txBody>
      </p:sp>
      <p:sp>
        <p:nvSpPr>
          <p:cNvPr id="108" name="Google Shape;108;p3:notes">
            <a:extLst>
              <a:ext uri="{FF2B5EF4-FFF2-40B4-BE49-F238E27FC236}">
                <a16:creationId xmlns:a16="http://schemas.microsoft.com/office/drawing/2014/main" id="{1F9D4567-5E68-097D-F596-0197DC8389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41707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9" name="Rectangle 8"/>
          <p:cNvSpPr/>
          <p:nvPr/>
        </p:nvSpPr>
        <p:spPr>
          <a:xfrm>
            <a:off x="0" y="6499654"/>
            <a:ext cx="12192000" cy="35834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descr="Logo Trường Đại học Công nghệ Thông tin và Truyền thông – [ICTU]">
            <a:extLst>
              <a:ext uri="{FF2B5EF4-FFF2-40B4-BE49-F238E27FC236}">
                <a16:creationId xmlns:a16="http://schemas.microsoft.com/office/drawing/2014/main" id="{435F1C53-4A3C-39C6-424B-C23DE333BE6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662" y="220486"/>
            <a:ext cx="923829" cy="879894"/>
          </a:xfrm>
          <a:prstGeom prst="rect">
            <a:avLst/>
          </a:prstGeom>
          <a:noFill/>
          <a:effectLst>
            <a:outerShdw blurRad="50800" dist="38100" algn="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5903" y="6499654"/>
            <a:ext cx="7669427" cy="646331"/>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latin typeface="Times New Roman" panose="02020603050405020304" pitchFamily="18" charset="0"/>
                <a:cs typeface="Times New Roman" panose="02020603050405020304" pitchFamily="18" charset="0"/>
              </a:rPr>
              <a:t>Thai Nguyen University of Information and Communication Technology</a:t>
            </a:r>
          </a:p>
          <a:p>
            <a:endParaRPr lang="en-US" dirty="0"/>
          </a:p>
        </p:txBody>
      </p:sp>
      <p:cxnSp>
        <p:nvCxnSpPr>
          <p:cNvPr id="21" name="Straight Connector 20"/>
          <p:cNvCxnSpPr/>
          <p:nvPr/>
        </p:nvCxnSpPr>
        <p:spPr>
          <a:xfrm>
            <a:off x="1507524" y="889686"/>
            <a:ext cx="9803027"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67765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709F0A-DFA0-4D73-8C67-B2DA4869C18B}"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2733110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D709F0A-DFA0-4D73-8C67-B2DA4869C18B}"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2162773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D709F0A-DFA0-4D73-8C67-B2DA4869C18B}"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2677750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709F0A-DFA0-4D73-8C67-B2DA4869C18B}"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1585462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709F0A-DFA0-4D73-8C67-B2DA4869C18B}"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2637239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709F0A-DFA0-4D73-8C67-B2DA4869C18B}"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2511805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D709F0A-DFA0-4D73-8C67-B2DA4869C18B}"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3783018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D709F0A-DFA0-4D73-8C67-B2DA4869C18B}"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1789621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709F0A-DFA0-4D73-8C67-B2DA4869C18B}"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186704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709F0A-DFA0-4D73-8C67-B2DA4869C18B}"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570397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709F0A-DFA0-4D73-8C67-B2DA4869C18B}" type="datetimeFigureOut">
              <a:rPr lang="en-US" smtClean="0"/>
              <a:t>8/25/2026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EF7B2C-8297-427A-8852-E099E0616946}" type="slidenum">
              <a:rPr lang="en-US" smtClean="0"/>
              <a:t>‹#›</a:t>
            </a:fld>
            <a:endParaRPr lang="en-US"/>
          </a:p>
        </p:txBody>
      </p:sp>
    </p:spTree>
    <p:extLst>
      <p:ext uri="{BB962C8B-B14F-4D97-AF65-F5344CB8AC3E}">
        <p14:creationId xmlns:p14="http://schemas.microsoft.com/office/powerpoint/2010/main" val="282889734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A99590-6D45-3B0F-2C6A-48DD24CAE2F0}"/>
              </a:ext>
            </a:extLst>
          </p:cNvPr>
          <p:cNvSpPr txBox="1"/>
          <p:nvPr/>
        </p:nvSpPr>
        <p:spPr>
          <a:xfrm>
            <a:off x="0" y="584791"/>
            <a:ext cx="12192000" cy="707886"/>
          </a:xfrm>
          <a:prstGeom prst="rect">
            <a:avLst/>
          </a:prstGeom>
          <a:noFill/>
        </p:spPr>
        <p:txBody>
          <a:bodyPr wrap="square" rtlCol="0">
            <a:spAutoFit/>
          </a:bodyPr>
          <a:lstStyle/>
          <a:p>
            <a:pPr algn="ctr"/>
            <a:r>
              <a:rPr lang="en-US" sz="2000" dirty="0">
                <a:solidFill>
                  <a:srgbClr val="0066FF"/>
                </a:solidFill>
                <a:latin typeface="Times New Roman" panose="02020603050405020304" pitchFamily="18" charset="0"/>
                <a:cs typeface="Times New Roman" panose="02020603050405020304" pitchFamily="18" charset="0"/>
              </a:rPr>
              <a:t>TRƯỜNG ĐẠI HỌC CÔNG NGHỆ THÔNG TIN VÀ TRUYỀN THÔNG</a:t>
            </a:r>
          </a:p>
          <a:p>
            <a:pPr algn="ctr"/>
            <a:r>
              <a:rPr lang="en-US" sz="2000" b="1" dirty="0">
                <a:latin typeface="Times New Roman" panose="02020603050405020304" pitchFamily="18" charset="0"/>
                <a:cs typeface="Times New Roman" panose="02020603050405020304" pitchFamily="18" charset="0"/>
              </a:rPr>
              <a:t>KHOA CÔNG NGHỆ THÔNG TIN</a:t>
            </a:r>
          </a:p>
        </p:txBody>
      </p:sp>
      <p:sp>
        <p:nvSpPr>
          <p:cNvPr id="3" name="TextBox 2">
            <a:extLst>
              <a:ext uri="{FF2B5EF4-FFF2-40B4-BE49-F238E27FC236}">
                <a16:creationId xmlns:a16="http://schemas.microsoft.com/office/drawing/2014/main" id="{BD2E7C2C-B344-59B8-4EF0-287227F69043}"/>
              </a:ext>
            </a:extLst>
          </p:cNvPr>
          <p:cNvSpPr txBox="1"/>
          <p:nvPr/>
        </p:nvSpPr>
        <p:spPr>
          <a:xfrm>
            <a:off x="263410" y="2411992"/>
            <a:ext cx="12192000" cy="1323439"/>
          </a:xfrm>
          <a:prstGeom prst="rect">
            <a:avLst/>
          </a:prstGeom>
          <a:noFill/>
        </p:spPr>
        <p:txBody>
          <a:bodyPr wrap="square" rtlCol="0">
            <a:sp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ỨNG DỤNG TRÍ TUỆ NHÂN TẠO </a:t>
            </a:r>
          </a:p>
          <a:p>
            <a:pPr algn="ctr"/>
            <a:endParaRPr lang="en-US" sz="4000" b="1" dirty="0">
              <a:solidFill>
                <a:schemeClr val="accent6">
                  <a:lumMod val="75000"/>
                </a:schemeClr>
              </a:solidFill>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BBFD57D0-5416-E196-5082-7382278F6AC7}"/>
              </a:ext>
            </a:extLst>
          </p:cNvPr>
          <p:cNvCxnSpPr/>
          <p:nvPr/>
        </p:nvCxnSpPr>
        <p:spPr>
          <a:xfrm>
            <a:off x="4593261" y="1239512"/>
            <a:ext cx="3072809" cy="0"/>
          </a:xfrm>
          <a:prstGeom prst="line">
            <a:avLst/>
          </a:prstGeom>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431321" y="3735431"/>
            <a:ext cx="11760679" cy="2554545"/>
          </a:xfrm>
          <a:prstGeom prst="rect">
            <a:avLst/>
          </a:prstGeom>
          <a:noFill/>
        </p:spPr>
        <p:txBody>
          <a:bodyPr wrap="square" rtlCol="0">
            <a:spAutoFit/>
          </a:bodyPr>
          <a:lstStyle/>
          <a:p>
            <a:pPr algn="ctr"/>
            <a:r>
              <a:rPr lang="en-US" sz="3200" dirty="0">
                <a:latin typeface="Times New Roman" panose="02020603050405020304" pitchFamily="18" charset="0"/>
                <a:cs typeface="Times New Roman" panose="02020603050405020304" pitchFamily="18" charset="0"/>
              </a:rPr>
              <a:t>BÀI 5: TÍCH HỢP AI VÀO VÒNG ĐỜI PHÁT TRIỂN PHẦN MỀM</a:t>
            </a:r>
          </a:p>
          <a:p>
            <a:pPr algn="ctr"/>
            <a:endParaRPr lang="en-US" sz="3200" dirty="0"/>
          </a:p>
          <a:p>
            <a:pPr algn="ctr"/>
            <a:r>
              <a:rPr lang="en-US" sz="3200" b="1" dirty="0"/>
              <a:t>AI-Augmented SDLC</a:t>
            </a:r>
            <a:endParaRPr lang="vi-VN" sz="3200" b="1" dirty="0">
              <a:latin typeface="Times New Roman"/>
              <a:cs typeface="Times New Roman"/>
              <a:sym typeface="Times New Roman"/>
            </a:endParaRPr>
          </a:p>
          <a:p>
            <a:pPr algn="ctr"/>
            <a:r>
              <a:rPr lang="en-US" sz="3200" dirty="0">
                <a:latin typeface="Times New Roman" panose="02020603050405020304" pitchFamily="18" charset="0"/>
                <a:cs typeface="Times New Roman" panose="02020603050405020304" pitchFamily="18" charset="0"/>
              </a:rPr>
              <a:t>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4159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2" name="Picture 1">
            <a:extLst>
              <a:ext uri="{FF2B5EF4-FFF2-40B4-BE49-F238E27FC236}">
                <a16:creationId xmlns:a16="http://schemas.microsoft.com/office/drawing/2014/main" id="{6ADCD5E9-ECB8-4D4D-5D94-8DA2F9DE8D87}"/>
              </a:ext>
            </a:extLst>
          </p:cNvPr>
          <p:cNvPicPr>
            <a:picLocks noChangeAspect="1"/>
          </p:cNvPicPr>
          <p:nvPr/>
        </p:nvPicPr>
        <p:blipFill>
          <a:blip r:embed="rId3"/>
          <a:stretch>
            <a:fillRect/>
          </a:stretch>
        </p:blipFill>
        <p:spPr>
          <a:xfrm>
            <a:off x="1190446" y="1017917"/>
            <a:ext cx="10092906" cy="5175849"/>
          </a:xfrm>
          <a:prstGeom prst="rect">
            <a:avLst/>
          </a:prstGeom>
        </p:spPr>
      </p:pic>
    </p:spTree>
    <p:extLst>
      <p:ext uri="{BB962C8B-B14F-4D97-AF65-F5344CB8AC3E}">
        <p14:creationId xmlns:p14="http://schemas.microsoft.com/office/powerpoint/2010/main" val="3737023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DEA7DCC-D77C-6379-C51E-7838DD0AE88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813EF8C-D0A0-F3E6-2A66-C944CE4E78D7}"/>
              </a:ext>
            </a:extLst>
          </p:cNvPr>
          <p:cNvPicPr>
            <a:picLocks noChangeAspect="1"/>
          </p:cNvPicPr>
          <p:nvPr/>
        </p:nvPicPr>
        <p:blipFill>
          <a:blip r:embed="rId3"/>
          <a:stretch>
            <a:fillRect/>
          </a:stretch>
        </p:blipFill>
        <p:spPr>
          <a:xfrm>
            <a:off x="1725283" y="1084579"/>
            <a:ext cx="9092242" cy="5178197"/>
          </a:xfrm>
          <a:prstGeom prst="rect">
            <a:avLst/>
          </a:prstGeom>
        </p:spPr>
      </p:pic>
    </p:spTree>
    <p:extLst>
      <p:ext uri="{BB962C8B-B14F-4D97-AF65-F5344CB8AC3E}">
        <p14:creationId xmlns:p14="http://schemas.microsoft.com/office/powerpoint/2010/main" val="2778084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45EE68E2-7C81-BE4C-555F-124FD2DEE824}"/>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D0111AA4-A1EB-DD68-0E97-33660E826C7F}"/>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4000" dirty="0" err="1"/>
              <a:t>Bước</a:t>
            </a:r>
            <a:r>
              <a:rPr lang="en-US" sz="4000" dirty="0"/>
              <a:t> 1. </a:t>
            </a:r>
            <a:r>
              <a:rPr lang="en-US" sz="4000" dirty="0" err="1"/>
              <a:t>Phân</a:t>
            </a:r>
            <a:r>
              <a:rPr lang="en-US" sz="4000" dirty="0"/>
              <a:t> </a:t>
            </a:r>
            <a:r>
              <a:rPr lang="en-US" sz="4000" dirty="0" err="1"/>
              <a:t>tích</a:t>
            </a:r>
            <a:r>
              <a:rPr lang="en-US" sz="4000" dirty="0"/>
              <a:t> </a:t>
            </a:r>
            <a:r>
              <a:rPr lang="en-US" sz="4000" dirty="0" err="1"/>
              <a:t>yêu</a:t>
            </a:r>
            <a:r>
              <a:rPr lang="en-US" sz="4000" dirty="0"/>
              <a:t> </a:t>
            </a:r>
            <a:r>
              <a:rPr lang="en-US" sz="4000" dirty="0" err="1"/>
              <a:t>cầu</a:t>
            </a:r>
            <a:endParaRPr lang="vi-VN" sz="3800" b="1" dirty="0">
              <a:latin typeface="Times New Roman"/>
              <a:cs typeface="Times New Roman"/>
              <a:sym typeface="Times New Roman"/>
            </a:endParaRPr>
          </a:p>
        </p:txBody>
      </p:sp>
      <p:pic>
        <p:nvPicPr>
          <p:cNvPr id="5" name="Picture 4">
            <a:extLst>
              <a:ext uri="{FF2B5EF4-FFF2-40B4-BE49-F238E27FC236}">
                <a16:creationId xmlns:a16="http://schemas.microsoft.com/office/drawing/2014/main" id="{9F6E1E9C-9B85-D966-05C9-AA9B6CC49B7E}"/>
              </a:ext>
            </a:extLst>
          </p:cNvPr>
          <p:cNvPicPr>
            <a:picLocks noChangeAspect="1"/>
          </p:cNvPicPr>
          <p:nvPr/>
        </p:nvPicPr>
        <p:blipFill>
          <a:blip r:embed="rId3"/>
          <a:stretch>
            <a:fillRect/>
          </a:stretch>
        </p:blipFill>
        <p:spPr>
          <a:xfrm>
            <a:off x="1219200" y="1025554"/>
            <a:ext cx="9753600" cy="5324475"/>
          </a:xfrm>
          <a:prstGeom prst="rect">
            <a:avLst/>
          </a:prstGeom>
        </p:spPr>
      </p:pic>
    </p:spTree>
    <p:extLst>
      <p:ext uri="{BB962C8B-B14F-4D97-AF65-F5344CB8AC3E}">
        <p14:creationId xmlns:p14="http://schemas.microsoft.com/office/powerpoint/2010/main" val="1147845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20AB4E8-0578-27A3-818F-2890318F36E2}"/>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498485D1-CE52-5EF5-6408-39B288FB0BA1}"/>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4000" dirty="0" err="1"/>
              <a:t>Bước</a:t>
            </a:r>
            <a:r>
              <a:rPr lang="en-US" sz="4000" dirty="0"/>
              <a:t> 2. </a:t>
            </a:r>
            <a:r>
              <a:rPr lang="en-US" sz="4000" dirty="0" err="1"/>
              <a:t>Thiết</a:t>
            </a:r>
            <a:r>
              <a:rPr lang="en-US" sz="4000" dirty="0"/>
              <a:t> </a:t>
            </a:r>
            <a:r>
              <a:rPr lang="en-US" sz="4000" dirty="0" err="1"/>
              <a:t>kế</a:t>
            </a:r>
            <a:r>
              <a:rPr lang="en-US" sz="4000" dirty="0"/>
              <a:t> </a:t>
            </a:r>
            <a:r>
              <a:rPr lang="en-US" sz="4000" dirty="0" err="1"/>
              <a:t>giao</a:t>
            </a:r>
            <a:r>
              <a:rPr lang="en-US" sz="4000" dirty="0"/>
              <a:t> </a:t>
            </a:r>
            <a:r>
              <a:rPr lang="en-US" sz="4000" dirty="0" err="1"/>
              <a:t>diện</a:t>
            </a:r>
            <a:endParaRPr lang="vi-VN" sz="3800" b="1" dirty="0">
              <a:latin typeface="Times New Roman"/>
              <a:cs typeface="Times New Roman"/>
              <a:sym typeface="Times New Roman"/>
            </a:endParaRPr>
          </a:p>
        </p:txBody>
      </p:sp>
      <p:pic>
        <p:nvPicPr>
          <p:cNvPr id="6" name="Picture 5">
            <a:extLst>
              <a:ext uri="{FF2B5EF4-FFF2-40B4-BE49-F238E27FC236}">
                <a16:creationId xmlns:a16="http://schemas.microsoft.com/office/drawing/2014/main" id="{705D0CB0-3B27-442A-64C3-885534643560}"/>
              </a:ext>
            </a:extLst>
          </p:cNvPr>
          <p:cNvPicPr>
            <a:picLocks noChangeAspect="1"/>
          </p:cNvPicPr>
          <p:nvPr/>
        </p:nvPicPr>
        <p:blipFill>
          <a:blip r:embed="rId3"/>
          <a:stretch>
            <a:fillRect/>
          </a:stretch>
        </p:blipFill>
        <p:spPr>
          <a:xfrm>
            <a:off x="1219200" y="1060060"/>
            <a:ext cx="9753600" cy="5324475"/>
          </a:xfrm>
          <a:prstGeom prst="rect">
            <a:avLst/>
          </a:prstGeom>
        </p:spPr>
      </p:pic>
    </p:spTree>
    <p:extLst>
      <p:ext uri="{BB962C8B-B14F-4D97-AF65-F5344CB8AC3E}">
        <p14:creationId xmlns:p14="http://schemas.microsoft.com/office/powerpoint/2010/main" val="2267703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F070B82-3B41-1EAE-6CC8-7293A0CB0660}"/>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140BBC42-F1FD-719A-E039-BEABEB5BA809}"/>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4000" dirty="0" err="1"/>
              <a:t>Bước</a:t>
            </a:r>
            <a:r>
              <a:rPr lang="en-US" sz="4000" dirty="0"/>
              <a:t> 3. Sinh </a:t>
            </a:r>
            <a:r>
              <a:rPr lang="en-US" sz="4000" dirty="0" err="1"/>
              <a:t>mã</a:t>
            </a:r>
            <a:r>
              <a:rPr lang="en-US" sz="4000" dirty="0"/>
              <a:t> </a:t>
            </a:r>
            <a:r>
              <a:rPr lang="en-US" sz="4000" dirty="0" err="1"/>
              <a:t>nguồn</a:t>
            </a:r>
            <a:endParaRPr lang="vi-VN" sz="4000" dirty="0">
              <a:sym typeface="Times New Roman"/>
            </a:endParaRPr>
          </a:p>
        </p:txBody>
      </p:sp>
      <p:pic>
        <p:nvPicPr>
          <p:cNvPr id="3" name="Picture 2">
            <a:extLst>
              <a:ext uri="{FF2B5EF4-FFF2-40B4-BE49-F238E27FC236}">
                <a16:creationId xmlns:a16="http://schemas.microsoft.com/office/drawing/2014/main" id="{6A8E0E5A-F8FC-2A92-F0B8-F9EC1B148EFD}"/>
              </a:ext>
            </a:extLst>
          </p:cNvPr>
          <p:cNvPicPr>
            <a:picLocks noChangeAspect="1"/>
          </p:cNvPicPr>
          <p:nvPr/>
        </p:nvPicPr>
        <p:blipFill>
          <a:blip r:embed="rId3"/>
          <a:stretch>
            <a:fillRect/>
          </a:stretch>
        </p:blipFill>
        <p:spPr>
          <a:xfrm>
            <a:off x="1098430" y="1111819"/>
            <a:ext cx="9753600" cy="5324475"/>
          </a:xfrm>
          <a:prstGeom prst="rect">
            <a:avLst/>
          </a:prstGeom>
        </p:spPr>
      </p:pic>
    </p:spTree>
    <p:extLst>
      <p:ext uri="{BB962C8B-B14F-4D97-AF65-F5344CB8AC3E}">
        <p14:creationId xmlns:p14="http://schemas.microsoft.com/office/powerpoint/2010/main" val="2138622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1D22FA1-EBFD-24AF-D7A2-CDC03B197725}"/>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C4EB8FA7-F77F-FA04-8A72-401935FA211A}"/>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4000" dirty="0" err="1"/>
              <a:t>Bước</a:t>
            </a:r>
            <a:r>
              <a:rPr lang="en-US" sz="4000" dirty="0"/>
              <a:t> 4. Sinh Test Case</a:t>
            </a:r>
            <a:endParaRPr lang="vi-VN" sz="4000" dirty="0">
              <a:sym typeface="Times New Roman"/>
            </a:endParaRPr>
          </a:p>
        </p:txBody>
      </p:sp>
      <p:pic>
        <p:nvPicPr>
          <p:cNvPr id="3" name="Picture 2">
            <a:extLst>
              <a:ext uri="{FF2B5EF4-FFF2-40B4-BE49-F238E27FC236}">
                <a16:creationId xmlns:a16="http://schemas.microsoft.com/office/drawing/2014/main" id="{F7A32110-CEC2-33A4-98D1-978DF944527C}"/>
              </a:ext>
            </a:extLst>
          </p:cNvPr>
          <p:cNvPicPr>
            <a:picLocks noChangeAspect="1"/>
          </p:cNvPicPr>
          <p:nvPr/>
        </p:nvPicPr>
        <p:blipFill>
          <a:blip r:embed="rId3"/>
          <a:stretch>
            <a:fillRect/>
          </a:stretch>
        </p:blipFill>
        <p:spPr>
          <a:xfrm>
            <a:off x="1219200" y="1042806"/>
            <a:ext cx="9753600" cy="5324475"/>
          </a:xfrm>
          <a:prstGeom prst="rect">
            <a:avLst/>
          </a:prstGeom>
        </p:spPr>
      </p:pic>
    </p:spTree>
    <p:extLst>
      <p:ext uri="{BB962C8B-B14F-4D97-AF65-F5344CB8AC3E}">
        <p14:creationId xmlns:p14="http://schemas.microsoft.com/office/powerpoint/2010/main" val="2987264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95B566F-0FB8-F492-8385-268C1638594A}"/>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F629441A-422E-1CCC-590E-6BE71E7AC38A}"/>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4000" dirty="0" err="1"/>
              <a:t>Bước</a:t>
            </a:r>
            <a:r>
              <a:rPr lang="en-US" sz="4000" dirty="0"/>
              <a:t> 5. Review Code</a:t>
            </a:r>
            <a:endParaRPr lang="vi-VN" sz="4000" dirty="0">
              <a:sym typeface="Times New Roman"/>
            </a:endParaRPr>
          </a:p>
        </p:txBody>
      </p:sp>
      <p:pic>
        <p:nvPicPr>
          <p:cNvPr id="4" name="Picture 3">
            <a:extLst>
              <a:ext uri="{FF2B5EF4-FFF2-40B4-BE49-F238E27FC236}">
                <a16:creationId xmlns:a16="http://schemas.microsoft.com/office/drawing/2014/main" id="{FCFE7F90-04E0-04A8-71B2-4813347C3C19}"/>
              </a:ext>
            </a:extLst>
          </p:cNvPr>
          <p:cNvPicPr>
            <a:picLocks noChangeAspect="1"/>
          </p:cNvPicPr>
          <p:nvPr/>
        </p:nvPicPr>
        <p:blipFill>
          <a:blip r:embed="rId3"/>
          <a:stretch>
            <a:fillRect/>
          </a:stretch>
        </p:blipFill>
        <p:spPr>
          <a:xfrm>
            <a:off x="1219200" y="1025555"/>
            <a:ext cx="9753600" cy="5324475"/>
          </a:xfrm>
          <a:prstGeom prst="rect">
            <a:avLst/>
          </a:prstGeom>
        </p:spPr>
      </p:pic>
    </p:spTree>
    <p:extLst>
      <p:ext uri="{BB962C8B-B14F-4D97-AF65-F5344CB8AC3E}">
        <p14:creationId xmlns:p14="http://schemas.microsoft.com/office/powerpoint/2010/main" val="3391564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9AB1CE7-054C-9B6A-9EBF-8F81BF6D8DBC}"/>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FEF7EE0C-A736-79D7-B576-A124FC9BE8B5}"/>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4000" dirty="0" err="1"/>
              <a:t>Bước</a:t>
            </a:r>
            <a:r>
              <a:rPr lang="en-US" sz="4000" dirty="0"/>
              <a:t> 6. </a:t>
            </a:r>
            <a:r>
              <a:rPr lang="en-US" sz="4000" dirty="0" err="1"/>
              <a:t>Viết</a:t>
            </a:r>
            <a:r>
              <a:rPr lang="en-US" sz="4000" dirty="0"/>
              <a:t> </a:t>
            </a:r>
            <a:r>
              <a:rPr lang="en-US" sz="4000" dirty="0" err="1"/>
              <a:t>tài</a:t>
            </a:r>
            <a:r>
              <a:rPr lang="en-US" sz="4000" dirty="0"/>
              <a:t> </a:t>
            </a:r>
            <a:r>
              <a:rPr lang="en-US" sz="4000" dirty="0" err="1"/>
              <a:t>liệu</a:t>
            </a:r>
            <a:r>
              <a:rPr lang="en-US" sz="4000" dirty="0"/>
              <a:t> </a:t>
            </a:r>
            <a:r>
              <a:rPr lang="en-US" sz="4000" dirty="0" err="1"/>
              <a:t>kỹ</a:t>
            </a:r>
            <a:r>
              <a:rPr lang="en-US" sz="4000" dirty="0"/>
              <a:t> </a:t>
            </a:r>
            <a:r>
              <a:rPr lang="en-US" sz="4000" dirty="0" err="1"/>
              <a:t>thuật</a:t>
            </a:r>
            <a:endParaRPr lang="vi-VN" sz="4000" dirty="0">
              <a:sym typeface="Times New Roman"/>
            </a:endParaRPr>
          </a:p>
        </p:txBody>
      </p:sp>
      <p:pic>
        <p:nvPicPr>
          <p:cNvPr id="3" name="Picture 2">
            <a:extLst>
              <a:ext uri="{FF2B5EF4-FFF2-40B4-BE49-F238E27FC236}">
                <a16:creationId xmlns:a16="http://schemas.microsoft.com/office/drawing/2014/main" id="{F29A5C8D-AC2A-AB09-229D-CC117EEDD194}"/>
              </a:ext>
            </a:extLst>
          </p:cNvPr>
          <p:cNvPicPr>
            <a:picLocks noChangeAspect="1"/>
          </p:cNvPicPr>
          <p:nvPr/>
        </p:nvPicPr>
        <p:blipFill>
          <a:blip r:embed="rId3"/>
          <a:stretch>
            <a:fillRect/>
          </a:stretch>
        </p:blipFill>
        <p:spPr>
          <a:xfrm>
            <a:off x="1219200" y="956543"/>
            <a:ext cx="9753600" cy="5324475"/>
          </a:xfrm>
          <a:prstGeom prst="rect">
            <a:avLst/>
          </a:prstGeom>
        </p:spPr>
      </p:pic>
    </p:spTree>
    <p:extLst>
      <p:ext uri="{BB962C8B-B14F-4D97-AF65-F5344CB8AC3E}">
        <p14:creationId xmlns:p14="http://schemas.microsoft.com/office/powerpoint/2010/main" val="1474564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37B06E4-0003-582F-6757-2A7F3FBBDA88}"/>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88AE1C1F-1512-B4FD-E6D6-FA5D2BD1CA54}"/>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4000" dirty="0" err="1"/>
              <a:t>Bước</a:t>
            </a:r>
            <a:r>
              <a:rPr lang="en-US" sz="4000" dirty="0"/>
              <a:t> 7. </a:t>
            </a:r>
            <a:r>
              <a:rPr lang="en-US" sz="4000" dirty="0" err="1"/>
              <a:t>Thiết</a:t>
            </a:r>
            <a:r>
              <a:rPr lang="en-US" sz="4000" dirty="0"/>
              <a:t> </a:t>
            </a:r>
            <a:r>
              <a:rPr lang="en-US" sz="4000" dirty="0" err="1"/>
              <a:t>kế</a:t>
            </a:r>
            <a:r>
              <a:rPr lang="en-US" sz="4000" dirty="0"/>
              <a:t> </a:t>
            </a:r>
            <a:r>
              <a:rPr lang="en-US" sz="4000" dirty="0" err="1"/>
              <a:t>sơ</a:t>
            </a:r>
            <a:r>
              <a:rPr lang="en-US" sz="4000" dirty="0"/>
              <a:t> </a:t>
            </a:r>
            <a:r>
              <a:rPr lang="en-US" sz="4000" dirty="0" err="1"/>
              <a:t>đồ</a:t>
            </a:r>
            <a:r>
              <a:rPr lang="en-US" sz="4000" dirty="0"/>
              <a:t> AI-Augmented SDLC</a:t>
            </a:r>
            <a:endParaRPr lang="vi-VN" sz="4000" dirty="0">
              <a:sym typeface="Times New Roman"/>
            </a:endParaRPr>
          </a:p>
        </p:txBody>
      </p:sp>
      <p:pic>
        <p:nvPicPr>
          <p:cNvPr id="4" name="Picture 3">
            <a:extLst>
              <a:ext uri="{FF2B5EF4-FFF2-40B4-BE49-F238E27FC236}">
                <a16:creationId xmlns:a16="http://schemas.microsoft.com/office/drawing/2014/main" id="{75E7B99F-82A4-A123-2F3B-4765541DBB0C}"/>
              </a:ext>
            </a:extLst>
          </p:cNvPr>
          <p:cNvPicPr>
            <a:picLocks noChangeAspect="1"/>
          </p:cNvPicPr>
          <p:nvPr/>
        </p:nvPicPr>
        <p:blipFill>
          <a:blip r:embed="rId3"/>
          <a:stretch>
            <a:fillRect/>
          </a:stretch>
        </p:blipFill>
        <p:spPr>
          <a:xfrm>
            <a:off x="1401078" y="1111818"/>
            <a:ext cx="9753600" cy="5324475"/>
          </a:xfrm>
          <a:prstGeom prst="rect">
            <a:avLst/>
          </a:prstGeom>
        </p:spPr>
      </p:pic>
    </p:spTree>
    <p:extLst>
      <p:ext uri="{BB962C8B-B14F-4D97-AF65-F5344CB8AC3E}">
        <p14:creationId xmlns:p14="http://schemas.microsoft.com/office/powerpoint/2010/main" val="3538942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05C87B5-687C-80BD-4E26-DAA652CAD021}"/>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63B6C96-86D6-2780-70F9-EA24AA57623A}"/>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4000" dirty="0" err="1"/>
              <a:t>Bước</a:t>
            </a:r>
            <a:r>
              <a:rPr lang="en-US" sz="4000" dirty="0"/>
              <a:t> 8. </a:t>
            </a:r>
            <a:r>
              <a:rPr lang="en-US" sz="4000" dirty="0" err="1"/>
              <a:t>Thiết</a:t>
            </a:r>
            <a:r>
              <a:rPr lang="en-US" sz="4000" dirty="0"/>
              <a:t> </a:t>
            </a:r>
            <a:r>
              <a:rPr lang="en-US" sz="4000" dirty="0" err="1"/>
              <a:t>kế</a:t>
            </a:r>
            <a:r>
              <a:rPr lang="en-US" sz="4000" dirty="0"/>
              <a:t> </a:t>
            </a:r>
            <a:r>
              <a:rPr lang="en-US" sz="4000" dirty="0" err="1"/>
              <a:t>một</a:t>
            </a:r>
            <a:r>
              <a:rPr lang="en-US" sz="4000" dirty="0"/>
              <a:t> AI Agent </a:t>
            </a:r>
            <a:r>
              <a:rPr lang="en-US" sz="4000" dirty="0" err="1"/>
              <a:t>hỗ</a:t>
            </a:r>
            <a:r>
              <a:rPr lang="en-US" sz="4000" dirty="0"/>
              <a:t> </a:t>
            </a:r>
            <a:r>
              <a:rPr lang="en-US" sz="4000" dirty="0" err="1"/>
              <a:t>trợ</a:t>
            </a:r>
            <a:r>
              <a:rPr lang="en-US" sz="4000" dirty="0"/>
              <a:t> </a:t>
            </a:r>
            <a:r>
              <a:rPr lang="en-US" sz="4000" dirty="0" err="1"/>
              <a:t>một</a:t>
            </a:r>
            <a:r>
              <a:rPr lang="en-US" sz="4000" dirty="0"/>
              <a:t> </a:t>
            </a:r>
            <a:r>
              <a:rPr lang="en-US" sz="4000" dirty="0" err="1"/>
              <a:t>công</a:t>
            </a:r>
            <a:r>
              <a:rPr lang="en-US" sz="4000" dirty="0"/>
              <a:t> </a:t>
            </a:r>
            <a:r>
              <a:rPr lang="en-US" sz="4000" dirty="0" err="1"/>
              <a:t>đoạn</a:t>
            </a:r>
            <a:endParaRPr lang="vi-VN" sz="4000" dirty="0">
              <a:sym typeface="Times New Roman"/>
            </a:endParaRPr>
          </a:p>
        </p:txBody>
      </p:sp>
      <p:pic>
        <p:nvPicPr>
          <p:cNvPr id="3" name="Picture 2">
            <a:extLst>
              <a:ext uri="{FF2B5EF4-FFF2-40B4-BE49-F238E27FC236}">
                <a16:creationId xmlns:a16="http://schemas.microsoft.com/office/drawing/2014/main" id="{1CCE2203-C712-3B0B-0FE0-9D1C9BC6A2F4}"/>
              </a:ext>
            </a:extLst>
          </p:cNvPr>
          <p:cNvPicPr>
            <a:picLocks noChangeAspect="1"/>
          </p:cNvPicPr>
          <p:nvPr/>
        </p:nvPicPr>
        <p:blipFill>
          <a:blip r:embed="rId3"/>
          <a:stretch>
            <a:fillRect/>
          </a:stretch>
        </p:blipFill>
        <p:spPr>
          <a:xfrm>
            <a:off x="1219200" y="956543"/>
            <a:ext cx="9753600" cy="5324475"/>
          </a:xfrm>
          <a:prstGeom prst="rect">
            <a:avLst/>
          </a:prstGeom>
        </p:spPr>
      </p:pic>
    </p:spTree>
    <p:extLst>
      <p:ext uri="{BB962C8B-B14F-4D97-AF65-F5344CB8AC3E}">
        <p14:creationId xmlns:p14="http://schemas.microsoft.com/office/powerpoint/2010/main" val="683871153"/>
      </p:ext>
    </p:extLst>
  </p:cSld>
  <p:clrMapOvr>
    <a:masterClrMapping/>
  </p:clrMapOvr>
</p:sld>
</file>

<file path=ppt/theme/theme1.xml><?xml version="1.0" encoding="utf-8"?>
<a:theme xmlns:a="http://schemas.openxmlformats.org/drawingml/2006/main" name="Presentation2">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Presentation2</Template>
  <TotalTime>3871</TotalTime>
  <Words>1127</Words>
  <Application>Microsoft Office PowerPoint</Application>
  <PresentationFormat>Widescreen</PresentationFormat>
  <Paragraphs>46</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Presentation2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Dung Nguyen</cp:lastModifiedBy>
  <cp:revision>689</cp:revision>
  <dcterms:created xsi:type="dcterms:W3CDTF">2023-01-06T06:35:00Z</dcterms:created>
  <dcterms:modified xsi:type="dcterms:W3CDTF">2026-08-25T00:01:41Z</dcterms:modified>
</cp:coreProperties>
</file>