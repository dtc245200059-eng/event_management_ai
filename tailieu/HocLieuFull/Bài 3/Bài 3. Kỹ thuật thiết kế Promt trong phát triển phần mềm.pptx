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2"/>
  </p:notesMasterIdLst>
  <p:sldIdLst>
    <p:sldId id="293" r:id="rId2"/>
    <p:sldId id="297" r:id="rId3"/>
    <p:sldId id="298" r:id="rId4"/>
    <p:sldId id="299" r:id="rId5"/>
    <p:sldId id="300" r:id="rId6"/>
    <p:sldId id="301" r:id="rId7"/>
    <p:sldId id="302" r:id="rId8"/>
    <p:sldId id="303" r:id="rId9"/>
    <p:sldId id="305" r:id="rId10"/>
    <p:sldId id="30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49823" autoAdjust="0"/>
  </p:normalViewPr>
  <p:slideViewPr>
    <p:cSldViewPr snapToGrid="0">
      <p:cViewPr varScale="1">
        <p:scale>
          <a:sx n="56" d="100"/>
          <a:sy n="56" d="100"/>
        </p:scale>
        <p:origin x="271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41BC4-3796-4806-B886-9E39B90FEC3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BD0C0C-DEF9-457C-9DCE-3285BA1239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910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None/>
            </a:pP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Ý tưởng cốt lõi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Prompt không đơn thuần là một câu hỏi mà là một bản đặc tả kỹ thuật (mini specification) giúp AI hiểu chính xác yêu cầu.</a:t>
            </a:r>
          </a:p>
          <a:p>
            <a:pPr algn="just">
              <a:buNone/>
            </a:pP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Một prompt chất lượng gồm 5 thành phần:</a:t>
            </a:r>
          </a:p>
          <a:p>
            <a:endParaRPr lang="en-US" b="1" dirty="0"/>
          </a:p>
          <a:p>
            <a:r>
              <a:rPr lang="vi-VN" b="1" dirty="0"/>
              <a:t>Nguyên tắc</a:t>
            </a:r>
          </a:p>
          <a:p>
            <a:r>
              <a:rPr lang="vi-VN" dirty="0"/>
              <a:t>Prompt càng cụ thể → AI càng trả lời tốt. </a:t>
            </a:r>
          </a:p>
          <a:p>
            <a:r>
              <a:rPr lang="vi-VN" dirty="0"/>
              <a:t>Không phải prompt nào cũng cần đủ 5 thành phần. </a:t>
            </a:r>
          </a:p>
          <a:p>
            <a:r>
              <a:rPr lang="vi-VN" dirty="0"/>
              <a:t>Prompt nên được xây dựng thành </a:t>
            </a:r>
            <a:r>
              <a:rPr lang="vi-VN" b="1" dirty="0"/>
              <a:t>template</a:t>
            </a:r>
            <a:r>
              <a:rPr lang="vi-VN" dirty="0"/>
              <a:t> để tái sử dụng.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7629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8B64023-2F0F-517C-06A9-4AF274DEA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5D496BFE-7FB7-D657-F14A-55C634DD48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A64D747C-0287-2585-F2CF-312AD62B93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6940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6C36A52-AB42-B163-00B9-2CCA45A3C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A46DAC8F-79AE-11F0-3856-8AC21558CD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439DAB69-25C5-8854-2691-B277A7ADCE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1560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057B5F8-188C-0861-35AA-8C9AE7DAD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100D803D-4654-C840-D77D-76397AF640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7D77613B-EEAB-E60B-A6A9-972391023F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7199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37DA503-D4B2-7308-3B32-53838F619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AAD67065-C0BF-0CE3-F8E1-7040BEE829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EEF9B628-F658-2003-0B65-A49D33B258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7817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7C25715-C2FD-40FB-0B5D-2A23C9964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FB6305CE-3B40-08F0-C032-4FD46C4E93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0ADE11DC-2E67-66D8-82B4-9228723CC9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3899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C3A7FCC-134F-5295-F441-102178F4D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DF1AB4C9-9B23-91C7-FA60-72BDA10941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F30C928D-B209-87B0-DA6C-A1DD8C2089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72855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CFD17C3-7611-E3F7-0D6B-061B6CFCB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C5942174-72AF-8BD2-B504-D12ADB2284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90021B8E-81A1-AA49-89B5-C9953F1370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4231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BA9A601-1068-4D51-EA0F-F7198F411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C91CE79E-8C29-6E32-C918-FC696C7424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28053EE2-3312-C400-7735-5729DBCC00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8449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499654"/>
            <a:ext cx="12192000" cy="35834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Logo Trường Đại học Công nghệ Thông tin và Truyền thông – [ICTU]">
            <a:extLst>
              <a:ext uri="{FF2B5EF4-FFF2-40B4-BE49-F238E27FC236}">
                <a16:creationId xmlns:a16="http://schemas.microsoft.com/office/drawing/2014/main" id="{435F1C53-4A3C-39C6-424B-C23DE333B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62" y="220486"/>
            <a:ext cx="923829" cy="87989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5903" y="6499654"/>
            <a:ext cx="7669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Thai Nguyen University of Information and Communication Technology</a:t>
            </a:r>
          </a:p>
          <a:p>
            <a:endParaRPr lang="en-US" dirty="0"/>
          </a:p>
        </p:txBody>
      </p:sp>
      <p:cxnSp>
        <p:nvCxnSpPr>
          <p:cNvPr id="21" name="Straight Connector 20"/>
          <p:cNvCxnSpPr/>
          <p:nvPr/>
        </p:nvCxnSpPr>
        <p:spPr>
          <a:xfrm>
            <a:off x="1507524" y="889686"/>
            <a:ext cx="98030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76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09F0A-DFA0-4D73-8C67-B2DA4869C18B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11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09F0A-DFA0-4D73-8C67-B2DA4869C18B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73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09F0A-DFA0-4D73-8C67-B2DA4869C18B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750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09F0A-DFA0-4D73-8C67-B2DA4869C18B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62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09F0A-DFA0-4D73-8C67-B2DA4869C18B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39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09F0A-DFA0-4D73-8C67-B2DA4869C18B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0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09F0A-DFA0-4D73-8C67-B2DA4869C18B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018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09F0A-DFA0-4D73-8C67-B2DA4869C18B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21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09F0A-DFA0-4D73-8C67-B2DA4869C18B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4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09F0A-DFA0-4D73-8C67-B2DA4869C18B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97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09F0A-DFA0-4D73-8C67-B2DA4869C18B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89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A99590-6D45-3B0F-2C6A-48DD24CAE2F0}"/>
              </a:ext>
            </a:extLst>
          </p:cNvPr>
          <p:cNvSpPr txBox="1"/>
          <p:nvPr/>
        </p:nvSpPr>
        <p:spPr>
          <a:xfrm>
            <a:off x="0" y="58479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THÔNG TIN VÀ TRUYỀN THÔNG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KHOA CÔNG NGHỆ THÔNG TIN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E7C2C-B344-59B8-4EF0-287227F69043}"/>
              </a:ext>
            </a:extLst>
          </p:cNvPr>
          <p:cNvSpPr txBox="1"/>
          <p:nvPr/>
        </p:nvSpPr>
        <p:spPr>
          <a:xfrm>
            <a:off x="263410" y="2411992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TRÍ TUỆ NHÂN TẠO </a:t>
            </a:r>
          </a:p>
          <a:p>
            <a:pPr algn="ctr"/>
            <a:endParaRPr lang="en-US" sz="4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BFD57D0-5416-E196-5082-7382278F6AC7}"/>
              </a:ext>
            </a:extLst>
          </p:cNvPr>
          <p:cNvCxnSpPr/>
          <p:nvPr/>
        </p:nvCxnSpPr>
        <p:spPr>
          <a:xfrm>
            <a:off x="4593261" y="1239512"/>
            <a:ext cx="30728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80829" y="3735431"/>
            <a:ext cx="104976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159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346364" y="18510"/>
            <a:ext cx="11863028" cy="126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3800" b="1" dirty="0" err="1">
                <a:latin typeface="Times New Roman"/>
                <a:cs typeface="Times New Roman"/>
              </a:rPr>
              <a:t>Cấu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trúc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của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một</a:t>
            </a:r>
            <a:r>
              <a:rPr lang="en-US" sz="3800" b="1" dirty="0">
                <a:latin typeface="Times New Roman"/>
                <a:cs typeface="Times New Roman"/>
              </a:rPr>
              <a:t> Prompt </a:t>
            </a:r>
            <a:r>
              <a:rPr lang="en-US" sz="3800" b="1" dirty="0" err="1">
                <a:latin typeface="Times New Roman"/>
                <a:cs typeface="Times New Roman"/>
              </a:rPr>
              <a:t>hiệu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quả</a:t>
            </a:r>
            <a:endParaRPr lang="vi-VN" sz="3800" b="1" dirty="0">
              <a:latin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77B6329-9A8B-7514-0EFF-38C64B97F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554234"/>
              </p:ext>
            </p:extLst>
          </p:nvPr>
        </p:nvGraphicFramePr>
        <p:xfrm>
          <a:off x="1158101" y="1509872"/>
          <a:ext cx="10515600" cy="28346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2214780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613444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Thành phần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Vai trò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683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Instructions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 rõ AI phải làm gì (bắt buộc)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4257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</a:t>
                      </a:r>
                      <a:endParaRPr lang="en-US" sz="2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Cung cấp bối cảnh, vai trò, môi trường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719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Data / Constraints</a:t>
                      </a:r>
                      <a:endParaRPr lang="en-US" sz="2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đầu</a:t>
                      </a: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vào</a:t>
                      </a: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ràng</a:t>
                      </a: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buộc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3581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  <a:endParaRPr lang="en-US" sz="2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Ví dụ đầu vào/đầu ra để AI học mẫu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619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Format</a:t>
                      </a:r>
                      <a:endParaRPr lang="en-US" sz="2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Quy </a:t>
                      </a:r>
                      <a:r>
                        <a:rPr lang="en-US" sz="2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dạng</a:t>
                      </a: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quả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72812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E9796C8-D2FC-F56C-86C6-EF2B6BA5B5B8}"/>
              </a:ext>
            </a:extLst>
          </p:cNvPr>
          <p:cNvSpPr txBox="1"/>
          <p:nvPr/>
        </p:nvSpPr>
        <p:spPr>
          <a:xfrm>
            <a:off x="1161690" y="4567550"/>
            <a:ext cx="986861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vi-VN" sz="2500" b="1" dirty="0">
                <a:latin typeface="+mj-lt"/>
              </a:rPr>
              <a:t>Nguyên tắc</a:t>
            </a:r>
          </a:p>
          <a:p>
            <a:pPr algn="just"/>
            <a:r>
              <a:rPr lang="vi-VN" sz="2500" dirty="0">
                <a:latin typeface="+mj-lt"/>
              </a:rPr>
              <a:t>Prompt càng cụ thể → AI càng trả lời tốt. </a:t>
            </a:r>
          </a:p>
          <a:p>
            <a:pPr algn="just"/>
            <a:r>
              <a:rPr lang="vi-VN" sz="2500" dirty="0">
                <a:latin typeface="+mj-lt"/>
              </a:rPr>
              <a:t>Không phải prompt nào cũng cần đủ 5 thành phần. </a:t>
            </a:r>
          </a:p>
          <a:p>
            <a:pPr algn="just"/>
            <a:r>
              <a:rPr lang="vi-VN" sz="2500" dirty="0">
                <a:latin typeface="+mj-lt"/>
              </a:rPr>
              <a:t>Prompt nên được xây dựng thành </a:t>
            </a:r>
            <a:r>
              <a:rPr lang="vi-VN" sz="2500" b="1" dirty="0">
                <a:latin typeface="+mj-lt"/>
              </a:rPr>
              <a:t>template</a:t>
            </a:r>
            <a:r>
              <a:rPr lang="vi-VN" sz="2500" dirty="0">
                <a:latin typeface="+mj-lt"/>
              </a:rPr>
              <a:t> để tái sử dụng.</a:t>
            </a:r>
          </a:p>
        </p:txBody>
      </p:sp>
    </p:spTree>
    <p:extLst>
      <p:ext uri="{BB962C8B-B14F-4D97-AF65-F5344CB8AC3E}">
        <p14:creationId xmlns:p14="http://schemas.microsoft.com/office/powerpoint/2010/main" val="3737023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CBEDEAE-DCF7-609C-E45D-3E43A7B60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E38A4AA0-B885-3A15-9710-F3FA388FBE39}"/>
              </a:ext>
            </a:extLst>
          </p:cNvPr>
          <p:cNvSpPr/>
          <p:nvPr/>
        </p:nvSpPr>
        <p:spPr>
          <a:xfrm>
            <a:off x="346364" y="18510"/>
            <a:ext cx="11863028" cy="126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3800" b="1" dirty="0">
                <a:latin typeface="Times New Roman"/>
                <a:cs typeface="Times New Roman"/>
              </a:rPr>
              <a:t>Các </a:t>
            </a:r>
            <a:r>
              <a:rPr lang="en-US" sz="3800" b="1" dirty="0" err="1">
                <a:latin typeface="Times New Roman"/>
                <a:cs typeface="Times New Roman"/>
              </a:rPr>
              <a:t>kỹ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thuật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thiết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kế</a:t>
            </a:r>
            <a:r>
              <a:rPr lang="en-US" sz="3800" b="1" dirty="0">
                <a:latin typeface="Times New Roman"/>
                <a:cs typeface="Times New Roman"/>
              </a:rPr>
              <a:t> Prompt</a:t>
            </a:r>
            <a:endParaRPr lang="vi-VN" sz="3800" b="1" dirty="0"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D9AC0F-A4F9-4118-31AD-7E1F38CD638A}"/>
              </a:ext>
            </a:extLst>
          </p:cNvPr>
          <p:cNvSpPr txBox="1"/>
          <p:nvPr/>
        </p:nvSpPr>
        <p:spPr>
          <a:xfrm>
            <a:off x="1345721" y="1812849"/>
            <a:ext cx="3364302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vi-VN" sz="2500" b="1" dirty="0">
                <a:latin typeface="Times New Roman (Headings)"/>
              </a:rPr>
              <a:t>(1) Zero-shot</a:t>
            </a:r>
          </a:p>
          <a:p>
            <a:pPr>
              <a:buNone/>
            </a:pPr>
            <a:r>
              <a:rPr lang="vi-VN" sz="2500" dirty="0">
                <a:latin typeface="Times New Roman (Headings)"/>
              </a:rPr>
              <a:t>Không cung cấp ví dụ.</a:t>
            </a:r>
          </a:p>
          <a:p>
            <a:pPr>
              <a:buNone/>
            </a:pPr>
            <a:r>
              <a:rPr lang="vi-VN" sz="2500" dirty="0">
                <a:latin typeface="Times New Roman (Headings)"/>
              </a:rPr>
              <a:t>Phù hợp: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 (Headings)"/>
              </a:rPr>
              <a:t> C</a:t>
            </a:r>
            <a:r>
              <a:rPr lang="vi-VN" sz="2500" dirty="0">
                <a:latin typeface="Times New Roman (Headings)"/>
              </a:rPr>
              <a:t>âu hỏi đơn giản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 (Headings)"/>
              </a:rPr>
              <a:t> S</a:t>
            </a:r>
            <a:r>
              <a:rPr lang="vi-VN" sz="2500" dirty="0">
                <a:latin typeface="Times New Roman (Headings)"/>
              </a:rPr>
              <a:t>inh code cơ bản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 (Headings)"/>
              </a:rPr>
              <a:t> H</a:t>
            </a:r>
            <a:r>
              <a:rPr lang="vi-VN" sz="2500" dirty="0">
                <a:latin typeface="Times New Roman (Headings)"/>
              </a:rPr>
              <a:t>ỏi kiến thức </a:t>
            </a:r>
          </a:p>
          <a:p>
            <a:pPr>
              <a:buNone/>
            </a:pPr>
            <a:r>
              <a:rPr lang="vi-VN" sz="2500" dirty="0">
                <a:latin typeface="Times New Roman (Headings)"/>
              </a:rPr>
              <a:t>Ưu điểm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 (Headings)"/>
              </a:rPr>
              <a:t> N</a:t>
            </a:r>
            <a:r>
              <a:rPr lang="vi-VN" sz="2500" dirty="0">
                <a:latin typeface="Times New Roman (Headings)"/>
              </a:rPr>
              <a:t>hanh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 (Headings)"/>
              </a:rPr>
              <a:t> </a:t>
            </a:r>
            <a:r>
              <a:rPr lang="vi-VN" sz="2500" dirty="0">
                <a:latin typeface="Times New Roman (Headings)"/>
              </a:rPr>
              <a:t>ít token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B31067-7356-392C-B95A-A2CD081977B8}"/>
              </a:ext>
            </a:extLst>
          </p:cNvPr>
          <p:cNvSpPr txBox="1"/>
          <p:nvPr/>
        </p:nvSpPr>
        <p:spPr>
          <a:xfrm>
            <a:off x="5762446" y="1779645"/>
            <a:ext cx="4710022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vi-VN" sz="2500" b="1" dirty="0">
                <a:latin typeface="Times New Roman (Headings)"/>
              </a:rPr>
              <a:t>(2) Few-shot</a:t>
            </a:r>
          </a:p>
          <a:p>
            <a:pPr>
              <a:buNone/>
            </a:pPr>
            <a:r>
              <a:rPr lang="vi-VN" sz="2500" dirty="0">
                <a:latin typeface="Times New Roman (Headings)"/>
              </a:rPr>
              <a:t>Đưa 2–5 ví dụ mẫu.</a:t>
            </a:r>
          </a:p>
          <a:p>
            <a:pPr>
              <a:buNone/>
            </a:pPr>
            <a:r>
              <a:rPr lang="vi-VN" sz="2500" dirty="0">
                <a:latin typeface="Times New Roman (Headings)"/>
              </a:rPr>
              <a:t>Dùng khi: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 (Headings)"/>
              </a:rPr>
              <a:t> C</a:t>
            </a:r>
            <a:r>
              <a:rPr lang="vi-VN" sz="2500" dirty="0">
                <a:latin typeface="Times New Roman (Headings)"/>
              </a:rPr>
              <a:t>ần AI học phong cách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 (Headings)"/>
              </a:rPr>
              <a:t> C</a:t>
            </a:r>
            <a:r>
              <a:rPr lang="vi-VN" sz="2500" dirty="0">
                <a:latin typeface="Times New Roman (Headings)"/>
              </a:rPr>
              <a:t>ần output đúng định dạng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 (Headings)"/>
              </a:rPr>
              <a:t> C</a:t>
            </a:r>
            <a:r>
              <a:rPr lang="vi-VN" sz="2500" dirty="0">
                <a:latin typeface="Times New Roman (Headings)"/>
              </a:rPr>
              <a:t>ần xử lý edge case</a:t>
            </a:r>
          </a:p>
        </p:txBody>
      </p:sp>
    </p:spTree>
    <p:extLst>
      <p:ext uri="{BB962C8B-B14F-4D97-AF65-F5344CB8AC3E}">
        <p14:creationId xmlns:p14="http://schemas.microsoft.com/office/powerpoint/2010/main" val="201516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2097D1B-E5FA-E373-840E-B916EC765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4C96E631-C8D0-8D3A-8F04-0105572EC8EB}"/>
              </a:ext>
            </a:extLst>
          </p:cNvPr>
          <p:cNvSpPr/>
          <p:nvPr/>
        </p:nvSpPr>
        <p:spPr>
          <a:xfrm>
            <a:off x="346364" y="18510"/>
            <a:ext cx="11863028" cy="126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3800" b="1" dirty="0">
                <a:latin typeface="Times New Roman"/>
                <a:cs typeface="Times New Roman"/>
              </a:rPr>
              <a:t>Các </a:t>
            </a:r>
            <a:r>
              <a:rPr lang="en-US" sz="3800" b="1" dirty="0" err="1">
                <a:latin typeface="Times New Roman"/>
                <a:cs typeface="Times New Roman"/>
              </a:rPr>
              <a:t>kỹ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thuật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thiết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kế</a:t>
            </a:r>
            <a:r>
              <a:rPr lang="en-US" sz="3800" b="1" dirty="0">
                <a:latin typeface="Times New Roman"/>
                <a:cs typeface="Times New Roman"/>
              </a:rPr>
              <a:t> Prompt</a:t>
            </a:r>
            <a:endParaRPr lang="vi-VN" sz="3800" b="1" dirty="0"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83ED0B-39B9-0B5F-6CB6-272B96353D57}"/>
              </a:ext>
            </a:extLst>
          </p:cNvPr>
          <p:cNvSpPr txBox="1"/>
          <p:nvPr/>
        </p:nvSpPr>
        <p:spPr>
          <a:xfrm>
            <a:off x="759125" y="1605815"/>
            <a:ext cx="634904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vi-VN" sz="2500" b="1" dirty="0">
                <a:latin typeface="Times New Roman (Headings)"/>
              </a:rPr>
              <a:t>(3) Chain of Thought (CoT)</a:t>
            </a:r>
          </a:p>
          <a:p>
            <a:pPr>
              <a:buNone/>
            </a:pPr>
            <a:r>
              <a:rPr lang="vi-VN" sz="2500" dirty="0">
                <a:latin typeface="Times New Roman (Headings)"/>
              </a:rPr>
              <a:t>Yêu cầu AI suy nghĩ từng bước.</a:t>
            </a:r>
          </a:p>
          <a:p>
            <a:pPr>
              <a:buNone/>
            </a:pPr>
            <a:r>
              <a:rPr lang="vi-VN" sz="2500" dirty="0">
                <a:latin typeface="Times New Roman (Headings)"/>
              </a:rPr>
              <a:t>Ví dụ:</a:t>
            </a:r>
            <a:r>
              <a:rPr lang="en-US" sz="2500" dirty="0">
                <a:latin typeface="Times New Roman (Headings)"/>
              </a:rPr>
              <a:t> </a:t>
            </a:r>
            <a:r>
              <a:rPr lang="vi-VN" sz="2500" dirty="0">
                <a:latin typeface="Times New Roman (Headings)"/>
              </a:rPr>
              <a:t>Hãy suy nghĩ từng bước trước khi trả lời.</a:t>
            </a:r>
          </a:p>
          <a:p>
            <a:pPr>
              <a:buNone/>
            </a:pPr>
            <a:r>
              <a:rPr lang="vi-VN" sz="2500" dirty="0">
                <a:latin typeface="Times New Roman (Headings)"/>
              </a:rPr>
              <a:t>Dùng cho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 (Headings)"/>
              </a:rPr>
              <a:t> T</a:t>
            </a:r>
            <a:r>
              <a:rPr lang="vi-VN" sz="2500" dirty="0">
                <a:latin typeface="Times New Roman (Headings)"/>
              </a:rPr>
              <a:t>hiết kế thuật toán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 (Headings)"/>
              </a:rPr>
              <a:t> D</a:t>
            </a:r>
            <a:r>
              <a:rPr lang="vi-VN" sz="2500" dirty="0">
                <a:latin typeface="Times New Roman (Headings)"/>
              </a:rPr>
              <a:t>ebugging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 (Headings)"/>
              </a:rPr>
              <a:t> B</a:t>
            </a:r>
            <a:r>
              <a:rPr lang="vi-VN" sz="2500" dirty="0">
                <a:latin typeface="Times New Roman (Headings)"/>
              </a:rPr>
              <a:t>ài toán logic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 (Headings)"/>
              </a:rPr>
              <a:t> S</a:t>
            </a:r>
            <a:r>
              <a:rPr lang="vi-VN" sz="2500" dirty="0">
                <a:latin typeface="Times New Roman (Headings)"/>
              </a:rPr>
              <a:t>uy luận nhiều bước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0B1421-04BD-3BFA-09CC-9B0F42F2636E}"/>
              </a:ext>
            </a:extLst>
          </p:cNvPr>
          <p:cNvSpPr txBox="1"/>
          <p:nvPr/>
        </p:nvSpPr>
        <p:spPr>
          <a:xfrm>
            <a:off x="7424467" y="1605815"/>
            <a:ext cx="400840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vi-VN" sz="2500" b="1" dirty="0">
                <a:latin typeface="Times New Roman (Headings)"/>
              </a:rPr>
              <a:t>(4) Self-Consistency</a:t>
            </a:r>
          </a:p>
          <a:p>
            <a:pPr>
              <a:buNone/>
            </a:pPr>
            <a:r>
              <a:rPr lang="vi-VN" sz="2500" dirty="0">
                <a:latin typeface="Times New Roman (Headings)"/>
              </a:rPr>
              <a:t>Cho AI suy luận nhiều lần rồi chọn kết quả xuất hiện nhiều nhất.</a:t>
            </a:r>
          </a:p>
          <a:p>
            <a:pPr>
              <a:buNone/>
            </a:pPr>
            <a:r>
              <a:rPr lang="vi-VN" sz="2500" dirty="0">
                <a:latin typeface="Times New Roman (Headings)"/>
              </a:rPr>
              <a:t>Ưu điểm</a:t>
            </a:r>
            <a:r>
              <a:rPr lang="en-US" sz="2500" dirty="0">
                <a:latin typeface="Times New Roman (Headings)"/>
              </a:rPr>
              <a:t>: T</a:t>
            </a:r>
            <a:r>
              <a:rPr lang="vi-VN" sz="2500" dirty="0">
                <a:latin typeface="Times New Roman (Headings)"/>
              </a:rPr>
              <a:t>ăng độ chính xác </a:t>
            </a:r>
          </a:p>
          <a:p>
            <a:pPr>
              <a:buNone/>
            </a:pPr>
            <a:r>
              <a:rPr lang="vi-VN" sz="2500" dirty="0">
                <a:latin typeface="Times New Roman (Headings)"/>
              </a:rPr>
              <a:t>Nhược điểm</a:t>
            </a:r>
            <a:r>
              <a:rPr lang="en-US" sz="2500" dirty="0">
                <a:latin typeface="Times New Roman (Headings)"/>
              </a:rPr>
              <a:t>: T</a:t>
            </a:r>
            <a:r>
              <a:rPr lang="vi-VN" sz="2500" dirty="0">
                <a:latin typeface="Times New Roman (Headings)"/>
              </a:rPr>
              <a:t>ốn token </a:t>
            </a:r>
          </a:p>
        </p:txBody>
      </p:sp>
    </p:spTree>
    <p:extLst>
      <p:ext uri="{BB962C8B-B14F-4D97-AF65-F5344CB8AC3E}">
        <p14:creationId xmlns:p14="http://schemas.microsoft.com/office/powerpoint/2010/main" val="3956110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CB7F01C-1291-11D6-489D-6BB72EEBF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0568D93D-9A05-3591-41FA-B93E639D4ABD}"/>
              </a:ext>
            </a:extLst>
          </p:cNvPr>
          <p:cNvSpPr/>
          <p:nvPr/>
        </p:nvSpPr>
        <p:spPr>
          <a:xfrm>
            <a:off x="346364" y="18510"/>
            <a:ext cx="11863028" cy="126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3800" b="1" dirty="0">
                <a:latin typeface="Times New Roman"/>
                <a:cs typeface="Times New Roman"/>
              </a:rPr>
              <a:t>Các </a:t>
            </a:r>
            <a:r>
              <a:rPr lang="en-US" sz="3800" b="1" dirty="0" err="1">
                <a:latin typeface="Times New Roman"/>
                <a:cs typeface="Times New Roman"/>
              </a:rPr>
              <a:t>kỹ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thuật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thiết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kế</a:t>
            </a:r>
            <a:r>
              <a:rPr lang="en-US" sz="3800" b="1" dirty="0">
                <a:latin typeface="Times New Roman"/>
                <a:cs typeface="Times New Roman"/>
              </a:rPr>
              <a:t> Prompt</a:t>
            </a:r>
            <a:endParaRPr lang="vi-VN" sz="3800" b="1" dirty="0"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A3F9DF-37BF-3041-C5FB-C2D57DF2023E}"/>
              </a:ext>
            </a:extLst>
          </p:cNvPr>
          <p:cNvSpPr txBox="1"/>
          <p:nvPr/>
        </p:nvSpPr>
        <p:spPr>
          <a:xfrm>
            <a:off x="1483743" y="1830578"/>
            <a:ext cx="355408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500" b="1" dirty="0">
                <a:latin typeface="Times New Roman (Headings)"/>
              </a:rPr>
              <a:t>(5) </a:t>
            </a:r>
            <a:r>
              <a:rPr lang="en-US" sz="2500" b="1" dirty="0" err="1">
                <a:latin typeface="Times New Roman (Headings)"/>
              </a:rPr>
              <a:t>ReAct</a:t>
            </a:r>
            <a:endParaRPr lang="en-US" sz="2500" b="1" dirty="0">
              <a:latin typeface="Times New Roman (Headings)"/>
            </a:endParaRPr>
          </a:p>
          <a:p>
            <a:pPr>
              <a:buNone/>
            </a:pPr>
            <a:r>
              <a:rPr lang="en-US" sz="2500" dirty="0">
                <a:latin typeface="Times New Roman (Headings)"/>
              </a:rPr>
              <a:t>Reasoning + Acting</a:t>
            </a:r>
          </a:p>
          <a:p>
            <a:pPr>
              <a:buNone/>
            </a:pPr>
            <a:r>
              <a:rPr lang="en-US" sz="2500" dirty="0">
                <a:latin typeface="Times New Roman (Headings)"/>
              </a:rPr>
              <a:t>AI </a:t>
            </a:r>
            <a:r>
              <a:rPr lang="en-US" sz="2500" dirty="0" err="1">
                <a:latin typeface="Times New Roman (Headings)"/>
              </a:rPr>
              <a:t>vừa</a:t>
            </a:r>
            <a:r>
              <a:rPr lang="en-US" sz="2500" dirty="0">
                <a:latin typeface="Times New Roman (Headings)"/>
              </a:rPr>
              <a:t> </a:t>
            </a:r>
            <a:r>
              <a:rPr lang="en-US" sz="2500" dirty="0" err="1">
                <a:latin typeface="Times New Roman (Headings)"/>
              </a:rPr>
              <a:t>suy</a:t>
            </a:r>
            <a:r>
              <a:rPr lang="en-US" sz="2500" dirty="0">
                <a:latin typeface="Times New Roman (Headings)"/>
              </a:rPr>
              <a:t> </a:t>
            </a:r>
            <a:r>
              <a:rPr lang="en-US" sz="2500" dirty="0" err="1">
                <a:latin typeface="Times New Roman (Headings)"/>
              </a:rPr>
              <a:t>luận</a:t>
            </a:r>
            <a:r>
              <a:rPr lang="en-US" sz="2500" dirty="0">
                <a:latin typeface="Times New Roman (Headings)"/>
              </a:rPr>
              <a:t> </a:t>
            </a:r>
            <a:r>
              <a:rPr lang="en-US" sz="2500" dirty="0" err="1">
                <a:latin typeface="Times New Roman (Headings)"/>
              </a:rPr>
              <a:t>vừa</a:t>
            </a:r>
            <a:r>
              <a:rPr lang="en-US" sz="2500" dirty="0">
                <a:latin typeface="Times New Roman (Headings)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 (Headings)"/>
              </a:rPr>
              <a:t> </a:t>
            </a:r>
            <a:r>
              <a:rPr lang="en-US" sz="2500" dirty="0" err="1">
                <a:latin typeface="Times New Roman (Headings)"/>
              </a:rPr>
              <a:t>Gọi</a:t>
            </a:r>
            <a:r>
              <a:rPr lang="en-US" sz="2500" dirty="0">
                <a:latin typeface="Times New Roman (Headings)"/>
              </a:rPr>
              <a:t> API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 (Headings)"/>
              </a:rPr>
              <a:t> </a:t>
            </a:r>
            <a:r>
              <a:rPr lang="en-US" sz="2500" dirty="0" err="1">
                <a:latin typeface="Times New Roman (Headings)"/>
              </a:rPr>
              <a:t>Chạy</a:t>
            </a:r>
            <a:r>
              <a:rPr lang="en-US" sz="2500" dirty="0">
                <a:latin typeface="Times New Roman (Headings)"/>
              </a:rPr>
              <a:t> code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 (Headings)"/>
              </a:rPr>
              <a:t> </a:t>
            </a:r>
            <a:r>
              <a:rPr lang="en-US" sz="2500" dirty="0" err="1">
                <a:latin typeface="Times New Roman (Headings)"/>
              </a:rPr>
              <a:t>Truy</a:t>
            </a:r>
            <a:r>
              <a:rPr lang="en-US" sz="2500" dirty="0">
                <a:latin typeface="Times New Roman (Headings)"/>
              </a:rPr>
              <a:t> </a:t>
            </a:r>
            <a:r>
              <a:rPr lang="en-US" sz="2500" dirty="0" err="1">
                <a:latin typeface="Times New Roman (Headings)"/>
              </a:rPr>
              <a:t>vấn</a:t>
            </a:r>
            <a:r>
              <a:rPr lang="en-US" sz="2500" dirty="0">
                <a:latin typeface="Times New Roman (Headings)"/>
              </a:rPr>
              <a:t> database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 (Headings)"/>
              </a:rPr>
              <a:t> </a:t>
            </a:r>
            <a:r>
              <a:rPr lang="en-US" sz="2500" dirty="0" err="1">
                <a:latin typeface="Times New Roman (Headings)"/>
              </a:rPr>
              <a:t>Tìm</a:t>
            </a:r>
            <a:r>
              <a:rPr lang="en-US" sz="2500" dirty="0">
                <a:latin typeface="Times New Roman (Headings)"/>
              </a:rPr>
              <a:t> </a:t>
            </a:r>
            <a:r>
              <a:rPr lang="en-US" sz="2500" dirty="0" err="1">
                <a:latin typeface="Times New Roman (Headings)"/>
              </a:rPr>
              <a:t>kiếm</a:t>
            </a:r>
            <a:r>
              <a:rPr lang="en-US" sz="2500" dirty="0">
                <a:latin typeface="Times New Roman (Headings)"/>
              </a:rPr>
              <a:t> </a:t>
            </a:r>
            <a:r>
              <a:rPr lang="en-US" sz="2500" dirty="0" err="1">
                <a:latin typeface="Times New Roman (Headings)"/>
              </a:rPr>
              <a:t>thông</a:t>
            </a:r>
            <a:r>
              <a:rPr lang="en-US" sz="2500" dirty="0">
                <a:latin typeface="Times New Roman (Headings)"/>
              </a:rPr>
              <a:t> tin </a:t>
            </a:r>
          </a:p>
          <a:p>
            <a:pPr>
              <a:buNone/>
            </a:pPr>
            <a:r>
              <a:rPr lang="en-US" sz="2500" dirty="0" err="1">
                <a:latin typeface="Times New Roman (Headings)"/>
              </a:rPr>
              <a:t>Phù</a:t>
            </a:r>
            <a:r>
              <a:rPr lang="en-US" sz="2500" dirty="0">
                <a:latin typeface="Times New Roman (Headings)"/>
              </a:rPr>
              <a:t> </a:t>
            </a:r>
            <a:r>
              <a:rPr lang="en-US" sz="2500" dirty="0" err="1">
                <a:latin typeface="Times New Roman (Headings)"/>
              </a:rPr>
              <a:t>hợp</a:t>
            </a:r>
            <a:r>
              <a:rPr lang="en-US" sz="2500" dirty="0">
                <a:latin typeface="Times New Roman (Headings)"/>
              </a:rPr>
              <a:t> </a:t>
            </a:r>
            <a:r>
              <a:rPr lang="en-US" sz="2500" dirty="0" err="1">
                <a:latin typeface="Times New Roman (Headings)"/>
              </a:rPr>
              <a:t>với</a:t>
            </a:r>
            <a:r>
              <a:rPr lang="en-US" sz="2500" dirty="0">
                <a:latin typeface="Times New Roman (Headings)"/>
              </a:rPr>
              <a:t> AI Agent.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8713B-DC2F-D0EB-C9FD-C93953B64EB2}"/>
              </a:ext>
            </a:extLst>
          </p:cNvPr>
          <p:cNvSpPr txBox="1"/>
          <p:nvPr/>
        </p:nvSpPr>
        <p:spPr>
          <a:xfrm>
            <a:off x="5486400" y="1830578"/>
            <a:ext cx="6107502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vi-VN" sz="2500" b="1" dirty="0">
                <a:latin typeface="Times New Roman (Headings)"/>
              </a:rPr>
              <a:t>(6) RAG</a:t>
            </a:r>
          </a:p>
          <a:p>
            <a:pPr>
              <a:buNone/>
            </a:pPr>
            <a:r>
              <a:rPr lang="vi-VN" sz="2500" dirty="0">
                <a:latin typeface="Times New Roman (Headings)"/>
              </a:rPr>
              <a:t>Retrieval Augmented Generation</a:t>
            </a:r>
          </a:p>
          <a:p>
            <a:pPr>
              <a:buNone/>
            </a:pPr>
            <a:r>
              <a:rPr lang="vi-VN" sz="2500" dirty="0">
                <a:latin typeface="Times New Roman (Headings)"/>
              </a:rPr>
              <a:t>AI:</a:t>
            </a:r>
          </a:p>
          <a:p>
            <a:pPr>
              <a:buNone/>
            </a:pPr>
            <a:r>
              <a:rPr lang="vi-VN" sz="2500" dirty="0">
                <a:latin typeface="Times New Roman (Headings)"/>
              </a:rPr>
              <a:t>Truy xuất tài liệu → sau đó mới sinh câu trả lời.</a:t>
            </a:r>
          </a:p>
          <a:p>
            <a:pPr>
              <a:buNone/>
            </a:pPr>
            <a:r>
              <a:rPr lang="vi-VN" sz="2500" dirty="0">
                <a:latin typeface="Times New Roman (Headings)"/>
              </a:rPr>
              <a:t>Ưu điểm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 (Headings)"/>
              </a:rPr>
              <a:t> G</a:t>
            </a:r>
            <a:r>
              <a:rPr lang="vi-VN" sz="2500" dirty="0">
                <a:latin typeface="Times New Roman (Headings)"/>
              </a:rPr>
              <a:t>iảm hallucination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 (Headings)"/>
              </a:rPr>
              <a:t> D</a:t>
            </a:r>
            <a:r>
              <a:rPr lang="vi-VN" sz="2500" dirty="0">
                <a:latin typeface="Times New Roman (Headings)"/>
              </a:rPr>
              <a:t>ùng tài liệu nội bộ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 (Headings)"/>
              </a:rPr>
              <a:t> C</a:t>
            </a:r>
            <a:r>
              <a:rPr lang="vi-VN" sz="2500" dirty="0">
                <a:latin typeface="Times New Roman (Headings)"/>
              </a:rPr>
              <a:t>ập nhật kiến thức mới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 (Headings)"/>
              </a:rPr>
              <a:t> C</a:t>
            </a:r>
            <a:r>
              <a:rPr lang="vi-VN" sz="2500" dirty="0">
                <a:latin typeface="Times New Roman (Headings)"/>
              </a:rPr>
              <a:t>ó thể trích dẫn nguồn</a:t>
            </a:r>
          </a:p>
        </p:txBody>
      </p:sp>
    </p:spTree>
    <p:extLst>
      <p:ext uri="{BB962C8B-B14F-4D97-AF65-F5344CB8AC3E}">
        <p14:creationId xmlns:p14="http://schemas.microsoft.com/office/powerpoint/2010/main" val="1021093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DF3F33C-B3D7-DFD4-691C-6BEC8D97B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83F3F066-1144-81FA-770C-E964FE73AC40}"/>
              </a:ext>
            </a:extLst>
          </p:cNvPr>
          <p:cNvSpPr/>
          <p:nvPr/>
        </p:nvSpPr>
        <p:spPr>
          <a:xfrm>
            <a:off x="346364" y="18510"/>
            <a:ext cx="11863028" cy="126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3800" b="1" dirty="0">
                <a:latin typeface="Times New Roman"/>
                <a:cs typeface="Times New Roman"/>
              </a:rPr>
              <a:t>Các </a:t>
            </a:r>
            <a:r>
              <a:rPr lang="en-US" sz="3800" b="1" dirty="0" err="1">
                <a:latin typeface="Times New Roman"/>
                <a:cs typeface="Times New Roman"/>
              </a:rPr>
              <a:t>kỹ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thuật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thiết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kế</a:t>
            </a:r>
            <a:r>
              <a:rPr lang="en-US" sz="3800" b="1" dirty="0">
                <a:latin typeface="Times New Roman"/>
                <a:cs typeface="Times New Roman"/>
              </a:rPr>
              <a:t> Prompt</a:t>
            </a:r>
            <a:endParaRPr lang="vi-VN" sz="3800" b="1" dirty="0">
              <a:latin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3ADD6C-FA45-6511-92C2-609770A33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4371" y="1286834"/>
            <a:ext cx="8947013" cy="463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308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06CBDFB-8C9B-A940-C2EA-1F7B8405A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94E40016-C2DF-4D48-F245-AB7D6A693F3D}"/>
              </a:ext>
            </a:extLst>
          </p:cNvPr>
          <p:cNvSpPr/>
          <p:nvPr/>
        </p:nvSpPr>
        <p:spPr>
          <a:xfrm>
            <a:off x="346364" y="18510"/>
            <a:ext cx="11863028" cy="126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3800" b="1" dirty="0" err="1">
                <a:latin typeface="Times New Roman"/>
                <a:cs typeface="Times New Roman"/>
              </a:rPr>
              <a:t>Thiết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kế</a:t>
            </a:r>
            <a:r>
              <a:rPr lang="en-US" sz="3800" b="1" dirty="0">
                <a:latin typeface="Times New Roman"/>
                <a:cs typeface="Times New Roman"/>
              </a:rPr>
              <a:t> Prompt </a:t>
            </a:r>
            <a:r>
              <a:rPr lang="en-US" sz="3800" b="1" dirty="0" err="1">
                <a:latin typeface="Times New Roman"/>
                <a:cs typeface="Times New Roman"/>
              </a:rPr>
              <a:t>cho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các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tác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vụ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lập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trình</a:t>
            </a:r>
            <a:endParaRPr lang="vi-VN" sz="3800" b="1" dirty="0">
              <a:latin typeface="Times New Roman"/>
              <a:cs typeface="Times New Roman"/>
              <a:sym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6470B0-50CE-CBE2-86F5-775019DB0D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2" y="207818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745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6284ADD-6F8C-364C-8099-CA15D9A7D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305E64FB-54AF-10CA-EF9A-DA41037F39DC}"/>
              </a:ext>
            </a:extLst>
          </p:cNvPr>
          <p:cNvSpPr/>
          <p:nvPr/>
        </p:nvSpPr>
        <p:spPr>
          <a:xfrm>
            <a:off x="346364" y="18510"/>
            <a:ext cx="11863028" cy="126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3800" b="1" dirty="0" err="1">
                <a:latin typeface="Times New Roman"/>
                <a:cs typeface="Times New Roman"/>
              </a:rPr>
              <a:t>Thiết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kế</a:t>
            </a:r>
            <a:r>
              <a:rPr lang="en-US" sz="3800" b="1" dirty="0">
                <a:latin typeface="Times New Roman"/>
                <a:cs typeface="Times New Roman"/>
              </a:rPr>
              <a:t> Prompt </a:t>
            </a:r>
            <a:r>
              <a:rPr lang="en-US" sz="3800" b="1" dirty="0" err="1">
                <a:latin typeface="Times New Roman"/>
                <a:cs typeface="Times New Roman"/>
              </a:rPr>
              <a:t>cho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các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tác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vụ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lập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trình</a:t>
            </a:r>
            <a:endParaRPr lang="vi-VN" sz="3800" b="1" dirty="0">
              <a:latin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82804A-9368-21C3-CD17-CAE4157861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2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267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F5CCF05-9FD9-5950-1C8F-49F97FD77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4D42B066-8E45-522F-0CC5-7AE2BB46105F}"/>
              </a:ext>
            </a:extLst>
          </p:cNvPr>
          <p:cNvSpPr/>
          <p:nvPr/>
        </p:nvSpPr>
        <p:spPr>
          <a:xfrm>
            <a:off x="346364" y="18510"/>
            <a:ext cx="11863028" cy="126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3800" b="1" dirty="0">
                <a:latin typeface="Times New Roman"/>
                <a:cs typeface="Times New Roman"/>
                <a:sym typeface="Times New Roman"/>
              </a:rPr>
              <a:t>NỘI DUNG CHÍNH</a:t>
            </a:r>
            <a:endParaRPr lang="vi-VN" sz="3800" b="1" dirty="0">
              <a:latin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288942-34B3-D438-30C8-B06787EC5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393"/>
            <a:ext cx="12192000" cy="6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468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417480E-EADE-9237-EAAE-770A1E24C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416EE1A8-8AA7-7F99-900C-6CCE56CCBA72}"/>
              </a:ext>
            </a:extLst>
          </p:cNvPr>
          <p:cNvSpPr/>
          <p:nvPr/>
        </p:nvSpPr>
        <p:spPr>
          <a:xfrm>
            <a:off x="346364" y="156534"/>
            <a:ext cx="11863028" cy="126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3800" b="1" dirty="0">
                <a:latin typeface="Times New Roman"/>
                <a:cs typeface="Times New Roman"/>
                <a:sym typeface="Times New Roman"/>
              </a:rPr>
              <a:t>THỰC HÀNH RAG CHATBOT</a:t>
            </a:r>
          </a:p>
          <a:p>
            <a:pPr lvl="0"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vi-V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uản lý thông tin sản phẩm </a:t>
            </a:r>
            <a:r>
              <a:rPr 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vi-V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hợp AI tư vấn khách hàng</a:t>
            </a:r>
            <a:endParaRPr lang="vi-VN" sz="25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4D287E-5B8D-D1E4-B386-B6BB3B7CA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242" y="1811547"/>
            <a:ext cx="9057143" cy="453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869180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Presentation2</Template>
  <TotalTime>3791</TotalTime>
  <Words>516</Words>
  <Application>Microsoft Office PowerPoint</Application>
  <PresentationFormat>Widescreen</PresentationFormat>
  <Paragraphs>81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Times New Roman (Headings)</vt:lpstr>
      <vt:lpstr>Presentation2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Dung Nguyen</cp:lastModifiedBy>
  <cp:revision>675</cp:revision>
  <dcterms:created xsi:type="dcterms:W3CDTF">2023-01-06T06:35:00Z</dcterms:created>
  <dcterms:modified xsi:type="dcterms:W3CDTF">2026-08-06T00:31:19Z</dcterms:modified>
</cp:coreProperties>
</file>