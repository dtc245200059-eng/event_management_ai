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mạnh: thị trường AI Agent đang bùng nổ. Người vào sớm định hình luật chơi.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4 con số. Thông điệp: thời điểm vàng, vào sớm là lợi thế.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Công ty một người: chi phí bằng ~1/200 đội ngũ truyền thống. Base44 là minh chứng.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Cowork = công cụ chính. Sức mạnh: làm thật trên máy, tự động, an toàn, không cần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nguyên tắc: đi dọc, bán kết quả, xây hào. Lặp lại xuyên suốt phần ngách.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Agency Tự Động Hóa cho Doanh Nghiệp Địa Phương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Trợ Lý CSKH &amp; Voice AI thay tổng đài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Bất Động Sản: Săn &amp; Nuôi Lead Tự Động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Thương Mại Điện Tử: Tối Ưu &amp; Cứu Đơn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Tế / Nha Khoa / Phòng Khám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Tài Chính / Kế Toán: Đối Soát &amp; Bookkeeping AI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Pháp Lý: Tiếp Nhận Hồ Sơ &amp; Rà Soát Hợp Đồng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Micro-SaaS Dọc bằng “Vibe Coding”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Sản Xuất Nội Dung &amp; Quản Lý Kênh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Đóng Gói &amp; Bán Quy Trình / Template / “Skill” AI — nhấn nỗi đau, giải pháp Cowork, ai trả tiền, mức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giúp khán giả tự định vị. Nhấn gợi ý điểm khởi đầu cuối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mô hình giá. Nhấn: outcome-based là tương lai; biên 60–80%, ngách dọc giá cao 2–3x.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90 ngày rất cụ thể, actionable. Nhấn: không cần vốn, lấy đà từ khách đầu.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Cân bằng: cơ hội lớn nhưng 40% dự án thất bại. Đưa ra 4 cách thắng cụ thể.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bằng năng lượng cao + 3 bước hành động rõ ràng. Kêu gọi bắt đầu ngay.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8270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0C4AE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658368"/>
            <a:ext cx="3734410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658368"/>
            <a:ext cx="373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BÁO CÁO CHIẾN LƯỢC · 2026 → 2030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KIẾM TIỀN ĐỘT PHÁ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F6A6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VỚI AI-AGENT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dirty="0">
                <a:solidFill>
                  <a:srgbClr val="10C4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COWORK CLAUDE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40416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mô hình ngách giúp chủ doanh nghiệp nhỏ &amp; startup bứt phá doanh thu trong kỷ nguyên trợ lý AI tự hành.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5212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A6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$7.84 tỷ → $52.6 tỷ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6928" y="57424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08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thị trường AI Agent 2025→2030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0" y="5285232"/>
            <a:ext cx="0" cy="868680"/>
          </a:xfrm>
          <a:prstGeom prst="line">
            <a:avLst/>
          </a:prstGeom>
          <a:noFill/>
          <a:ln w="12700">
            <a:solidFill>
              <a:srgbClr val="2C3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5212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A6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 tỷ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224528" y="57424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08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hoạt động vào năm 2028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5285232"/>
            <a:ext cx="0" cy="868680"/>
          </a:xfrm>
          <a:prstGeom prst="line">
            <a:avLst/>
          </a:prstGeom>
          <a:noFill/>
          <a:ln w="12700">
            <a:solidFill>
              <a:srgbClr val="2C37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82128" y="5212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6A6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46%/năm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882128" y="57424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08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tăng trưởng kép tới 2030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8270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0C4A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Cơn sóng thần đã bắt đầu —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15214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và bạn đang ở rất sớm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2414016"/>
            <a:ext cx="868680" cy="868680"/>
          </a:xfrm>
          <a:prstGeom prst="ellipse">
            <a:avLst/>
          </a:prstGeom>
          <a:solidFill>
            <a:srgbClr val="FF5A36">
              <a:alpha val="16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2622499"/>
            <a:ext cx="451714" cy="4517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38528" y="23225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5A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$52.6 TỶ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938528" y="2926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thị trường AI Agent năm 2030, từ $7.84 tỷ năm 2025 (CAGR ~46%).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63056" y="2084832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2414016"/>
            <a:ext cx="868680" cy="868680"/>
          </a:xfrm>
          <a:prstGeom prst="ellipse">
            <a:avLst/>
          </a:prstGeom>
          <a:solidFill>
            <a:srgbClr val="10C4AE">
              <a:alpha val="16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2622499"/>
            <a:ext cx="451714" cy="45171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34656" y="23225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0C4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 TỶ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534656" y="2926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AI Agent dự kiến hoạt động trên toàn cầu vào năm 2028.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6928" y="3959352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7824" y="4288536"/>
            <a:ext cx="868680" cy="868680"/>
          </a:xfrm>
          <a:prstGeom prst="ellipse">
            <a:avLst/>
          </a:prstGeom>
          <a:solidFill>
            <a:srgbClr val="F6A609">
              <a:alpha val="16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4497019"/>
            <a:ext cx="451714" cy="45171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38528" y="41970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6A6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1938528" y="4800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doanh nghiệp tích hợp AI Agent ngay trong 2026 (Gartner).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163056" y="3959352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73952" y="4288536"/>
            <a:ext cx="868680" cy="868680"/>
          </a:xfrm>
          <a:prstGeom prst="ellipse">
            <a:avLst/>
          </a:prstGeom>
          <a:solidFill>
            <a:srgbClr val="8270FF">
              <a:alpha val="16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4497019"/>
            <a:ext cx="451714" cy="45171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34656" y="41970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27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7534656" y="4800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công việc hằng ngày do AI tự đưa ra vào năm 2028.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66928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08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“Khi một thị trường tăng 46% mỗi năm, người vào sớm không cạnh tranh — họ định hình luật chơi.”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Sự dịch chuyển lớn nhất: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từ “làm một mình” sang “</a:t>
            </a:r>
            <a:pPr indent="0" marL="0">
              <a:buNone/>
            </a:pPr>
            <a:r>
              <a:rPr lang="en-US" sz="3000" b="1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chỉ huy đội quân AI</a:t>
            </a:r>
            <a:pPr indent="0" marL="0">
              <a:buNone/>
            </a:pPr>
            <a:r>
              <a:rPr lang="en-US" sz="3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266944" cy="3246120"/>
          </a:xfrm>
          <a:prstGeom prst="roundRect">
            <a:avLst>
              <a:gd name="adj" fmla="val 281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21408"/>
            <a:ext cx="713232" cy="713232"/>
          </a:xfrm>
          <a:prstGeom prst="ellipse">
            <a:avLst/>
          </a:prstGeom>
          <a:solidFill>
            <a:srgbClr val="767D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288" y="2292584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3969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767D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HÔM QUA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0976" y="3054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Thuê đội 5–10 người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0976" y="35570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$80K–$120K / tháng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50976" y="4059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Chậm, tốn kém, khó mở rộng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50976" y="45628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= số nhân sự bạn thuê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1874520"/>
            <a:ext cx="5266944" cy="3246120"/>
          </a:xfrm>
          <a:prstGeom prst="roundRect">
            <a:avLst>
              <a:gd name="adj" fmla="val 2817"/>
            </a:avLst>
          </a:prstGeom>
          <a:solidFill>
            <a:srgbClr val="EAFBF7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84264" y="2121408"/>
            <a:ext cx="713232" cy="713232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440" y="2292584"/>
            <a:ext cx="370881" cy="37088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25512" y="213969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10C4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HÔM NAY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739128" y="30540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người + đội AI Agent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739128" y="35570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chỉ $300–$500 / tháng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739128" y="4059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Nhanh, biên lợi nhuận rất cao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739128" y="45628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= số quy trình tự động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66928" y="5413248"/>
            <a:ext cx="11055096" cy="877824"/>
          </a:xfrm>
          <a:prstGeom prst="roundRect">
            <a:avLst>
              <a:gd name="adj" fmla="val 10417"/>
            </a:avLst>
          </a:prstGeom>
          <a:solidFill>
            <a:srgbClr val="0B1020"/>
          </a:solidFill>
          <a:ln/>
        </p:spPr>
      </p:sp>
      <p:sp>
        <p:nvSpPr>
          <p:cNvPr id="21" name="Text 17"/>
          <p:cNvSpPr/>
          <p:nvPr/>
        </p:nvSpPr>
        <p:spPr>
          <a:xfrm>
            <a:off x="886968" y="5413248"/>
            <a:ext cx="10424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chứng:  </a:t>
            </a:r>
            <a:pPr indent="0" marL="0">
              <a:buNone/>
            </a:pPr>
            <a:r>
              <a:rPr lang="en-US" sz="13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Base44 — một người xây dựng, đạt $3.5 triệu doanh thu/năm trong 6 tháng, rồi được Wix mua lại $80 triệu.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786384" cy="786384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60" y="755660"/>
            <a:ext cx="408920" cy="408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91056" y="4572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 Claude — “nhân viên AI” làm việc thật trên máy của bạn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66928" y="166420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2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chatbot trả lời. Đây là trợ lý tự hoàn thành công việc từ đầu đến cuối.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66928" y="2084832"/>
            <a:ext cx="5349240" cy="1261872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2359152"/>
            <a:ext cx="713232" cy="713232"/>
          </a:xfrm>
          <a:prstGeom prst="ellipse">
            <a:avLst/>
          </a:prstGeom>
          <a:solidFill>
            <a:srgbClr val="FF5A36">
              <a:alpha val="16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48" y="2530328"/>
            <a:ext cx="370881" cy="3708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64208" y="2249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Giao việc — nhận kết quả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664208" y="259689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nêu mục tiêu, Claude tự làm và trả về sản phẩm hoàn chỉnh: báo cáo, bảng tính, tài liệu.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63056" y="2084832"/>
            <a:ext cx="5349240" cy="1261872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0" y="2359152"/>
            <a:ext cx="713232" cy="713232"/>
          </a:xfrm>
          <a:prstGeom prst="ellipse">
            <a:avLst/>
          </a:prstGeom>
          <a:solidFill>
            <a:srgbClr val="10C4AE">
              <a:alpha val="16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76" y="2530328"/>
            <a:ext cx="370881" cy="3708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0336" y="2249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Thao tác trên file thật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260336" y="2596896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Đọc, sửa, tạo tài liệu ngay trong thư mục bạn cho phép — làm thật, không chỉ hướng dẫn.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3474720"/>
            <a:ext cx="5349240" cy="1261872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/>
        </p:spPr>
      </p:sp>
      <p:sp>
        <p:nvSpPr>
          <p:cNvPr id="17" name="Shape 12"/>
          <p:cNvSpPr/>
          <p:nvPr/>
        </p:nvSpPr>
        <p:spPr>
          <a:xfrm>
            <a:off x="804672" y="3749040"/>
            <a:ext cx="713232" cy="713232"/>
          </a:xfrm>
          <a:prstGeom prst="ellipse">
            <a:avLst/>
          </a:prstGeom>
          <a:solidFill>
            <a:srgbClr val="F6A609">
              <a:alpha val="16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848" y="3920216"/>
            <a:ext cx="370881" cy="37088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64208" y="3639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Tự động theo lịch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664208" y="3986784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email mỗi sáng, tổng hợp số liệu, gửi báo cáo tuần — tự chạy không cần bạn ngồi canh.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163056" y="3474720"/>
            <a:ext cx="5349240" cy="1261872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400800" y="3749040"/>
            <a:ext cx="713232" cy="713232"/>
          </a:xfrm>
          <a:prstGeom prst="ellipse">
            <a:avLst/>
          </a:prstGeom>
          <a:solidFill>
            <a:srgbClr val="8270FF">
              <a:alpha val="16000"/>
            </a:srgb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976" y="3920216"/>
            <a:ext cx="370881" cy="37088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0336" y="3639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Nhiều “trợ lý con” song song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260336" y="3986784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việc phức tạp bằng nhiều sub-agent chạy cùng lúc, nhanh hơn nhiều lần.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66928" y="4864608"/>
            <a:ext cx="5349240" cy="1261872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/>
        </p:spPr>
      </p:sp>
      <p:sp>
        <p:nvSpPr>
          <p:cNvPr id="27" name="Shape 20"/>
          <p:cNvSpPr/>
          <p:nvPr/>
        </p:nvSpPr>
        <p:spPr>
          <a:xfrm>
            <a:off x="804672" y="5138928"/>
            <a:ext cx="713232" cy="713232"/>
          </a:xfrm>
          <a:prstGeom prst="ellipse">
            <a:avLst/>
          </a:prstGeom>
          <a:solidFill>
            <a:srgbClr val="FF4D7D">
              <a:alpha val="16000"/>
            </a:srgbClr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848" y="5310104"/>
            <a:ext cx="370881" cy="37088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64208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toàn, bạn kiểm soát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1664208" y="5376672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trình kế hoạch và xin phép trước khi hành động hay xóa bất kỳ file nào.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163056" y="4864608"/>
            <a:ext cx="5349240" cy="1261872"/>
          </a:xfrm>
          <a:prstGeom prst="roundRect">
            <a:avLst>
              <a:gd name="adj" fmla="val 6522"/>
            </a:avLst>
          </a:prstGeom>
          <a:solidFill>
            <a:srgbClr val="F5F7FC"/>
          </a:solidFill>
          <a:ln/>
        </p:spPr>
      </p:sp>
      <p:sp>
        <p:nvSpPr>
          <p:cNvPr id="32" name="Shape 24"/>
          <p:cNvSpPr/>
          <p:nvPr/>
        </p:nvSpPr>
        <p:spPr>
          <a:xfrm>
            <a:off x="6400800" y="5138928"/>
            <a:ext cx="713232" cy="713232"/>
          </a:xfrm>
          <a:prstGeom prst="ellipse">
            <a:avLst/>
          </a:prstGeom>
          <a:solidFill>
            <a:srgbClr val="10C4AE">
              <a:alpha val="16000"/>
            </a:srgbClr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1976" y="5310104"/>
            <a:ext cx="370881" cy="37088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60336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Không cần biết code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7260336" y="5376672"/>
            <a:ext cx="4133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cho người làm nghiệp vụ — marketing, vận hành, kế toán — không phải lập trình viên.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8270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0C4A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nguyên tắc vàng trước khi chọn ngách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khác biệt giữa người kiếm tiền thật và người chỉ “chơi với AI”.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3493008" cy="4160520"/>
          </a:xfrm>
          <a:prstGeom prst="roundRect">
            <a:avLst>
              <a:gd name="adj" fmla="val 2618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1214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5A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072384" y="2212848"/>
            <a:ext cx="786384" cy="786384"/>
          </a:xfrm>
          <a:prstGeom prst="ellipse">
            <a:avLst/>
          </a:prstGeom>
          <a:solidFill>
            <a:srgbClr val="FF5A36">
              <a:alpha val="18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116" y="2401580"/>
            <a:ext cx="408920" cy="408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31272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Đi DỌC, đừng đi NGANG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59536" y="3968496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ngành cụ thể, giải 1 nỗi đau cụ thể. Năm 2026 nhà đầu tư chỉ rót vốn cho AI dọc có quy trình &amp; dữ liệu riêng — không phải “wrapper” chung chung.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79392" y="1938528"/>
            <a:ext cx="3493008" cy="4160520"/>
          </a:xfrm>
          <a:prstGeom prst="roundRect">
            <a:avLst>
              <a:gd name="adj" fmla="val 2618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53712" y="21214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6A6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6784848" y="2212848"/>
            <a:ext cx="786384" cy="786384"/>
          </a:xfrm>
          <a:prstGeom prst="ellipse">
            <a:avLst/>
          </a:prstGeom>
          <a:solidFill>
            <a:srgbClr val="F6A609">
              <a:alpha val="18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580" y="2401580"/>
            <a:ext cx="408920" cy="408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1272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Bán KẾT QUẢ, không bán phần mềm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572000" y="3968496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trả tiền cho “vé hỗ trợ được giải quyết”, “lead được hẹn” — không phải cho công cụ. Intercom Fin tính $0.99/vé và đạt doanh thu 9 chữ số.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91856" y="1938528"/>
            <a:ext cx="3493008" cy="4160520"/>
          </a:xfrm>
          <a:prstGeom prst="roundRect">
            <a:avLst>
              <a:gd name="adj" fmla="val 2618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266176" y="21214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0C4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10497312" y="2212848"/>
            <a:ext cx="786384" cy="786384"/>
          </a:xfrm>
          <a:prstGeom prst="ellipse">
            <a:avLst/>
          </a:prstGeom>
          <a:solidFill>
            <a:srgbClr val="10C4AE">
              <a:alpha val="18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044" y="2401580"/>
            <a:ext cx="408920" cy="408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84464" y="31272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Xây HÀO kinh tế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284464" y="3968496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thế bền vững = dữ liệu riêng + chiều sâu quy trình + chuyên môn ngành + con người kiểm duyệt ở khâu quan trọng. Đó là thứ khó sao chép.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FF5A36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1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 Tự Động Hóa cho Doanh Nghiệp Địa Phương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quy trình tự động, bán cho tiệm – spa – gym – nhà hàng quanh bạn.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địa phương ngập việc tay chân: đặt lịch, nhắn khách, trả tin nhắn, nhập liệu.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Cowork Claude dựng bot đặt lịch + CSKH + báo cáo, bàn giao “chìa khóa trao tay”.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 khoa, spa, phòng gym, nhà hàng, gara, môi giới địa phương.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$500–$2,000 + retainer $1,000–$5,000/tháng. Biên lợi nhuận 60–80%.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119933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1199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VỐN THẤP · KHỞI ĐỘNG NHANH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10C4AE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2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Trợ Lý CSKH &amp; Voice AI thay tổng đài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0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đài AI trực 24/7, cắt 60–80% chi phí nhân sự.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đài/CSKH tốn người, nghỉ lễ, trả lời chậm, mất khách ngoài giờ làm việc.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trả lời tin nhắn &amp; cuộc gọi, đặt lịch, lọc lead, chuyển người thật khi cần.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bán lẻ, công ty dịch vụ, phòng khám, trung tâm đào tạo.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kết quả $0.5–$2/vé giải quyết, hoặc retainer $1,000–$4,000/tháng.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734410" cy="365760"/>
          </a:xfrm>
          <a:prstGeom prst="roundRect">
            <a:avLst>
              <a:gd name="adj" fmla="val 50000"/>
            </a:avLst>
          </a:prstGeom>
          <a:solidFill>
            <a:srgbClr val="10C4AE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73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NHU CẦU KHỔNG LỒ · ÍT CẠNH TRANH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F6A609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3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Bất Động Sản: Săn &amp; Nuôi Lead Tự Động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lead trong 60 giây, không bỏ sót một khách nào.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giới bỏ lỡ lead vì trả lời chậm; nuôi dưỡng thủ công không xuể.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tự trả lời, sàng lọc, đặt lịch xem nhà, nhắc hẹn, gửi tài liệu dự án.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giới cá nhân, sàn giao dịch, chủ đầu tư dự án.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$200–$500/agent/tháng, hoặc $3,000–$10,000/tháng cho cả sàn.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631997" cy="365760"/>
          </a:xfrm>
          <a:prstGeom prst="roundRect">
            <a:avLst>
              <a:gd name="adj" fmla="val 50000"/>
            </a:avLst>
          </a:prstGeom>
          <a:solidFill>
            <a:srgbClr val="F6A609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631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 RÕ RÀNG · KHÁCH GIÁ TRỊ CAO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8270FF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4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Thương Mại Điện Tử: Tối Ưu &amp; Cứu Đơn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2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Cứu giỏ hàng bị bỏ, tối ưu listing, CSKH tự động.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nghìn SKU, giỏ hàng bị bỏ, mô tả kém chuẩn SEO, inbox quá tải.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viết &amp; tối ưu mô tả, nhắc giỏ hàng, trả lời hỏi đáp, theo dõi tồn kho.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online, thương hiệu D2C, nhà bán trên Amazon/Shopee/TikTok.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$500–$3,000/tháng theo số gian hàng &amp; SKU cần quản lý.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324758" cy="365760"/>
          </a:xfrm>
          <a:prstGeom prst="roundRect">
            <a:avLst>
              <a:gd name="adj" fmla="val 50000"/>
            </a:avLst>
          </a:prstGeom>
          <a:solidFill>
            <a:srgbClr val="8270FF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324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QUY MÔ LỚN · TỰ ĐỘNG HÓA CAO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FF5A36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5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Tế / Nha Khoa / Phòng Khám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Ngách “chống suy thoái”, giữ khách cực bền.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Lễ tân quá tải; ghi chú, đặt lịch, nhắc tái khám ngốn thời gian mỗi ngày.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đặt lịch, nhắc hẹn, soạn ghi chú, tổng hợp hồ sơ, marketing phòng khám.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khám đa khoa, nha khoa, thẩm mỹ viện, spa y khoa.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$2,000–$5,000/tháng. Luôn có con người kiểm duyệt.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222346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222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GIỮ KHÁCH CAO · GIÁ TRỊ LỚN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10C4AE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6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Tài Chính / Kế Toán: Đối Soát &amp; Bookkeeping AI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0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thầu cao nhất, cạnh tranh thấp nhất.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soát, nhập liệu, phân loại giao dịch, lập báo cáo ngốn hàng trăm giờ công.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đối soát giao dịch, phân loại, soạn báo cáo, cảnh báo bất thường (có người duyệt).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nhỏ, công ty dịch vụ kế toán, cố vấn tài chính.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cao nhất nhóm: $3,000–$7,000/tháng/khách.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939235" cy="365760"/>
          </a:xfrm>
          <a:prstGeom prst="roundRect">
            <a:avLst>
              <a:gd name="adj" fmla="val 50000"/>
            </a:avLst>
          </a:prstGeom>
          <a:solidFill>
            <a:srgbClr val="10C4AE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939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GIÁ CAO · “BUỒN TẺ MÀ HÁI RA TIỀN”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F6A609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7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Pháp Lý: Tiếp Nhận Hồ Sơ &amp; Rà Soát Hợp Đồng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6A6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hàng loạt tài liệu, trích xuất điều khoản theo lô.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luật ngập tài liệu cần rà soát hệ thống nhưng không cần phán xét sâu mọi bước.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tiếp nhận khách, trích điều khoản, gắn cờ bất thường, tóm tắt hợp đồng.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luật, phòng pháp chế doanh nghiệp, công chứng.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F6A60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$2,500–$15,000/dự án + retainer. Ngành trả giá cao gấp 2–3 lần.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529584" cy="365760"/>
          </a:xfrm>
          <a:prstGeom prst="roundRect">
            <a:avLst>
              <a:gd name="adj" fmla="val 50000"/>
            </a:avLst>
          </a:prstGeom>
          <a:solidFill>
            <a:srgbClr val="F6A609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GIÁ CAO · CẦN KIỂM DUYỆT NGƯỜI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8270FF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8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Micro-SaaS Dọc bằng “Vibe Coding”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27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sản phẩm phần mềm 1 người, không cần đội kỹ thuật.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ngách có nỗi đau riêng mà chưa ai làm phần mềm chuyên biệt để giải.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AI dựng micro-SaaS dọc giải đúng 1 vấn đề, bán theo gói subscription.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trong ngách sẵn sàng trả phí hằng tháng.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8270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$5,000–$50,000 MRR cho sản phẩm thành công. 34% micro-SaaS mới do người không lập trình tạo ra.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734410" cy="365760"/>
          </a:xfrm>
          <a:prstGeom prst="roundRect">
            <a:avLst>
              <a:gd name="adj" fmla="val 50000"/>
            </a:avLst>
          </a:prstGeom>
          <a:solidFill>
            <a:srgbClr val="8270FF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7344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TRẦN THU NHẬP CAO · CẦN KIÊN TRÌ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FF5A36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9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Sản Xuất Nội Dung &amp; Quản Lý Kênh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trong những ngách biên lợi nhuận cao nhất 2026.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cần nội dung đều đặn (blog, social, YouTube) nhưng thiếu người làm.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nghiên cứu, viết, lên lịch, tối ưu và “tái chế” nội dung đa nền tảng.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sáng tạo, thương hiệu cá nhân, doanh nghiệp, kênh YouTube.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FF5A3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$1,000–$5,000/tháng/khách; chi phí công cụ chỉ $200–$1,000.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324758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324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DỄ BẮT ĐẦU · TỰ ĐỘNG HÓA CAO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969264" cy="969264"/>
          </a:xfrm>
          <a:prstGeom prst="roundRect">
            <a:avLst>
              <a:gd name="adj" fmla="val 13208"/>
            </a:avLst>
          </a:prstGeom>
          <a:solidFill>
            <a:srgbClr val="10C4AE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66928" y="475488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73936" y="51206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NGÁCH 10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73936" y="7863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Đóng Gói &amp; Bán Quy Trình / Template / “Skill” AI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652760" y="475488"/>
            <a:ext cx="969264" cy="969264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383" y="708111"/>
            <a:ext cx="504017" cy="504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0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một lần, bán nhiều lần — thu nhập thụ động.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" y="2157984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2395728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17904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NỖI ĐAU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17904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người muốn kết quả nhưng không biết tự dựng agent hay quy trình.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63056" y="2157984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63056" y="2157984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2395728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2527402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14032" y="2395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AI-AGENT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114032" y="2834640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prompt, quy trình, “skill”, template Cowork thành sản phẩm số bán lặp lại.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66928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6928" y="3968496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4206240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33791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17904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TRẢ TIỀN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517904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Freelancer, chủ SMB, cộng đồng học và ứng dụng AI.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163056" y="3968496"/>
            <a:ext cx="5349240" cy="1664208"/>
          </a:xfrm>
          <a:prstGeom prst="roundRect">
            <a:avLst>
              <a:gd name="adj" fmla="val 4945"/>
            </a:avLst>
          </a:prstGeom>
          <a:solidFill>
            <a:srgbClr val="FFF6E9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63056" y="3968496"/>
            <a:ext cx="91440" cy="166420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29" name="Shape 23"/>
          <p:cNvSpPr/>
          <p:nvPr/>
        </p:nvSpPr>
        <p:spPr>
          <a:xfrm>
            <a:off x="6437376" y="4206240"/>
            <a:ext cx="548640" cy="548640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050" y="433791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MỨC GIÁ THAM KHẢO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114032" y="4645152"/>
            <a:ext cx="42428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$27–$497/sản phẩm số + khóa học/membership; biên lợi nhuận gần 100%.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66928" y="5943600"/>
            <a:ext cx="3324758" cy="365760"/>
          </a:xfrm>
          <a:prstGeom prst="roundRect">
            <a:avLst>
              <a:gd name="adj" fmla="val 50000"/>
            </a:avLst>
          </a:prstGeom>
          <a:solidFill>
            <a:srgbClr val="10C4AE"/>
          </a:solidFill>
          <a:ln/>
        </p:spPr>
      </p:sp>
      <p:sp>
        <p:nvSpPr>
          <p:cNvPr id="34" name="Text 27"/>
          <p:cNvSpPr/>
          <p:nvPr/>
        </p:nvSpPr>
        <p:spPr>
          <a:xfrm>
            <a:off x="566928" y="5943600"/>
            <a:ext cx="3324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VỐN RẤT THẤP · BIÊN GẦN 100%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Chọn ngách của bạn — bảng so sánh nhanh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6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nhanh để chọn điểm khởi đầu phù hợp với vốn và mục tiêu của bạn.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91056"/>
          <a:ext cx="11055096" cy="914400"/>
        </p:xfrm>
        <a:graphic>
          <a:graphicData uri="http://schemas.openxmlformats.org/drawingml/2006/table">
            <a:tbl>
              <a:tblPr/>
              <a:tblGrid>
                <a:gridCol w="4105656"/>
                <a:gridCol w="1737360"/>
                <a:gridCol w="228600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Mô hình ngách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Vốn khởi đầu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Mức giá tiêu biểu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Tốc độ ra tiền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Độ khó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Agency tự động hóa địa phương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$1K–$5K/tháng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CSKH &amp; Voice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$1K–$4K/tháng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Bất động sản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$3K–$10K/tháng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Thương mại điện tử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$500–$3K/tháng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Y tế / Nha khoa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$2K–$5K/tháng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Tài chính / Kế toán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$3K–$7K/tháng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Pháp lý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$2.5K–$15K/dự án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Micro-SaaS dọc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Thấp–TB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$5K–$50K MRR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Chậm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Nội dung &amp; quản lý kênh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thấp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$1K–$5K/tháng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Nhanh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1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Đóng gói sản phẩm số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thấp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$27–$497/sp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6089904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EAFBF7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608990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C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 </a:t>
            </a:r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mới → khởi đầu từ Agency tự động hóa hoặc Nội dung (vốn thấp, tiền nhanh). Muốn trần thu nhập cao → Micro-SaaS dọc.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8270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0C4A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cách thu tiền — và cách định giá thắng năm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865376"/>
            <a:ext cx="713232" cy="713232"/>
          </a:xfrm>
          <a:prstGeom prst="ellipse">
            <a:avLst/>
          </a:prstGeom>
          <a:solidFill>
            <a:srgbClr val="FF5A36">
              <a:alpha val="1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712" y="2036552"/>
            <a:ext cx="370881" cy="3708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1700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 dự án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00784" y="208483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– $50,000 / lần. Hợp để khởi động và tạo dòng tiền nhanh.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63056" y="148132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55664" y="1865376"/>
            <a:ext cx="713232" cy="713232"/>
          </a:xfrm>
          <a:prstGeom prst="ellipse">
            <a:avLst/>
          </a:prstGeom>
          <a:solidFill>
            <a:srgbClr val="10C4AE">
              <a:alpha val="18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840" y="2036552"/>
            <a:ext cx="370881" cy="3708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1700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Retainer hằng tháng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296912" y="208483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– $7,000 / tháng. Doanh thu lặp lại: $12K–$60K/khách/năm.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072384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3456432"/>
            <a:ext cx="713232" cy="713232"/>
          </a:xfrm>
          <a:prstGeom prst="ellipse">
            <a:avLst/>
          </a:prstGeom>
          <a:solidFill>
            <a:srgbClr val="F6A609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12" y="3627608"/>
            <a:ext cx="370881" cy="37088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0784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 kết quả (Outcome)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00784" y="367588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theo vé giải quyết / lead / hành động. Xu hướng thống trị tới 2027.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63056" y="3072384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55664" y="3456432"/>
            <a:ext cx="713232" cy="713232"/>
          </a:xfrm>
          <a:prstGeom prst="ellipse">
            <a:avLst/>
          </a:prstGeom>
          <a:solidFill>
            <a:srgbClr val="8270FF">
              <a:alpha val="18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840" y="3627608"/>
            <a:ext cx="370881" cy="37088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96912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/ Sản phẩm số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296912" y="367588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đều đặn, biên lợi nhuận cao, dễ mở rộng quy mô.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4828032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F6A609"/>
          </a:solidFill>
          <a:ln/>
          <a:effectLst>
            <a:outerShdw sx="100000" sy="100000" kx="0" ky="0" algn="bl" rotWithShape="0" blurRad="114300" dist="38100" dir="5400000">
              <a:srgbClr val="0B102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1024128" y="4992624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A2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Biên lợi nhuận 60–80%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1024128" y="554126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công cụ &amp; API chỉ $200–$1,000/khách. Ngách dọc bán giá cao gấp 2–3 lần dịch vụ chung — vì có chuyên môn ngành và tuân thủ.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3035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Lộ trình 90 ngày: từ 0 đến khách trả tiền đầu tiên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67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bằng “service arbitrage” — không cần vốn. Dùng tiền khách đầu nuôi việc kế tiếp.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58034" cy="4206240"/>
          </a:xfrm>
          <a:prstGeom prst="roundRect">
            <a:avLst>
              <a:gd name="adj" fmla="val 357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83080"/>
            <a:ext cx="2558034" cy="109728"/>
          </a:xfrm>
          <a:prstGeom prst="rect">
            <a:avLst/>
          </a:prstGeom>
          <a:solidFill>
            <a:srgbClr val="FF5A36"/>
          </a:solidFill>
          <a:ln/>
        </p:spPr>
      </p:sp>
      <p:sp>
        <p:nvSpPr>
          <p:cNvPr id="6" name="Shape 4"/>
          <p:cNvSpPr/>
          <p:nvPr/>
        </p:nvSpPr>
        <p:spPr>
          <a:xfrm>
            <a:off x="1434465" y="2121408"/>
            <a:ext cx="822960" cy="822960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7" name="Text 5"/>
          <p:cNvSpPr/>
          <p:nvPr/>
        </p:nvSpPr>
        <p:spPr>
          <a:xfrm>
            <a:off x="1434465" y="21214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127248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5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NGÀY 1–15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493008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Chọn ngách &amp; tìm nỗi đau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" y="4169664"/>
            <a:ext cx="21191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ngách bạn có sẵn quan hệ hoặc hiểu biết. Phỏng vấn 5 khách tiềm năng để tìm đúng nỗi đau đáng tiền.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99282" y="1783080"/>
            <a:ext cx="2558034" cy="4206240"/>
          </a:xfrm>
          <a:prstGeom prst="roundRect">
            <a:avLst>
              <a:gd name="adj" fmla="val 357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9282" y="1783080"/>
            <a:ext cx="2558034" cy="109728"/>
          </a:xfrm>
          <a:prstGeom prst="rect">
            <a:avLst/>
          </a:prstGeom>
          <a:solidFill>
            <a:srgbClr val="F6A609"/>
          </a:solidFill>
          <a:ln/>
        </p:spPr>
      </p:sp>
      <p:sp>
        <p:nvSpPr>
          <p:cNvPr id="13" name="Shape 11"/>
          <p:cNvSpPr/>
          <p:nvPr/>
        </p:nvSpPr>
        <p:spPr>
          <a:xfrm>
            <a:off x="4266819" y="2121408"/>
            <a:ext cx="822960" cy="822960"/>
          </a:xfrm>
          <a:prstGeom prst="ellipse">
            <a:avLst/>
          </a:prstGeom>
          <a:solidFill>
            <a:srgbClr val="F6A609"/>
          </a:solidFill>
          <a:ln/>
        </p:spPr>
      </p:sp>
      <p:sp>
        <p:nvSpPr>
          <p:cNvPr id="14" name="Text 12"/>
          <p:cNvSpPr/>
          <p:nvPr/>
        </p:nvSpPr>
        <p:spPr>
          <a:xfrm>
            <a:off x="4266819" y="21214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3874" y="3127248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NGÀY 16–45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82162" y="3493008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Dựng giải pháp mẫu (MVP)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18738" y="4169664"/>
            <a:ext cx="21191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Cowork Claude dựng bản chạy được. Mời dùng thử miễn phí hoặc trả theo kết quả để gỡ rào cản.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1636" y="1783080"/>
            <a:ext cx="2558034" cy="4206240"/>
          </a:xfrm>
          <a:prstGeom prst="roundRect">
            <a:avLst>
              <a:gd name="adj" fmla="val 357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1636" y="1783080"/>
            <a:ext cx="2558034" cy="109728"/>
          </a:xfrm>
          <a:prstGeom prst="rect">
            <a:avLst/>
          </a:prstGeom>
          <a:solidFill>
            <a:srgbClr val="10C4A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9173" y="2121408"/>
            <a:ext cx="822960" cy="822960"/>
          </a:xfrm>
          <a:prstGeom prst="ellipse">
            <a:avLst/>
          </a:prstGeom>
          <a:solidFill>
            <a:srgbClr val="10C4AE"/>
          </a:solidFill>
          <a:ln/>
        </p:spPr>
      </p:sp>
      <p:sp>
        <p:nvSpPr>
          <p:cNvPr id="21" name="Text 19"/>
          <p:cNvSpPr/>
          <p:nvPr/>
        </p:nvSpPr>
        <p:spPr>
          <a:xfrm>
            <a:off x="7099173" y="21214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96228" y="3127248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NGÀY 46–70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4516" y="3493008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Chốt khách đầu tiên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51092" y="4169664"/>
            <a:ext cx="21191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thật, đo kết quả bằng số: giờ tiết kiệm, lead, doanh thu. Thu thập lời chứng thực (testimonial).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63990" y="1783080"/>
            <a:ext cx="2558034" cy="4206240"/>
          </a:xfrm>
          <a:prstGeom prst="roundRect">
            <a:avLst>
              <a:gd name="adj" fmla="val 3575"/>
            </a:avLst>
          </a:prstGeom>
          <a:solidFill>
            <a:srgbClr val="F5F7FC"/>
          </a:solidFill>
          <a:ln/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63990" y="1783080"/>
            <a:ext cx="2558034" cy="109728"/>
          </a:xfrm>
          <a:prstGeom prst="rect">
            <a:avLst/>
          </a:prstGeom>
          <a:solidFill>
            <a:srgbClr val="8270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931527" y="2121408"/>
            <a:ext cx="822960" cy="822960"/>
          </a:xfrm>
          <a:prstGeom prst="ellipse">
            <a:avLst/>
          </a:prstGeom>
          <a:solidFill>
            <a:srgbClr val="8270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31527" y="21214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228582" y="3127248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27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NGÀY 71–90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46870" y="3493008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1B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Chuyển sang retainer &amp; nhân bản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283446" y="4169664"/>
            <a:ext cx="211912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khách lên gói hằng tháng. Sao chép quy trình cho khách thứ 2, 3. Tái đầu tư doanh thu để tăng tốc.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8270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0C4A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Tầm nhìn 2027 → 2030: cơ hội &amp; cạm bẫy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92224"/>
            <a:ext cx="694944" cy="694944"/>
          </a:xfrm>
          <a:prstGeom prst="ellipse">
            <a:avLst/>
          </a:prstGeom>
          <a:solidFill>
            <a:srgbClr val="10C4A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899" y="1959011"/>
            <a:ext cx="361371" cy="3613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179222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0C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SÓNG LỚN SẮP TỚI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0976" y="2743200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✓"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giá theo kết quả &amp; usage sẽ thống trị; per-seat thành thiểu số (2027).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50976" y="3584448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✓"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lưới nhiều agent chuyên biệt tự phối hợp xuyên ứng dụng (2028).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0976" y="4425696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✓"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phần mềm doanh nghiệp tích hợp agentic AI vào năm 2028.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50976" y="5266944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✓"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thắng 2028 = ai có agent “may đo” gắn chặt quy trình &amp; dữ liệu riêng.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27648" y="1517904"/>
            <a:ext cx="5294376" cy="4663440"/>
          </a:xfrm>
          <a:prstGeom prst="roundRect">
            <a:avLst>
              <a:gd name="adj" fmla="val 1961"/>
            </a:avLst>
          </a:prstGeom>
          <a:solidFill>
            <a:srgbClr val="2A1420"/>
          </a:solidFill>
          <a:ln w="12700">
            <a:solidFill>
              <a:srgbClr val="FF4D7D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56832" y="1792224"/>
            <a:ext cx="694944" cy="694944"/>
          </a:xfrm>
          <a:prstGeom prst="ellipse">
            <a:avLst/>
          </a:prstGeom>
          <a:solidFill>
            <a:srgbClr val="FF4D7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619" y="1959011"/>
            <a:ext cx="361371" cy="3613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79792" y="179222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4D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CẢNH BÁO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11696" y="2743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4D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&gt;40% </a:t>
            </a:r>
            <a:pPr indent="0" marL="0">
              <a:buNone/>
            </a:pPr>
            <a:r>
              <a:rPr lang="en-US" sz="13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agentic AI sẽ bị HỦY trước cuối 2027 (Gartner) — do chi phí leo thang, giá trị mơ hồ, thiếu kiểm soát rủi ro.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711696" y="422452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6A6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CÁCH THẮNG: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711696" y="4553712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nỗi đau rõ ràng · Đo ROI bằng số · Giữ con người ở khâu rủi ro · Sở hữu dữ liệu &amp; quy trình riêng.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solidFill>
            <a:srgbClr val="8270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10C4AE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023360"/>
            <a:ext cx="4389120" cy="4389120"/>
          </a:xfrm>
          <a:prstGeom prst="ellipse">
            <a:avLst/>
          </a:prstGeom>
          <a:solidFill>
            <a:srgbClr val="FF5A3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868680"/>
            <a:ext cx="2710282" cy="365760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868680"/>
            <a:ext cx="27102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HÀNH ĐỘNG NGAY HÔM NAY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Người thắng không phải người giỏi nhất —
</a:t>
            </a:r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mà là người </a:t>
            </a:r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6A6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bắt đầu sớm nhất.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66928" y="32004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 sổ cơ hội đang mở. Doanh nghiệp ship agent đầu tiên trước cuối 2026 sẽ có lợi thế cấu trúc kéo dài đến 2028.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6928" y="4114800"/>
            <a:ext cx="3493008" cy="2011680"/>
          </a:xfrm>
          <a:prstGeom prst="roundRect">
            <a:avLst>
              <a:gd name="adj" fmla="val 4545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4370832"/>
            <a:ext cx="731520" cy="731520"/>
          </a:xfrm>
          <a:prstGeom prst="ellipse">
            <a:avLst/>
          </a:prstGeom>
          <a:solidFill>
            <a:srgbClr val="FF5A36">
              <a:alpha val="18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4546397"/>
            <a:ext cx="380390" cy="38039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19072" y="44439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Chọn 1 ngách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7824" y="524865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một ngách trong bộ slide này ngay hôm nay.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79392" y="4114800"/>
            <a:ext cx="3493008" cy="2011680"/>
          </a:xfrm>
          <a:prstGeom prst="roundRect">
            <a:avLst>
              <a:gd name="adj" fmla="val 4545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4370832"/>
            <a:ext cx="731520" cy="731520"/>
          </a:xfrm>
          <a:prstGeom prst="ellipse">
            <a:avLst/>
          </a:prstGeom>
          <a:solidFill>
            <a:srgbClr val="10C4AE">
              <a:alpha val="18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4546397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31536" y="44439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Dựng giải pháp mẫu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90288" y="524865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Cowork Claude, dựng MVP ngay trong tuần này.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991856" y="4114800"/>
            <a:ext cx="3493008" cy="2011680"/>
          </a:xfrm>
          <a:prstGeom prst="roundRect">
            <a:avLst>
              <a:gd name="adj" fmla="val 4545"/>
            </a:avLst>
          </a:prstGeom>
          <a:solidFill>
            <a:srgbClr val="151B3C"/>
          </a:solidFill>
          <a:ln w="12700">
            <a:solidFill>
              <a:srgbClr val="2C376B"/>
            </a:solidFill>
            <a:prstDash val="solid"/>
          </a:ln>
          <a:effectLst>
            <a:outerShdw sx="100000" sy="100000" kx="0" ky="0" algn="bl" rotWithShape="0" blurRad="177800" dist="50800" dir="5400000">
              <a:srgbClr val="0B102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84464" y="4370832"/>
            <a:ext cx="731520" cy="731520"/>
          </a:xfrm>
          <a:prstGeom prst="ellipse">
            <a:avLst/>
          </a:prstGeom>
          <a:solidFill>
            <a:srgbClr val="F6A609">
              <a:alpha val="18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29" y="4546397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0" y="44439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Tìm khách thật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02752" y="524865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1 khách hàng trả tiền trong 30 ngày tới.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66928" y="636422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8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bằng Cowork Claude · Báo cáo chiến lược AI-Agent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Kiếm tiền đột phá với AI-Agent &amp; Cowork Claude</dc:title>
  <dc:subject>PptxGenJS Presentation</dc:subject>
  <dc:creator>Cowork Claude</dc:creator>
  <cp:lastModifiedBy>Cowork Claude</cp:lastModifiedBy>
  <cp:revision>1</cp:revision>
  <dcterms:created xsi:type="dcterms:W3CDTF">2026-06-01T14:13:30Z</dcterms:created>
  <dcterms:modified xsi:type="dcterms:W3CDTF">2026-06-01T14:13:30Z</dcterms:modified>
</cp:coreProperties>
</file>