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20"/>
  </p:notesMasterIdLst>
  <p:sldIdLst>
    <p:sldId id="293" r:id="rId2"/>
    <p:sldId id="313" r:id="rId3"/>
    <p:sldId id="298" r:id="rId4"/>
    <p:sldId id="299" r:id="rId5"/>
    <p:sldId id="300" r:id="rId6"/>
    <p:sldId id="301" r:id="rId7"/>
    <p:sldId id="302" r:id="rId8"/>
    <p:sldId id="303" r:id="rId9"/>
    <p:sldId id="314" r:id="rId10"/>
    <p:sldId id="304" r:id="rId11"/>
    <p:sldId id="305" r:id="rId12"/>
    <p:sldId id="306" r:id="rId13"/>
    <p:sldId id="307" r:id="rId14"/>
    <p:sldId id="308" r:id="rId15"/>
    <p:sldId id="309" r:id="rId16"/>
    <p:sldId id="310" r:id="rId17"/>
    <p:sldId id="311" r:id="rId18"/>
    <p:sldId id="31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49823" autoAdjust="0"/>
  </p:normalViewPr>
  <p:slideViewPr>
    <p:cSldViewPr snapToGrid="0">
      <p:cViewPr varScale="1">
        <p:scale>
          <a:sx n="56" d="100"/>
          <a:sy n="56" d="100"/>
        </p:scale>
        <p:origin x="2712"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A41BC4-3796-4806-B886-9E39B90FEC32}" type="datetimeFigureOut">
              <a:rPr lang="en-US" smtClean="0"/>
              <a:t>7/26/2026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BD0C0C-DEF9-457C-9DCE-3285BA12395A}" type="slidenum">
              <a:rPr lang="en-US" smtClean="0"/>
              <a:t>‹#›</a:t>
            </a:fld>
            <a:endParaRPr lang="en-US"/>
          </a:p>
        </p:txBody>
      </p:sp>
    </p:spTree>
    <p:extLst>
      <p:ext uri="{BB962C8B-B14F-4D97-AF65-F5344CB8AC3E}">
        <p14:creationId xmlns:p14="http://schemas.microsoft.com/office/powerpoint/2010/main" val="3325910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D01FAD89-59C6-7190-7E67-890A86788293}"/>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A388688B-5129-3EC0-2839-8C33CBC8E90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8" name="Google Shape;108;p3:notes">
            <a:extLst>
              <a:ext uri="{FF2B5EF4-FFF2-40B4-BE49-F238E27FC236}">
                <a16:creationId xmlns:a16="http://schemas.microsoft.com/office/drawing/2014/main" id="{A8B2E041-7444-B2F9-1667-3CEB1FEDFAE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05375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DB67C1AA-FA49-C9EB-465A-B22C9C7B9086}"/>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44E0AF39-7700-FB27-7027-D272712EB74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vi-VN" sz="1200" b="0" i="0" kern="1200" dirty="0">
                <a:solidFill>
                  <a:schemeClr val="tx1"/>
                </a:solidFill>
                <a:effectLst/>
                <a:latin typeface="+mn-lt"/>
                <a:ea typeface="+mn-ea"/>
                <a:cs typeface="+mn-cs"/>
              </a:rPr>
              <a:t>Giai đoạn Học (Learning / Training): Mô hình được huấn luyện trên một lượng dữ liệu khổng lồ – hàng tỷ câu văn, hàng triệu bức ảnh, hàng nghìn giờ âm thanh. Trong quá trình này, mô hình không ghi nhớ từng mẫu riêng lẻ, mà học các quy luật thống kê ẩn sau dữ liệu: từ nào thường đi kèm với từ nào, bố cục nào tạo nên khuôn mặt, giai điệu nào theo sau giai điệu nào.</a:t>
            </a:r>
          </a:p>
          <a:p>
            <a:r>
              <a:rPr lang="vi-VN" sz="1200" b="0" i="0" kern="1200" dirty="0">
                <a:solidFill>
                  <a:schemeClr val="tx1"/>
                </a:solidFill>
                <a:effectLst/>
                <a:latin typeface="+mn-lt"/>
                <a:ea typeface="+mn-ea"/>
                <a:cs typeface="+mn-cs"/>
              </a:rPr>
              <a:t>2. Giai đoạn Tạo sinh (Generation / Inference): Khi nhận được prompt, mô hình sử dụng những gì đã học để tạo ra nội dung mới, từng đơn vị một. Kết quả không phải là bản sao dữ liệu huấn luyện – nó là tổ hợp mới, được “lắp ráp” từ các mẫu thống kê đã học.</a:t>
            </a:r>
            <a:r>
              <a:rPr lang="vi-VN" dirty="0"/>
              <a:t> </a:t>
            </a:r>
            <a:br>
              <a:rPr lang="vi-VN" dirty="0"/>
            </a:br>
            <a:endParaRPr dirty="0"/>
          </a:p>
        </p:txBody>
      </p:sp>
      <p:sp>
        <p:nvSpPr>
          <p:cNvPr id="108" name="Google Shape;108;p3:notes">
            <a:extLst>
              <a:ext uri="{FF2B5EF4-FFF2-40B4-BE49-F238E27FC236}">
                <a16:creationId xmlns:a16="http://schemas.microsoft.com/office/drawing/2014/main" id="{BFB0FDF7-F517-1511-21BC-8E8900E351B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771305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5C66D5FC-EBBD-B519-55AA-E781E1AD21FB}"/>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F734413C-6043-0955-1B84-26683145FE6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vi-VN" sz="1200" b="0" i="0" kern="1200" dirty="0">
                <a:solidFill>
                  <a:schemeClr val="tx1"/>
                </a:solidFill>
                <a:effectLst/>
                <a:latin typeface="+mn-lt"/>
                <a:ea typeface="+mn-ea"/>
                <a:cs typeface="+mn-cs"/>
              </a:rPr>
              <a:t>Trung tâm của cuộc cách mạng GenAI là Foundation Models (FM – Mô hình nền tảng). Đây là các mô hình AI đa năng (general-purpose), được huấn luyện trước (pretrained) trên tập dữ liệu cực lớn và đa dạng. Điều khiến FM khác biệt so với các mô hình AI trước đây là tính thích ứng (adaptability): một FM duy nhất có thể được tinh chỉnh (fine-tuned) để thực hiện hàng chục tác vụ khác nhau – dịch thuật, tóm tắt, sinh code, trả lời câu hỏi – mà không cần huấn luyện lại từ đầu.</a:t>
            </a:r>
          </a:p>
          <a:p>
            <a:r>
              <a:rPr lang="vi-VN" sz="1200" b="0" i="0" kern="1200" dirty="0">
                <a:solidFill>
                  <a:schemeClr val="tx1"/>
                </a:solidFill>
                <a:effectLst/>
                <a:latin typeface="+mn-lt"/>
                <a:ea typeface="+mn-ea"/>
                <a:cs typeface="+mn-cs"/>
              </a:rPr>
              <a:t>Các FM hiện đại có thể xử lý nhiều loại dữ liệu khác nhau (gọi là modal): văn bản, hình ảnh, âm thanh, video. Sáu chức năng cốt lõi (core modalities) của FM bao gồm:</a:t>
            </a:r>
          </a:p>
          <a:p>
            <a:r>
              <a:rPr lang="vi-VN" sz="1200" b="0" i="0" kern="1200" dirty="0">
                <a:solidFill>
                  <a:schemeClr val="tx1"/>
                </a:solidFill>
                <a:effectLst/>
                <a:latin typeface="+mn-lt"/>
                <a:ea typeface="+mn-ea"/>
                <a:cs typeface="+mn-cs"/>
              </a:rPr>
              <a:t>• Sinh văn bản (Text Generation) – tạo đoạn văn, bài viết, email, kịch bản.</a:t>
            </a:r>
          </a:p>
          <a:p>
            <a:r>
              <a:rPr lang="vi-VN" sz="1200" b="0" i="0" kern="1200" dirty="0">
                <a:solidFill>
                  <a:schemeClr val="tx1"/>
                </a:solidFill>
                <a:effectLst/>
                <a:latin typeface="+mn-lt"/>
                <a:ea typeface="+mn-ea"/>
                <a:cs typeface="+mn-cs"/>
              </a:rPr>
              <a:t>• Tóm tắt văn bản (Text Summarization) – rút gọn tài liệu dài thành các ý chính.</a:t>
            </a:r>
          </a:p>
          <a:p>
            <a:r>
              <a:rPr lang="vi-VN" sz="1200" b="0" i="0" kern="1200" dirty="0">
                <a:solidFill>
                  <a:schemeClr val="tx1"/>
                </a:solidFill>
                <a:effectLst/>
                <a:latin typeface="+mn-lt"/>
                <a:ea typeface="+mn-ea"/>
                <a:cs typeface="+mn-cs"/>
              </a:rPr>
              <a:t>• Hỏi đáp (Question Answering) – trả lời câu hỏi dựa trên kiến thức đã học.</a:t>
            </a:r>
            <a:endParaRPr lang="vi-VN" dirty="0"/>
          </a:p>
          <a:p>
            <a:r>
              <a:rPr lang="vi-VN" sz="1200" b="0" i="0" kern="1200" dirty="0">
                <a:solidFill>
                  <a:schemeClr val="tx1"/>
                </a:solidFill>
                <a:effectLst/>
                <a:latin typeface="+mn-lt"/>
                <a:ea typeface="+mn-ea"/>
                <a:cs typeface="+mn-cs"/>
              </a:rPr>
              <a:t>• Sinh mã nguồn (Code Generation) – tạo code từ mô tả bằng ngôn ngữ tự nhiên.</a:t>
            </a:r>
          </a:p>
          <a:p>
            <a:r>
              <a:rPr lang="vi-VN" sz="1200" b="0" i="0" kern="1200" dirty="0">
                <a:solidFill>
                  <a:schemeClr val="tx1"/>
                </a:solidFill>
                <a:effectLst/>
                <a:latin typeface="+mn-lt"/>
                <a:ea typeface="+mn-ea"/>
                <a:cs typeface="+mn-cs"/>
              </a:rPr>
              <a:t>• Tạo hình ảnh (Image Generation) – tạo ảnh từ mô tả văn bản (text-to-image).</a:t>
            </a:r>
          </a:p>
          <a:p>
            <a:r>
              <a:rPr lang="vi-VN" sz="1200" b="0" i="0" kern="1200" dirty="0">
                <a:solidFill>
                  <a:schemeClr val="tx1"/>
                </a:solidFill>
                <a:effectLst/>
                <a:latin typeface="+mn-lt"/>
                <a:ea typeface="+mn-ea"/>
                <a:cs typeface="+mn-cs"/>
              </a:rPr>
              <a:t>• Dịch thuật (Translation) – dịch văn bản giữa các ngôn ng</a:t>
            </a:r>
            <a:r>
              <a:rPr lang="en-US" sz="1200" b="0" i="0" kern="1200" dirty="0">
                <a:solidFill>
                  <a:schemeClr val="tx1"/>
                </a:solidFill>
                <a:effectLst/>
                <a:latin typeface="+mn-lt"/>
                <a:ea typeface="+mn-ea"/>
                <a:cs typeface="+mn-cs"/>
              </a:rPr>
              <a:t>ữ</a:t>
            </a:r>
            <a:br>
              <a:rPr lang="vi-VN" dirty="0"/>
            </a:br>
            <a:endParaRPr dirty="0"/>
          </a:p>
        </p:txBody>
      </p:sp>
      <p:sp>
        <p:nvSpPr>
          <p:cNvPr id="108" name="Google Shape;108;p3:notes">
            <a:extLst>
              <a:ext uri="{FF2B5EF4-FFF2-40B4-BE49-F238E27FC236}">
                <a16:creationId xmlns:a16="http://schemas.microsoft.com/office/drawing/2014/main" id="{646F8182-BA5F-7F96-22AF-58F2306E190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94185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B99FD264-5C9E-75C9-A34F-8E070958A4B0}"/>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37B7DF4D-BFFE-7425-4354-F6891E3604E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vi-VN" sz="1200" b="0" i="0" kern="1200" dirty="0">
                <a:solidFill>
                  <a:schemeClr val="tx1"/>
                </a:solidFill>
                <a:effectLst/>
                <a:latin typeface="+mn-lt"/>
                <a:ea typeface="+mn-ea"/>
                <a:cs typeface="+mn-cs"/>
              </a:rPr>
              <a:t>Nếu Foundation Models là “bộ não” của GenAI, thì Transformer chính là “hệ thần kinh” bên trong bộ não đó. Được giới thiệu năm 2017 trong bài báo nổi tiếng “Attention Is All You Need”, Transformer nhanh chóng trở thành kiến trúc nền tảng cho hầu hết các LLM hiện đại.</a:t>
            </a:r>
            <a:r>
              <a:rPr lang="vi-VN" dirty="0"/>
              <a:t> </a:t>
            </a:r>
            <a:br>
              <a:rPr lang="vi-VN" dirty="0"/>
            </a:br>
            <a:r>
              <a:rPr lang="vi-VN" sz="1200" b="0" i="0" kern="1200" dirty="0">
                <a:solidFill>
                  <a:schemeClr val="tx1"/>
                </a:solidFill>
                <a:effectLst/>
                <a:latin typeface="+mn-lt"/>
                <a:ea typeface="+mn-ea"/>
                <a:cs typeface="+mn-cs"/>
              </a:rPr>
              <a:t>Trước Transformer, các mô hình xử lý ngôn ngữ chủ yếu đọc văn bản tuần tự – từng từ một, từ trái sang phải. Cách tiếp cận này có hai hạn chế lớn: (1) chậm vì không thể xử lý song song; (2) khó nắm bắt mối quan hệ giữa các từ ở xa nhau trong câu.</a:t>
            </a: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Transformer giải quyết cả hai vấn đề này bằng cơ chế Self-Attention (tự chú ý). Thay vì đọc tuần tự, Transformer nhìn toàn bộ câu cùng một lúc và đánh giá mức độ liên quan giữa mọi cặp từ trong câu.</a:t>
            </a:r>
            <a:r>
              <a:rPr lang="vi-VN" dirty="0"/>
              <a:t> </a:t>
            </a:r>
            <a:br>
              <a:rPr lang="vi-VN" dirty="0"/>
            </a:br>
            <a:r>
              <a:rPr lang="vi-VN" sz="1200" b="0" i="0" kern="1200" dirty="0">
                <a:solidFill>
                  <a:schemeClr val="tx1"/>
                </a:solidFill>
                <a:effectLst/>
                <a:latin typeface="+mn-lt"/>
                <a:ea typeface="+mn-ea"/>
                <a:cs typeface="+mn-cs"/>
              </a:rPr>
              <a:t>Về mặt khái niệm, Transformer có thể được hình dung như một người đọc có siêu năng lực: thay vì đọc từng chữ một, người này mở toang tất cả các trang sách cùng lúc, dùng bút dạ quang đánh dấu mọi mối liên hệ giữa các từ, các câu, các đoạn – rồi từ đó tổng hợp thành hiểu biết tổng thể. Chính khả năng “nhìn toàn cảnh” này giúp LLM tạo ra văn bản mạch lạc, nhất quán qua nhiều đoạn dài.</a:t>
            </a:r>
          </a:p>
          <a:p>
            <a:r>
              <a:rPr lang="vi-VN" sz="1200" b="0" i="0" kern="1200" dirty="0">
                <a:solidFill>
                  <a:schemeClr val="tx1"/>
                </a:solidFill>
                <a:effectLst/>
                <a:latin typeface="+mn-lt"/>
                <a:ea typeface="+mn-ea"/>
                <a:cs typeface="+mn-cs"/>
              </a:rPr>
              <a:t>Một biến thể quan trọng là Vision Transformer (ViT), áp dụng cùng nguyên lý selfattention cho dữ liệu hình ảnh: ảnh được chia thành các mảnh nhỏ (patches), và mô hình phân tích mối quan hệ giữa chúng – tương tự cách Transformer phân tích mối quan hệ giữa các từ</a:t>
            </a:r>
            <a:r>
              <a:rPr lang="vi-VN" dirty="0"/>
              <a:t> </a:t>
            </a:r>
            <a:br>
              <a:rPr lang="vi-VN" dirty="0"/>
            </a:br>
            <a:endParaRPr dirty="0"/>
          </a:p>
        </p:txBody>
      </p:sp>
      <p:sp>
        <p:nvSpPr>
          <p:cNvPr id="108" name="Google Shape;108;p3:notes">
            <a:extLst>
              <a:ext uri="{FF2B5EF4-FFF2-40B4-BE49-F238E27FC236}">
                <a16:creationId xmlns:a16="http://schemas.microsoft.com/office/drawing/2014/main" id="{3727B750-47EA-323D-67F5-F2487E5912D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238773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0C5222EA-65DB-6AE8-7ACD-9CE46B550BC5}"/>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45CCF76F-8BD5-F861-3D29-52718280CC6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vi-VN" b="1" dirty="0"/>
              <a:t>Mạng đối kháng tạo sinh (Generative Adversarial Network – GAN)</a:t>
            </a:r>
            <a:r>
              <a:rPr lang="vi-VN" dirty="0"/>
              <a:t> là một mô hình học sâu (Deep Learning) được thiết kế để </a:t>
            </a:r>
            <a:r>
              <a:rPr lang="vi-VN" b="1" dirty="0"/>
              <a:t>tạo ra dữ liệu mới có đặc điểm giống với dữ liệu huấn luyện</a:t>
            </a:r>
            <a:r>
              <a:rPr lang="vi-VN" dirty="0"/>
              <a:t>. GAN được Ian Goodfellow và các cộng sự đề xuất vào năm 2014, và nhanh chóng trở thành một trong những kiến trúc quan trọng nhất trong lĩnh vực AI tạo sinh (Generative AI).</a:t>
            </a:r>
          </a:p>
          <a:p>
            <a:r>
              <a:rPr lang="vi-VN" b="1" dirty="0"/>
              <a:t>Ý tưởng cơ bản</a:t>
            </a:r>
          </a:p>
          <a:p>
            <a:r>
              <a:rPr lang="vi-VN" dirty="0"/>
              <a:t>GAN hoạt động dựa trên sự </a:t>
            </a:r>
            <a:r>
              <a:rPr lang="vi-VN" b="1" dirty="0"/>
              <a:t>cạnh tranh (đối kháng)</a:t>
            </a:r>
            <a:r>
              <a:rPr lang="vi-VN" dirty="0"/>
              <a:t> giữa hai mạng nơ-ron:</a:t>
            </a:r>
          </a:p>
          <a:p>
            <a:r>
              <a:rPr lang="vi-VN" b="1" dirty="0"/>
              <a:t>Generator (Bộ sinh)</a:t>
            </a:r>
            <a:r>
              <a:rPr lang="vi-VN" dirty="0"/>
              <a:t> </a:t>
            </a:r>
          </a:p>
          <a:p>
            <a:pPr lvl="1"/>
            <a:r>
              <a:rPr lang="vi-VN" dirty="0"/>
              <a:t>Nhiệm vụ: tạo ra dữ liệu giả (fake data). </a:t>
            </a:r>
          </a:p>
          <a:p>
            <a:pPr lvl="1"/>
            <a:r>
              <a:rPr lang="vi-VN" dirty="0"/>
              <a:t>Ví dụ: tạo khuôn mặt người chưa từng tồn tại. </a:t>
            </a:r>
          </a:p>
          <a:p>
            <a:r>
              <a:rPr lang="vi-VN" b="1" dirty="0"/>
              <a:t>Discriminator (Bộ phân biệt)</a:t>
            </a:r>
            <a:r>
              <a:rPr lang="vi-VN" dirty="0"/>
              <a:t> </a:t>
            </a:r>
          </a:p>
          <a:p>
            <a:pPr lvl="1"/>
            <a:r>
              <a:rPr lang="vi-VN" dirty="0"/>
              <a:t>Nhiệm vụ: phân biệt dữ liệu là thật hay giả. </a:t>
            </a:r>
          </a:p>
          <a:p>
            <a:pPr lvl="1"/>
            <a:r>
              <a:rPr lang="vi-VN" dirty="0"/>
              <a:t>Đầu vào gồm: </a:t>
            </a:r>
          </a:p>
          <a:p>
            <a:pPr lvl="2"/>
            <a:r>
              <a:rPr lang="vi-VN" dirty="0"/>
              <a:t>Dữ liệu thật từ tập huấn luyện. </a:t>
            </a:r>
          </a:p>
          <a:p>
            <a:pPr lvl="2"/>
            <a:r>
              <a:rPr lang="vi-VN" dirty="0"/>
              <a:t>Dữ liệu giả do Generator tạo ra. </a:t>
            </a:r>
          </a:p>
          <a:p>
            <a:r>
              <a:rPr lang="vi-VN" dirty="0"/>
              <a:t>Hai mạng được huấn luyện đồng thời:</a:t>
            </a:r>
          </a:p>
          <a:p>
            <a:r>
              <a:rPr lang="vi-VN" dirty="0"/>
              <a:t>Generator cố gắng đánh lừa Discriminator. </a:t>
            </a:r>
          </a:p>
          <a:p>
            <a:r>
              <a:rPr lang="vi-VN" dirty="0"/>
              <a:t>Discriminator cố gắng phát hiện dữ liệu giả. </a:t>
            </a:r>
          </a:p>
          <a:p>
            <a:r>
              <a:rPr lang="vi-VN" dirty="0"/>
              <a:t>Quá trình này giống như một trò chơi giữa </a:t>
            </a:r>
            <a:r>
              <a:rPr lang="vi-VN" b="1" dirty="0"/>
              <a:t>người làm tiền giả</a:t>
            </a:r>
            <a:r>
              <a:rPr lang="vi-VN" dirty="0"/>
              <a:t> và </a:t>
            </a:r>
            <a:r>
              <a:rPr lang="vi-VN" b="1" dirty="0"/>
              <a:t>cảnh sát chống tiền giả</a:t>
            </a:r>
            <a:r>
              <a:rPr lang="vi-VN" dirty="0"/>
              <a:t>.</a:t>
            </a:r>
            <a:endParaRPr lang="en-US" dirty="0"/>
          </a:p>
          <a:p>
            <a:endParaRPr lang="en-US" dirty="0"/>
          </a:p>
          <a:p>
            <a:r>
              <a:rPr lang="en-US" b="1" dirty="0"/>
              <a:t>2. </a:t>
            </a:r>
            <a:r>
              <a:rPr lang="vi-VN" b="1" dirty="0"/>
              <a:t>Variational Autoencoder (VAE)</a:t>
            </a:r>
            <a:r>
              <a:rPr lang="vi-VN" dirty="0"/>
              <a:t> là một </a:t>
            </a:r>
            <a:r>
              <a:rPr lang="vi-VN" b="1" dirty="0"/>
              <a:t>mô hình AI tạo sinh (Generative Model)</a:t>
            </a:r>
            <a:r>
              <a:rPr lang="vi-VN" dirty="0"/>
              <a:t> có khả năng học cách biểu diễn dữ liệu trong một </a:t>
            </a:r>
            <a:r>
              <a:rPr lang="vi-VN" b="1" dirty="0"/>
              <a:t>không gian tiềm ẩn (latent space)</a:t>
            </a:r>
            <a:r>
              <a:rPr lang="vi-VN" dirty="0"/>
              <a:t> và từ đó </a:t>
            </a:r>
            <a:r>
              <a:rPr lang="vi-VN" b="1" dirty="0"/>
              <a:t>tạo ra dữ liệu mới</a:t>
            </a:r>
            <a:r>
              <a:rPr lang="vi-VN" dirty="0"/>
              <a:t> tương tự dữ liệu huấn luyện.</a:t>
            </a:r>
          </a:p>
          <a:p>
            <a:r>
              <a:rPr lang="vi-VN" dirty="0"/>
              <a:t>Khác với Autoencoder thông thường chỉ nén và tái tạo dữ liệu, VAE biểu diễn mỗi mẫu dưới dạng </a:t>
            </a:r>
            <a:r>
              <a:rPr lang="vi-VN" b="1" dirty="0"/>
              <a:t>một phân phối xác suất</a:t>
            </a:r>
            <a:r>
              <a:rPr lang="vi-VN" dirty="0"/>
              <a:t> (thông qua giá trị trung bình </a:t>
            </a:r>
            <a:r>
              <a:rPr lang="el-GR" dirty="0"/>
              <a:t>μ </a:t>
            </a:r>
            <a:r>
              <a:rPr lang="vi-VN" dirty="0"/>
              <a:t>và độ lệch chuẩn </a:t>
            </a:r>
            <a:r>
              <a:rPr lang="el-GR" dirty="0"/>
              <a:t>σ). </a:t>
            </a:r>
            <a:r>
              <a:rPr lang="vi-VN" dirty="0"/>
              <a:t>Sau đó, mô hình lấy mẫu từ phân phối này để sinh dữ liệu mới.</a:t>
            </a:r>
          </a:p>
          <a:p>
            <a:r>
              <a:rPr lang="vi-VN" b="1" dirty="0"/>
              <a:t>Ví dụ:</a:t>
            </a:r>
            <a:r>
              <a:rPr lang="vi-VN" dirty="0"/>
              <a:t> Sau khi học từ hàng nghìn ảnh khuôn mặt, VAE có thể tạo ra một khuôn mặt hoàn toàn mới nhưng vẫn mang các đặc điểm giống dữ liệu gốc.</a:t>
            </a:r>
          </a:p>
          <a:p>
            <a:r>
              <a:rPr lang="vi-VN" b="1" dirty="0"/>
              <a:t>Ưu điểm:</a:t>
            </a:r>
            <a:endParaRPr lang="vi-VN" dirty="0"/>
          </a:p>
          <a:p>
            <a:r>
              <a:rPr lang="vi-VN" dirty="0"/>
              <a:t>Huấn luyện ổn định. </a:t>
            </a:r>
          </a:p>
          <a:p>
            <a:r>
              <a:rPr lang="vi-VN" dirty="0"/>
              <a:t>Dễ sinh dữ liệu mới. </a:t>
            </a:r>
          </a:p>
          <a:p>
            <a:r>
              <a:rPr lang="vi-VN" dirty="0"/>
              <a:t>Không gian tiềm ẩn có cấu trúc rõ ràng. </a:t>
            </a:r>
          </a:p>
          <a:p>
            <a:r>
              <a:rPr lang="vi-VN" b="1" dirty="0"/>
              <a:t>Nhược điểm:</a:t>
            </a:r>
            <a:endParaRPr lang="vi-VN" dirty="0"/>
          </a:p>
          <a:p>
            <a:r>
              <a:rPr lang="vi-VN" dirty="0"/>
              <a:t>Dữ liệu sinh ra thường kém sắc nét hơn so với GAN. </a:t>
            </a:r>
          </a:p>
          <a:p>
            <a:r>
              <a:rPr lang="vi-VN" b="1" dirty="0"/>
              <a:t>Tóm lại:</a:t>
            </a:r>
            <a:r>
              <a:rPr lang="vi-VN" dirty="0"/>
              <a:t> VAE là mô hình tạo sinh dựa trên xác suất, học cách biểu diễn dữ liệu trong không gian tiềm ẩn để có thể tạo ra các mẫu dữ liệu mới tương tự dữ liệu huấn luyện.</a:t>
            </a:r>
          </a:p>
          <a:p>
            <a:endParaRPr lang="en-US" dirty="0"/>
          </a:p>
          <a:p>
            <a:r>
              <a:rPr lang="en-US" dirty="0"/>
              <a:t>3. </a:t>
            </a:r>
            <a:r>
              <a:rPr lang="vi-VN" b="1" dirty="0"/>
              <a:t>Mô hình khuếch tán (Diffusion Model)</a:t>
            </a:r>
            <a:r>
              <a:rPr lang="vi-VN" dirty="0"/>
              <a:t> là một </a:t>
            </a:r>
            <a:r>
              <a:rPr lang="vi-VN" b="1" dirty="0"/>
              <a:t>mô hình AI tạo sinh (Generative Model)</a:t>
            </a:r>
            <a:r>
              <a:rPr lang="vi-VN" dirty="0"/>
              <a:t> tạo dữ liệu mới bằng cách </a:t>
            </a:r>
            <a:r>
              <a:rPr lang="vi-VN" b="1" dirty="0"/>
              <a:t>học quá trình khử nhiễu (denoising)</a:t>
            </a:r>
            <a:r>
              <a:rPr lang="vi-VN" dirty="0"/>
              <a:t>.</a:t>
            </a:r>
          </a:p>
          <a:p>
            <a:r>
              <a:rPr lang="vi-VN" dirty="0"/>
              <a:t>Ý tưởng của mô hình gồm hai giai đoạn:</a:t>
            </a:r>
          </a:p>
          <a:p>
            <a:r>
              <a:rPr lang="vi-VN" b="1" dirty="0"/>
              <a:t>Khuếch tán (Forward Process):</a:t>
            </a:r>
            <a:r>
              <a:rPr lang="vi-VN" dirty="0"/>
              <a:t> Thêm nhiễu ngẫu nhiên vào dữ liệu thật từng bước cho đến khi dữ liệu trở thành nhiễu hoàn toàn. </a:t>
            </a:r>
          </a:p>
          <a:p>
            <a:r>
              <a:rPr lang="vi-VN" b="1" dirty="0"/>
              <a:t>Khử nhiễu (Reverse Process):</a:t>
            </a:r>
            <a:r>
              <a:rPr lang="vi-VN" dirty="0"/>
              <a:t> Học cách loại bỏ nhiễu từng bước để khôi phục và tạo ra dữ liệu mới từ nhiễu. </a:t>
            </a:r>
          </a:p>
          <a:p>
            <a:r>
              <a:rPr lang="vi-VN" b="1" dirty="0"/>
              <a:t>Ví dụ:</a:t>
            </a:r>
            <a:r>
              <a:rPr lang="vi-VN" dirty="0"/>
              <a:t> Bắt đầu từ một ảnh chỉ gồm các điểm nhiễu ngẫu nhiên, mô hình dần dần khử nhiễu để tạo thành một bức ảnh chân thực của người, phong cảnh hoặc đồ vật.</a:t>
            </a:r>
          </a:p>
          <a:p>
            <a:r>
              <a:rPr lang="vi-VN" b="1" dirty="0"/>
              <a:t>Ưu điểm:</a:t>
            </a:r>
            <a:endParaRPr lang="vi-VN" dirty="0"/>
          </a:p>
          <a:p>
            <a:r>
              <a:rPr lang="vi-VN" dirty="0"/>
              <a:t>Chất lượng ảnh rất cao, sắc nét và đa dạng. </a:t>
            </a:r>
          </a:p>
          <a:p>
            <a:r>
              <a:rPr lang="vi-VN" dirty="0"/>
              <a:t>Huấn luyện ổn định hơn GAN. </a:t>
            </a:r>
          </a:p>
          <a:p>
            <a:r>
              <a:rPr lang="vi-VN" dirty="0"/>
              <a:t>Ít gặp hiện tượng </a:t>
            </a:r>
            <a:r>
              <a:rPr lang="vi-VN" i="1" dirty="0"/>
              <a:t>mode collapse</a:t>
            </a:r>
            <a:r>
              <a:rPr lang="vi-VN" dirty="0"/>
              <a:t>. </a:t>
            </a:r>
          </a:p>
          <a:p>
            <a:r>
              <a:rPr lang="vi-VN" b="1" dirty="0"/>
              <a:t>Nhược điểm:</a:t>
            </a:r>
            <a:endParaRPr lang="vi-VN" dirty="0"/>
          </a:p>
          <a:p>
            <a:r>
              <a:rPr lang="vi-VN" dirty="0"/>
              <a:t>Quá trình sinh dữ liệu chậm hơn vì phải thực hiện nhiều bước khử nhiễu. </a:t>
            </a:r>
          </a:p>
          <a:p>
            <a:r>
              <a:rPr lang="vi-VN" dirty="0"/>
              <a:t>Đòi hỏi tài nguyên tính toán lớn. </a:t>
            </a:r>
          </a:p>
          <a:p>
            <a:r>
              <a:rPr lang="vi-VN" b="1" dirty="0"/>
              <a:t>Tóm lại:</a:t>
            </a:r>
            <a:r>
              <a:rPr lang="vi-VN" dirty="0"/>
              <a:t> Mô hình khuếch tán là mô hình tạo sinh học cách </a:t>
            </a:r>
            <a:r>
              <a:rPr lang="vi-VN" b="1" dirty="0"/>
              <a:t>khử nhiễu từng bước</a:t>
            </a:r>
            <a:r>
              <a:rPr lang="vi-VN" dirty="0"/>
              <a:t>, bắt đầu từ nhiễu ngẫu nhiên để tạo ra dữ liệu mới có chất lượng rất cao. Đây là nền tảng của nhiều hệ thống tạo ảnh hiện đại như </a:t>
            </a:r>
            <a:r>
              <a:rPr lang="vi-VN" b="1" dirty="0"/>
              <a:t>Stable Diffusion</a:t>
            </a:r>
            <a:r>
              <a:rPr lang="vi-VN" dirty="0"/>
              <a:t> và các mô hình tạo ảnh tiên tiến khác.</a:t>
            </a:r>
          </a:p>
          <a:p>
            <a:endParaRPr lang="vi-VN" dirty="0"/>
          </a:p>
          <a:p>
            <a:endParaRPr dirty="0"/>
          </a:p>
        </p:txBody>
      </p:sp>
      <p:sp>
        <p:nvSpPr>
          <p:cNvPr id="108" name="Google Shape;108;p3:notes">
            <a:extLst>
              <a:ext uri="{FF2B5EF4-FFF2-40B4-BE49-F238E27FC236}">
                <a16:creationId xmlns:a16="http://schemas.microsoft.com/office/drawing/2014/main" id="{EB87A4F0-B7DC-D8A9-0CA1-8D7CB81A068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936344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AB8A8D08-2DB6-D7F5-2532-1056087353AA}"/>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E6ABCE57-759E-86D4-42F5-5E2C89CC5EF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endParaRPr dirty="0"/>
          </a:p>
        </p:txBody>
      </p:sp>
      <p:sp>
        <p:nvSpPr>
          <p:cNvPr id="108" name="Google Shape;108;p3:notes">
            <a:extLst>
              <a:ext uri="{FF2B5EF4-FFF2-40B4-BE49-F238E27FC236}">
                <a16:creationId xmlns:a16="http://schemas.microsoft.com/office/drawing/2014/main" id="{B98DE1BA-8472-7DA0-77CD-E7BC840F87F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448104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5B7B63F8-325B-069F-F305-19582E7E836C}"/>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EA39017C-8B3C-7D45-F37D-9CD29C77586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endParaRPr dirty="0"/>
          </a:p>
        </p:txBody>
      </p:sp>
      <p:sp>
        <p:nvSpPr>
          <p:cNvPr id="108" name="Google Shape;108;p3:notes">
            <a:extLst>
              <a:ext uri="{FF2B5EF4-FFF2-40B4-BE49-F238E27FC236}">
                <a16:creationId xmlns:a16="http://schemas.microsoft.com/office/drawing/2014/main" id="{7CF32539-AC1B-6FF7-E875-511D38B1681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122244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AACDFF9A-005E-F24C-C868-70DA3470DEC1}"/>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205FE435-7E0B-A621-3A53-1277DE46809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vi-VN" dirty="0"/>
              <a:t>Một sinh viên CNTT được giao viết chương trình quản lý sinh viên.</a:t>
            </a:r>
          </a:p>
          <a:p>
            <a:r>
              <a:rPr lang="vi-VN" dirty="0"/>
              <a:t>Nhiệm vụ:</a:t>
            </a:r>
          </a:p>
          <a:p>
            <a:r>
              <a:rPr lang="vi-VN" dirty="0"/>
              <a:t>Viết chương trình </a:t>
            </a:r>
          </a:p>
          <a:p>
            <a:r>
              <a:rPr lang="vi-VN" dirty="0"/>
              <a:t>Sinh test </a:t>
            </a:r>
          </a:p>
          <a:p>
            <a:r>
              <a:rPr lang="vi-VN" dirty="0"/>
              <a:t>Viết tài liệu </a:t>
            </a:r>
          </a:p>
          <a:p>
            <a:r>
              <a:rPr lang="vi-VN" dirty="0"/>
              <a:t>Debug lỗi </a:t>
            </a:r>
          </a:p>
          <a:p>
            <a:r>
              <a:rPr lang="vi-VN" dirty="0"/>
              <a:t>Giảng viên hỏi:</a:t>
            </a:r>
          </a:p>
          <a:p>
            <a:r>
              <a:rPr lang="vi-VN" dirty="0"/>
              <a:t>Nếu phải làm tất cả bằng tay thì mất bao lâu?</a:t>
            </a:r>
          </a:p>
          <a:p>
            <a:r>
              <a:rPr lang="vi-VN" dirty="0"/>
              <a:t>Sau đó đặt vấn đề</a:t>
            </a:r>
          </a:p>
          <a:p>
            <a:r>
              <a:rPr lang="vi-VN" dirty="0"/>
              <a:t>Liệu AI có thể hỗ trợ?</a:t>
            </a:r>
          </a:p>
          <a:p>
            <a:r>
              <a:rPr lang="vi-VN" dirty="0"/>
              <a:t>Đây chính là động cơ học.</a:t>
            </a:r>
          </a:p>
          <a:p>
            <a:endParaRPr dirty="0"/>
          </a:p>
        </p:txBody>
      </p:sp>
      <p:sp>
        <p:nvSpPr>
          <p:cNvPr id="108" name="Google Shape;108;p3:notes">
            <a:extLst>
              <a:ext uri="{FF2B5EF4-FFF2-40B4-BE49-F238E27FC236}">
                <a16:creationId xmlns:a16="http://schemas.microsoft.com/office/drawing/2014/main" id="{BB75E176-8D4C-4B34-69BC-0D8472A00B5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503696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D128F0DA-A332-5B71-7C2B-E60336BD6E27}"/>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928DE03F-60AE-C7E1-D0A6-25244606C15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endParaRPr dirty="0"/>
          </a:p>
        </p:txBody>
      </p:sp>
      <p:sp>
        <p:nvSpPr>
          <p:cNvPr id="108" name="Google Shape;108;p3:notes">
            <a:extLst>
              <a:ext uri="{FF2B5EF4-FFF2-40B4-BE49-F238E27FC236}">
                <a16:creationId xmlns:a16="http://schemas.microsoft.com/office/drawing/2014/main" id="{9D02C359-332C-D45F-1C99-46FADDC25A0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821396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0B2F3EA5-CB70-8806-6E4C-3D0E37B5BA21}"/>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A06A3953-7CCE-7BF9-715B-5159FCE251B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endParaRPr dirty="0"/>
          </a:p>
        </p:txBody>
      </p:sp>
      <p:sp>
        <p:nvSpPr>
          <p:cNvPr id="108" name="Google Shape;108;p3:notes">
            <a:extLst>
              <a:ext uri="{FF2B5EF4-FFF2-40B4-BE49-F238E27FC236}">
                <a16:creationId xmlns:a16="http://schemas.microsoft.com/office/drawing/2014/main" id="{FD5352B0-373F-1917-676D-FB6458A73C1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180883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6BC3AD8A-15B9-6BA9-24B7-385211016D25}"/>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D4839096-EF43-2195-E770-463937E2119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endParaRPr dirty="0"/>
          </a:p>
        </p:txBody>
      </p:sp>
      <p:sp>
        <p:nvSpPr>
          <p:cNvPr id="108" name="Google Shape;108;p3:notes">
            <a:extLst>
              <a:ext uri="{FF2B5EF4-FFF2-40B4-BE49-F238E27FC236}">
                <a16:creationId xmlns:a16="http://schemas.microsoft.com/office/drawing/2014/main" id="{537B6B75-7BBC-F0F1-CEFD-ED293447C6B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166236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27613238-5C05-243D-BD06-68C18073A292}"/>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F211E018-49D6-C2D2-7488-30CB4CDABEB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endParaRPr dirty="0"/>
          </a:p>
        </p:txBody>
      </p:sp>
      <p:sp>
        <p:nvSpPr>
          <p:cNvPr id="108" name="Google Shape;108;p3:notes">
            <a:extLst>
              <a:ext uri="{FF2B5EF4-FFF2-40B4-BE49-F238E27FC236}">
                <a16:creationId xmlns:a16="http://schemas.microsoft.com/office/drawing/2014/main" id="{B8086930-EA3B-6448-D74C-7D57CD836D0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006241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87F16868-99D8-BFC7-A70A-5E86B5337FB4}"/>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12A39B68-7D03-FCA3-6F58-DE99FBDDE7C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endParaRPr dirty="0"/>
          </a:p>
        </p:txBody>
      </p:sp>
      <p:sp>
        <p:nvSpPr>
          <p:cNvPr id="108" name="Google Shape;108;p3:notes">
            <a:extLst>
              <a:ext uri="{FF2B5EF4-FFF2-40B4-BE49-F238E27FC236}">
                <a16:creationId xmlns:a16="http://schemas.microsoft.com/office/drawing/2014/main" id="{1AA4CB2D-0C32-E32B-E7BD-22462A552D8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00781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BBC21005-B923-C143-626D-857906404C40}"/>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05DC4406-066A-123A-CB0A-C83C1BC0296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endParaRPr dirty="0"/>
          </a:p>
        </p:txBody>
      </p:sp>
      <p:sp>
        <p:nvSpPr>
          <p:cNvPr id="108" name="Google Shape;108;p3:notes">
            <a:extLst>
              <a:ext uri="{FF2B5EF4-FFF2-40B4-BE49-F238E27FC236}">
                <a16:creationId xmlns:a16="http://schemas.microsoft.com/office/drawing/2014/main" id="{9A4F897A-977A-B4B9-6CF2-6FA21C135FD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846988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1D17D890-86F6-0811-1E97-2ED91F320E5D}"/>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EA616EE7-DD16-7FF4-0B0D-6F7B9FEA70C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endParaRPr dirty="0"/>
          </a:p>
        </p:txBody>
      </p:sp>
      <p:sp>
        <p:nvSpPr>
          <p:cNvPr id="108" name="Google Shape;108;p3:notes">
            <a:extLst>
              <a:ext uri="{FF2B5EF4-FFF2-40B4-BE49-F238E27FC236}">
                <a16:creationId xmlns:a16="http://schemas.microsoft.com/office/drawing/2014/main" id="{723B2511-4305-08BB-CF29-AA773942727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586507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7EA961B1-D1CA-04AA-3FF4-E1EF9B77401A}"/>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0EA0603F-841C-2FA0-C1B5-D21A38F93E8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endParaRPr dirty="0"/>
          </a:p>
        </p:txBody>
      </p:sp>
      <p:sp>
        <p:nvSpPr>
          <p:cNvPr id="108" name="Google Shape;108;p3:notes">
            <a:extLst>
              <a:ext uri="{FF2B5EF4-FFF2-40B4-BE49-F238E27FC236}">
                <a16:creationId xmlns:a16="http://schemas.microsoft.com/office/drawing/2014/main" id="{F86CDF93-96D5-92F9-360A-CFD4EE4D964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676880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149D42CF-DA12-54D9-B85A-C314767744AE}"/>
            </a:ext>
          </a:extLst>
        </p:cNvPr>
        <p:cNvGrpSpPr/>
        <p:nvPr/>
      </p:nvGrpSpPr>
      <p:grpSpPr>
        <a:xfrm>
          <a:off x="0" y="0"/>
          <a:ext cx="0" cy="0"/>
          <a:chOff x="0" y="0"/>
          <a:chExt cx="0" cy="0"/>
        </a:xfrm>
      </p:grpSpPr>
      <p:sp>
        <p:nvSpPr>
          <p:cNvPr id="107" name="Google Shape;107;p3:notes">
            <a:extLst>
              <a:ext uri="{FF2B5EF4-FFF2-40B4-BE49-F238E27FC236}">
                <a16:creationId xmlns:a16="http://schemas.microsoft.com/office/drawing/2014/main" id="{4DA802B4-F31E-12C1-A8C6-D78AFA222FD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endParaRPr dirty="0"/>
          </a:p>
        </p:txBody>
      </p:sp>
      <p:sp>
        <p:nvSpPr>
          <p:cNvPr id="108" name="Google Shape;108;p3:notes">
            <a:extLst>
              <a:ext uri="{FF2B5EF4-FFF2-40B4-BE49-F238E27FC236}">
                <a16:creationId xmlns:a16="http://schemas.microsoft.com/office/drawing/2014/main" id="{01C898AB-4C3A-C1AB-3739-A309B942B7F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01833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9" name="Rectangle 8"/>
          <p:cNvSpPr/>
          <p:nvPr/>
        </p:nvSpPr>
        <p:spPr>
          <a:xfrm>
            <a:off x="0" y="6499654"/>
            <a:ext cx="12192000" cy="358346"/>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2" descr="Logo Trường Đại học Công nghệ Thông tin và Truyền thông – [ICTU]">
            <a:extLst>
              <a:ext uri="{FF2B5EF4-FFF2-40B4-BE49-F238E27FC236}">
                <a16:creationId xmlns:a16="http://schemas.microsoft.com/office/drawing/2014/main" id="{435F1C53-4A3C-39C6-424B-C23DE333BE6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3662" y="220486"/>
            <a:ext cx="923829" cy="879894"/>
          </a:xfrm>
          <a:prstGeom prst="rect">
            <a:avLst/>
          </a:prstGeom>
          <a:noFill/>
          <a:effectLst>
            <a:outerShdw blurRad="50800" dist="38100" algn="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65903" y="6499654"/>
            <a:ext cx="7669427" cy="646331"/>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solidFill>
                  <a:srgbClr val="FFFF00"/>
                </a:solidFill>
                <a:latin typeface="Times New Roman" panose="02020603050405020304" pitchFamily="18" charset="0"/>
                <a:cs typeface="Times New Roman" panose="02020603050405020304" pitchFamily="18" charset="0"/>
              </a:rPr>
              <a:t>Thai Nguyen University of Information and Communication Technology</a:t>
            </a:r>
          </a:p>
          <a:p>
            <a:endParaRPr lang="en-US" dirty="0"/>
          </a:p>
        </p:txBody>
      </p:sp>
      <p:cxnSp>
        <p:nvCxnSpPr>
          <p:cNvPr id="21" name="Straight Connector 20"/>
          <p:cNvCxnSpPr/>
          <p:nvPr/>
        </p:nvCxnSpPr>
        <p:spPr>
          <a:xfrm>
            <a:off x="1507524" y="889686"/>
            <a:ext cx="9803027"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767765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709F0A-DFA0-4D73-8C67-B2DA4869C18B}"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EF7B2C-8297-427A-8852-E099E0616946}" type="slidenum">
              <a:rPr lang="en-US" smtClean="0"/>
              <a:t>‹#›</a:t>
            </a:fld>
            <a:endParaRPr lang="en-US"/>
          </a:p>
        </p:txBody>
      </p:sp>
    </p:spTree>
    <p:extLst>
      <p:ext uri="{BB962C8B-B14F-4D97-AF65-F5344CB8AC3E}">
        <p14:creationId xmlns:p14="http://schemas.microsoft.com/office/powerpoint/2010/main" val="27331103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D709F0A-DFA0-4D73-8C67-B2DA4869C18B}"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EF7B2C-8297-427A-8852-E099E0616946}" type="slidenum">
              <a:rPr lang="en-US" smtClean="0"/>
              <a:t>‹#›</a:t>
            </a:fld>
            <a:endParaRPr lang="en-US"/>
          </a:p>
        </p:txBody>
      </p:sp>
    </p:spTree>
    <p:extLst>
      <p:ext uri="{BB962C8B-B14F-4D97-AF65-F5344CB8AC3E}">
        <p14:creationId xmlns:p14="http://schemas.microsoft.com/office/powerpoint/2010/main" val="21627735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D709F0A-DFA0-4D73-8C67-B2DA4869C18B}" type="datetimeFigureOut">
              <a:rPr lang="en-US" smtClean="0"/>
              <a:t>7/26/2026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EF7B2C-8297-427A-8852-E099E0616946}" type="slidenum">
              <a:rPr lang="en-US" smtClean="0"/>
              <a:t>‹#›</a:t>
            </a:fld>
            <a:endParaRPr lang="en-US"/>
          </a:p>
        </p:txBody>
      </p:sp>
    </p:spTree>
    <p:extLst>
      <p:ext uri="{BB962C8B-B14F-4D97-AF65-F5344CB8AC3E}">
        <p14:creationId xmlns:p14="http://schemas.microsoft.com/office/powerpoint/2010/main" val="26777500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D709F0A-DFA0-4D73-8C67-B2DA4869C18B}" type="datetimeFigureOut">
              <a:rPr lang="en-US" smtClean="0"/>
              <a:t>7/26/2026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5EF7B2C-8297-427A-8852-E099E0616946}" type="slidenum">
              <a:rPr lang="en-US" smtClean="0"/>
              <a:t>‹#›</a:t>
            </a:fld>
            <a:endParaRPr lang="en-US"/>
          </a:p>
        </p:txBody>
      </p:sp>
    </p:spTree>
    <p:extLst>
      <p:ext uri="{BB962C8B-B14F-4D97-AF65-F5344CB8AC3E}">
        <p14:creationId xmlns:p14="http://schemas.microsoft.com/office/powerpoint/2010/main" val="15854622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D709F0A-DFA0-4D73-8C67-B2DA4869C18B}" type="datetimeFigureOut">
              <a:rPr lang="en-US" smtClean="0"/>
              <a:t>7/26/2026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5EF7B2C-8297-427A-8852-E099E0616946}" type="slidenum">
              <a:rPr lang="en-US" smtClean="0"/>
              <a:t>‹#›</a:t>
            </a:fld>
            <a:endParaRPr lang="en-US"/>
          </a:p>
        </p:txBody>
      </p:sp>
    </p:spTree>
    <p:extLst>
      <p:ext uri="{BB962C8B-B14F-4D97-AF65-F5344CB8AC3E}">
        <p14:creationId xmlns:p14="http://schemas.microsoft.com/office/powerpoint/2010/main" val="26372397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709F0A-DFA0-4D73-8C67-B2DA4869C18B}" type="datetimeFigureOut">
              <a:rPr lang="en-US" smtClean="0"/>
              <a:t>7/26/2026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5EF7B2C-8297-427A-8852-E099E0616946}" type="slidenum">
              <a:rPr lang="en-US" smtClean="0"/>
              <a:t>‹#›</a:t>
            </a:fld>
            <a:endParaRPr lang="en-US"/>
          </a:p>
        </p:txBody>
      </p:sp>
    </p:spTree>
    <p:extLst>
      <p:ext uri="{BB962C8B-B14F-4D97-AF65-F5344CB8AC3E}">
        <p14:creationId xmlns:p14="http://schemas.microsoft.com/office/powerpoint/2010/main" val="2511805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D709F0A-DFA0-4D73-8C67-B2DA4869C18B}" type="datetimeFigureOut">
              <a:rPr lang="en-US" smtClean="0"/>
              <a:t>7/26/2026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EF7B2C-8297-427A-8852-E099E0616946}" type="slidenum">
              <a:rPr lang="en-US" smtClean="0"/>
              <a:t>‹#›</a:t>
            </a:fld>
            <a:endParaRPr lang="en-US"/>
          </a:p>
        </p:txBody>
      </p:sp>
    </p:spTree>
    <p:extLst>
      <p:ext uri="{BB962C8B-B14F-4D97-AF65-F5344CB8AC3E}">
        <p14:creationId xmlns:p14="http://schemas.microsoft.com/office/powerpoint/2010/main" val="3783018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D709F0A-DFA0-4D73-8C67-B2DA4869C18B}" type="datetimeFigureOut">
              <a:rPr lang="en-US" smtClean="0"/>
              <a:t>7/26/2026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EF7B2C-8297-427A-8852-E099E0616946}" type="slidenum">
              <a:rPr lang="en-US" smtClean="0"/>
              <a:t>‹#›</a:t>
            </a:fld>
            <a:endParaRPr lang="en-US"/>
          </a:p>
        </p:txBody>
      </p:sp>
    </p:spTree>
    <p:extLst>
      <p:ext uri="{BB962C8B-B14F-4D97-AF65-F5344CB8AC3E}">
        <p14:creationId xmlns:p14="http://schemas.microsoft.com/office/powerpoint/2010/main" val="17896213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709F0A-DFA0-4D73-8C67-B2DA4869C18B}"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EF7B2C-8297-427A-8852-E099E0616946}" type="slidenum">
              <a:rPr lang="en-US" smtClean="0"/>
              <a:t>‹#›</a:t>
            </a:fld>
            <a:endParaRPr lang="en-US"/>
          </a:p>
        </p:txBody>
      </p:sp>
    </p:spTree>
    <p:extLst>
      <p:ext uri="{BB962C8B-B14F-4D97-AF65-F5344CB8AC3E}">
        <p14:creationId xmlns:p14="http://schemas.microsoft.com/office/powerpoint/2010/main" val="186704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709F0A-DFA0-4D73-8C67-B2DA4869C18B}" type="datetimeFigureOut">
              <a:rPr lang="en-US" smtClean="0"/>
              <a:t>7/26/2026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EF7B2C-8297-427A-8852-E099E0616946}" type="slidenum">
              <a:rPr lang="en-US" smtClean="0"/>
              <a:t>‹#›</a:t>
            </a:fld>
            <a:endParaRPr lang="en-US"/>
          </a:p>
        </p:txBody>
      </p:sp>
    </p:spTree>
    <p:extLst>
      <p:ext uri="{BB962C8B-B14F-4D97-AF65-F5344CB8AC3E}">
        <p14:creationId xmlns:p14="http://schemas.microsoft.com/office/powerpoint/2010/main" val="5703972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709F0A-DFA0-4D73-8C67-B2DA4869C18B}" type="datetimeFigureOut">
              <a:rPr lang="en-US" smtClean="0"/>
              <a:t>7/26/2026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EF7B2C-8297-427A-8852-E099E0616946}" type="slidenum">
              <a:rPr lang="en-US" smtClean="0"/>
              <a:t>‹#›</a:t>
            </a:fld>
            <a:endParaRPr lang="en-US"/>
          </a:p>
        </p:txBody>
      </p:sp>
    </p:spTree>
    <p:extLst>
      <p:ext uri="{BB962C8B-B14F-4D97-AF65-F5344CB8AC3E}">
        <p14:creationId xmlns:p14="http://schemas.microsoft.com/office/powerpoint/2010/main" val="2828897349"/>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5A99590-6D45-3B0F-2C6A-48DD24CAE2F0}"/>
              </a:ext>
            </a:extLst>
          </p:cNvPr>
          <p:cNvSpPr txBox="1"/>
          <p:nvPr/>
        </p:nvSpPr>
        <p:spPr>
          <a:xfrm>
            <a:off x="0" y="584791"/>
            <a:ext cx="12192000" cy="707886"/>
          </a:xfrm>
          <a:prstGeom prst="rect">
            <a:avLst/>
          </a:prstGeom>
          <a:noFill/>
        </p:spPr>
        <p:txBody>
          <a:bodyPr wrap="square" rtlCol="0">
            <a:spAutoFit/>
          </a:bodyPr>
          <a:lstStyle/>
          <a:p>
            <a:pPr algn="ctr"/>
            <a:r>
              <a:rPr lang="en-US" sz="2000" dirty="0">
                <a:solidFill>
                  <a:srgbClr val="0066FF"/>
                </a:solidFill>
                <a:latin typeface="Times New Roman" panose="02020603050405020304" pitchFamily="18" charset="0"/>
                <a:cs typeface="Times New Roman" panose="02020603050405020304" pitchFamily="18" charset="0"/>
              </a:rPr>
              <a:t>TRƯỜNG ĐẠI HỌC CÔNG NGHỆ THÔNG TIN VÀ TRUYỀN THÔNG</a:t>
            </a:r>
          </a:p>
          <a:p>
            <a:pPr algn="ctr"/>
            <a:r>
              <a:rPr lang="en-US" sz="2000" b="1" dirty="0">
                <a:latin typeface="Times New Roman" panose="02020603050405020304" pitchFamily="18" charset="0"/>
                <a:cs typeface="Times New Roman" panose="02020603050405020304" pitchFamily="18" charset="0"/>
              </a:rPr>
              <a:t>KHOA CÔNG NGHỆ THÔNG TIN</a:t>
            </a:r>
          </a:p>
        </p:txBody>
      </p:sp>
      <p:sp>
        <p:nvSpPr>
          <p:cNvPr id="3" name="TextBox 2">
            <a:extLst>
              <a:ext uri="{FF2B5EF4-FFF2-40B4-BE49-F238E27FC236}">
                <a16:creationId xmlns:a16="http://schemas.microsoft.com/office/drawing/2014/main" id="{BD2E7C2C-B344-59B8-4EF0-287227F69043}"/>
              </a:ext>
            </a:extLst>
          </p:cNvPr>
          <p:cNvSpPr txBox="1"/>
          <p:nvPr/>
        </p:nvSpPr>
        <p:spPr>
          <a:xfrm>
            <a:off x="263410" y="2411992"/>
            <a:ext cx="12192000" cy="1323439"/>
          </a:xfrm>
          <a:prstGeom prst="rect">
            <a:avLst/>
          </a:prstGeom>
          <a:noFill/>
        </p:spPr>
        <p:txBody>
          <a:bodyPr wrap="square" rtlCol="0">
            <a:spAutoFit/>
          </a:bodyPr>
          <a:lstStyle/>
          <a:p>
            <a:pPr algn="ctr"/>
            <a:r>
              <a:rPr lang="en-US" sz="4000" b="1" dirty="0">
                <a:solidFill>
                  <a:srgbClr val="FF0000"/>
                </a:solidFill>
                <a:latin typeface="Times New Roman" panose="02020603050405020304" pitchFamily="18" charset="0"/>
                <a:cs typeface="Times New Roman" panose="02020603050405020304" pitchFamily="18" charset="0"/>
              </a:rPr>
              <a:t>ỨNG DỤNG TRÍ TUỆ NHÂN TẠO </a:t>
            </a:r>
          </a:p>
          <a:p>
            <a:pPr algn="ctr"/>
            <a:endParaRPr lang="en-US" sz="4000" b="1" dirty="0">
              <a:solidFill>
                <a:schemeClr val="accent6">
                  <a:lumMod val="75000"/>
                </a:schemeClr>
              </a:solidFill>
              <a:latin typeface="Times New Roman" panose="02020603050405020304" pitchFamily="18" charset="0"/>
              <a:cs typeface="Times New Roman" panose="02020603050405020304" pitchFamily="18" charset="0"/>
            </a:endParaRPr>
          </a:p>
        </p:txBody>
      </p:sp>
      <p:cxnSp>
        <p:nvCxnSpPr>
          <p:cNvPr id="4" name="Straight Connector 3">
            <a:extLst>
              <a:ext uri="{FF2B5EF4-FFF2-40B4-BE49-F238E27FC236}">
                <a16:creationId xmlns:a16="http://schemas.microsoft.com/office/drawing/2014/main" id="{BBFD57D0-5416-E196-5082-7382278F6AC7}"/>
              </a:ext>
            </a:extLst>
          </p:cNvPr>
          <p:cNvCxnSpPr/>
          <p:nvPr/>
        </p:nvCxnSpPr>
        <p:spPr>
          <a:xfrm>
            <a:off x="4593261" y="1239512"/>
            <a:ext cx="3072809" cy="0"/>
          </a:xfrm>
          <a:prstGeom prst="line">
            <a:avLst/>
          </a:prstGeom>
        </p:spPr>
        <p:style>
          <a:lnRef idx="1">
            <a:schemeClr val="dk1"/>
          </a:lnRef>
          <a:fillRef idx="0">
            <a:schemeClr val="dk1"/>
          </a:fillRef>
          <a:effectRef idx="0">
            <a:schemeClr val="dk1"/>
          </a:effectRef>
          <a:fontRef idx="minor">
            <a:schemeClr val="tx1"/>
          </a:fontRef>
        </p:style>
      </p:cxnSp>
      <p:sp>
        <p:nvSpPr>
          <p:cNvPr id="6" name="TextBox 5"/>
          <p:cNvSpPr txBox="1"/>
          <p:nvPr/>
        </p:nvSpPr>
        <p:spPr>
          <a:xfrm>
            <a:off x="880829" y="3735431"/>
            <a:ext cx="10497671" cy="584775"/>
          </a:xfrm>
          <a:prstGeom prst="rect">
            <a:avLst/>
          </a:prstGeom>
          <a:noFill/>
        </p:spPr>
        <p:txBody>
          <a:bodyPr wrap="square" rtlCol="0">
            <a:spAutoFit/>
          </a:bodyPr>
          <a:lstStyle/>
          <a:p>
            <a:pPr algn="ctr"/>
            <a:r>
              <a:rPr lang="en-US" sz="3200" dirty="0" err="1">
                <a:latin typeface="Times New Roman" panose="02020603050405020304" pitchFamily="18" charset="0"/>
                <a:cs typeface="Times New Roman" panose="02020603050405020304" pitchFamily="18" charset="0"/>
              </a:rPr>
              <a:t>Bài</a:t>
            </a:r>
            <a:r>
              <a:rPr lang="en-US" sz="3200" dirty="0">
                <a:latin typeface="Times New Roman" panose="02020603050405020304" pitchFamily="18" charset="0"/>
                <a:cs typeface="Times New Roman" panose="02020603050405020304" pitchFamily="18" charset="0"/>
              </a:rPr>
              <a:t> 1: </a:t>
            </a:r>
            <a:r>
              <a:rPr lang="en-US" sz="3200" dirty="0" err="1">
                <a:latin typeface="Times New Roman" panose="02020603050405020304" pitchFamily="18" charset="0"/>
                <a:cs typeface="Times New Roman" panose="02020603050405020304" pitchFamily="18" charset="0"/>
              </a:rPr>
              <a:t>Tổng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quan</a:t>
            </a:r>
            <a:r>
              <a:rPr lang="en-US" sz="3200" dirty="0">
                <a:latin typeface="Times New Roman" panose="02020603050405020304" pitchFamily="18" charset="0"/>
                <a:cs typeface="Times New Roman" panose="02020603050405020304" pitchFamily="18" charset="0"/>
              </a:rPr>
              <a:t> AI </a:t>
            </a:r>
            <a:r>
              <a:rPr lang="en-US" sz="3200" dirty="0" err="1">
                <a:latin typeface="Times New Roman" panose="02020603050405020304" pitchFamily="18" charset="0"/>
                <a:cs typeface="Times New Roman" panose="02020603050405020304" pitchFamily="18" charset="0"/>
              </a:rPr>
              <a:t>tạo</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sinh</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41592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27C4BB07-699B-70D2-D795-18391B1E0BAF}"/>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76117645-A356-790B-6579-EAED54D3F626}"/>
              </a:ext>
            </a:extLst>
          </p:cNvPr>
          <p:cNvSpPr/>
          <p:nvPr/>
        </p:nvSpPr>
        <p:spPr>
          <a:xfrm>
            <a:off x="346364" y="18510"/>
            <a:ext cx="11863028" cy="1268324"/>
          </a:xfrm>
          <a:prstGeom prst="rect">
            <a:avLst/>
          </a:prstGeom>
          <a:noFill/>
          <a:ln>
            <a:noFill/>
          </a:ln>
        </p:spPr>
        <p:txBody>
          <a:bodyPr spcFirstLastPara="1" wrap="square" lIns="91425" tIns="45700" rIns="91425" bIns="45700" anchor="ctr" anchorCtr="0">
            <a:noAutofit/>
          </a:bodyPr>
          <a:lstStyle/>
          <a:p>
            <a:pPr lvl="0" algn="ctr"/>
            <a:r>
              <a:rPr lang="en-US" sz="3800" b="1" dirty="0" err="1">
                <a:latin typeface="Times New Roman"/>
                <a:ea typeface="Times New Roman"/>
                <a:cs typeface="Times New Roman"/>
                <a:sym typeface="Times New Roman"/>
              </a:rPr>
              <a:t>Mối</a:t>
            </a:r>
            <a:r>
              <a:rPr lang="en-US" sz="3800" b="1" dirty="0">
                <a:latin typeface="Times New Roman"/>
                <a:ea typeface="Times New Roman"/>
                <a:cs typeface="Times New Roman"/>
                <a:sym typeface="Times New Roman"/>
              </a:rPr>
              <a:t> </a:t>
            </a:r>
            <a:r>
              <a:rPr lang="en-US" sz="3800" b="1" dirty="0" err="1">
                <a:latin typeface="Times New Roman"/>
                <a:ea typeface="Times New Roman"/>
                <a:cs typeface="Times New Roman"/>
                <a:sym typeface="Times New Roman"/>
              </a:rPr>
              <a:t>quan</a:t>
            </a:r>
            <a:r>
              <a:rPr lang="en-US" sz="3800" b="1" dirty="0">
                <a:latin typeface="Times New Roman"/>
                <a:ea typeface="Times New Roman"/>
                <a:cs typeface="Times New Roman"/>
                <a:sym typeface="Times New Roman"/>
              </a:rPr>
              <a:t> </a:t>
            </a:r>
            <a:r>
              <a:rPr lang="en-US" sz="3800" b="1" dirty="0" err="1">
                <a:latin typeface="Times New Roman"/>
                <a:ea typeface="Times New Roman"/>
                <a:cs typeface="Times New Roman"/>
                <a:sym typeface="Times New Roman"/>
              </a:rPr>
              <a:t>hệ</a:t>
            </a:r>
            <a:r>
              <a:rPr lang="en-US" sz="3800" b="1" dirty="0">
                <a:latin typeface="Times New Roman"/>
                <a:ea typeface="Times New Roman"/>
                <a:cs typeface="Times New Roman"/>
                <a:sym typeface="Times New Roman"/>
              </a:rPr>
              <a:t> </a:t>
            </a:r>
            <a:r>
              <a:rPr lang="en-US" sz="3800" b="1" dirty="0" err="1">
                <a:latin typeface="Times New Roman"/>
                <a:ea typeface="Times New Roman"/>
                <a:cs typeface="Times New Roman"/>
                <a:sym typeface="Times New Roman"/>
              </a:rPr>
              <a:t>giữa</a:t>
            </a:r>
            <a:r>
              <a:rPr lang="en-US" sz="3800" b="1" dirty="0">
                <a:latin typeface="Times New Roman"/>
                <a:ea typeface="Times New Roman"/>
                <a:cs typeface="Times New Roman"/>
                <a:sym typeface="Times New Roman"/>
              </a:rPr>
              <a:t> AI, ML </a:t>
            </a:r>
            <a:r>
              <a:rPr lang="en-US" sz="3800" b="1" dirty="0" err="1">
                <a:latin typeface="Times New Roman"/>
                <a:ea typeface="Times New Roman"/>
                <a:cs typeface="Times New Roman"/>
                <a:sym typeface="Times New Roman"/>
              </a:rPr>
              <a:t>và</a:t>
            </a:r>
            <a:r>
              <a:rPr lang="en-US" sz="3800" b="1" dirty="0">
                <a:latin typeface="Times New Roman"/>
                <a:ea typeface="Times New Roman"/>
                <a:cs typeface="Times New Roman"/>
                <a:sym typeface="Times New Roman"/>
              </a:rPr>
              <a:t> Gen AI</a:t>
            </a:r>
            <a:endParaRPr lang="vi-VN" sz="3800" b="1" dirty="0">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9A099E12-FF6A-9A2E-7AD4-6DAE90001FA5}"/>
              </a:ext>
            </a:extLst>
          </p:cNvPr>
          <p:cNvPicPr>
            <a:picLocks noChangeAspect="1"/>
          </p:cNvPicPr>
          <p:nvPr/>
        </p:nvPicPr>
        <p:blipFill>
          <a:blip r:embed="rId3"/>
          <a:stretch>
            <a:fillRect/>
          </a:stretch>
        </p:blipFill>
        <p:spPr>
          <a:xfrm>
            <a:off x="1405921" y="1042416"/>
            <a:ext cx="9380157" cy="5257800"/>
          </a:xfrm>
          <a:prstGeom prst="rect">
            <a:avLst/>
          </a:prstGeom>
        </p:spPr>
      </p:pic>
    </p:spTree>
    <p:extLst>
      <p:ext uri="{BB962C8B-B14F-4D97-AF65-F5344CB8AC3E}">
        <p14:creationId xmlns:p14="http://schemas.microsoft.com/office/powerpoint/2010/main" val="5454541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DAAE45EB-FBAC-4DAD-BC02-8D547FBEBFD8}"/>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9D6D1BAB-FAE6-1F7A-699B-B6B0263EB2C3}"/>
              </a:ext>
            </a:extLst>
          </p:cNvPr>
          <p:cNvSpPr/>
          <p:nvPr/>
        </p:nvSpPr>
        <p:spPr>
          <a:xfrm>
            <a:off x="346364" y="18510"/>
            <a:ext cx="11863028" cy="1268324"/>
          </a:xfrm>
          <a:prstGeom prst="rect">
            <a:avLst/>
          </a:prstGeom>
          <a:noFill/>
          <a:ln>
            <a:noFill/>
          </a:ln>
        </p:spPr>
        <p:txBody>
          <a:bodyPr spcFirstLastPara="1" wrap="square" lIns="91425" tIns="45700" rIns="91425" bIns="45700" anchor="ctr" anchorCtr="0">
            <a:noAutofit/>
          </a:bodyPr>
          <a:lstStyle/>
          <a:p>
            <a:pPr lvl="0" algn="ctr"/>
            <a:r>
              <a:rPr lang="en-US" sz="3800" b="1" dirty="0">
                <a:latin typeface="Times New Roman"/>
                <a:ea typeface="Times New Roman"/>
                <a:cs typeface="Times New Roman"/>
                <a:sym typeface="Times New Roman"/>
              </a:rPr>
              <a:t>Nguyên </a:t>
            </a:r>
            <a:r>
              <a:rPr lang="en-US" sz="3800" b="1" dirty="0" err="1">
                <a:latin typeface="Times New Roman"/>
                <a:ea typeface="Times New Roman"/>
                <a:cs typeface="Times New Roman"/>
                <a:sym typeface="Times New Roman"/>
              </a:rPr>
              <a:t>lý</a:t>
            </a:r>
            <a:r>
              <a:rPr lang="en-US" sz="3800" b="1" dirty="0">
                <a:latin typeface="Times New Roman"/>
                <a:ea typeface="Times New Roman"/>
                <a:cs typeface="Times New Roman"/>
                <a:sym typeface="Times New Roman"/>
              </a:rPr>
              <a:t> </a:t>
            </a:r>
            <a:r>
              <a:rPr lang="en-US" sz="3800" b="1" dirty="0" err="1">
                <a:latin typeface="Times New Roman"/>
                <a:ea typeface="Times New Roman"/>
                <a:cs typeface="Times New Roman"/>
                <a:sym typeface="Times New Roman"/>
              </a:rPr>
              <a:t>hoạt</a:t>
            </a:r>
            <a:r>
              <a:rPr lang="en-US" sz="3800" b="1" dirty="0">
                <a:latin typeface="Times New Roman"/>
                <a:ea typeface="Times New Roman"/>
                <a:cs typeface="Times New Roman"/>
                <a:sym typeface="Times New Roman"/>
              </a:rPr>
              <a:t> </a:t>
            </a:r>
            <a:r>
              <a:rPr lang="en-US" sz="3800" b="1" dirty="0" err="1">
                <a:latin typeface="Times New Roman"/>
                <a:ea typeface="Times New Roman"/>
                <a:cs typeface="Times New Roman"/>
                <a:sym typeface="Times New Roman"/>
              </a:rPr>
              <a:t>động</a:t>
            </a:r>
            <a:r>
              <a:rPr lang="en-US" sz="3800" b="1" dirty="0">
                <a:latin typeface="Times New Roman"/>
                <a:ea typeface="Times New Roman"/>
                <a:cs typeface="Times New Roman"/>
                <a:sym typeface="Times New Roman"/>
              </a:rPr>
              <a:t> </a:t>
            </a:r>
            <a:r>
              <a:rPr lang="en-US" sz="3800" b="1" dirty="0" err="1">
                <a:latin typeface="Times New Roman"/>
                <a:ea typeface="Times New Roman"/>
                <a:cs typeface="Times New Roman"/>
                <a:sym typeface="Times New Roman"/>
              </a:rPr>
              <a:t>của</a:t>
            </a:r>
            <a:r>
              <a:rPr lang="en-US" sz="3800" b="1" dirty="0">
                <a:latin typeface="Times New Roman"/>
                <a:ea typeface="Times New Roman"/>
                <a:cs typeface="Times New Roman"/>
                <a:sym typeface="Times New Roman"/>
              </a:rPr>
              <a:t> AI </a:t>
            </a:r>
            <a:r>
              <a:rPr lang="en-US" sz="3800" b="1" dirty="0" err="1">
                <a:latin typeface="Times New Roman"/>
                <a:ea typeface="Times New Roman"/>
                <a:cs typeface="Times New Roman"/>
                <a:sym typeface="Times New Roman"/>
              </a:rPr>
              <a:t>tạo</a:t>
            </a:r>
            <a:r>
              <a:rPr lang="en-US" sz="3800" b="1" dirty="0">
                <a:latin typeface="Times New Roman"/>
                <a:ea typeface="Times New Roman"/>
                <a:cs typeface="Times New Roman"/>
                <a:sym typeface="Times New Roman"/>
              </a:rPr>
              <a:t> </a:t>
            </a:r>
            <a:r>
              <a:rPr lang="en-US" sz="3800" b="1" dirty="0" err="1">
                <a:latin typeface="Times New Roman"/>
                <a:ea typeface="Times New Roman"/>
                <a:cs typeface="Times New Roman"/>
                <a:sym typeface="Times New Roman"/>
              </a:rPr>
              <a:t>sinh</a:t>
            </a:r>
            <a:endParaRPr lang="vi-VN" sz="3800" b="1" dirty="0">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6508E571-9B1D-5EE8-8169-D31B8D94FE8B}"/>
              </a:ext>
            </a:extLst>
          </p:cNvPr>
          <p:cNvPicPr>
            <a:picLocks noChangeAspect="1"/>
          </p:cNvPicPr>
          <p:nvPr/>
        </p:nvPicPr>
        <p:blipFill>
          <a:blip r:embed="rId3"/>
          <a:stretch>
            <a:fillRect/>
          </a:stretch>
        </p:blipFill>
        <p:spPr>
          <a:xfrm>
            <a:off x="1213324" y="1029408"/>
            <a:ext cx="9619048" cy="5238095"/>
          </a:xfrm>
          <a:prstGeom prst="rect">
            <a:avLst/>
          </a:prstGeom>
        </p:spPr>
      </p:pic>
    </p:spTree>
    <p:extLst>
      <p:ext uri="{BB962C8B-B14F-4D97-AF65-F5344CB8AC3E}">
        <p14:creationId xmlns:p14="http://schemas.microsoft.com/office/powerpoint/2010/main" val="3931007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DB4530D6-1DB7-6E1C-2BBC-2CDC59611BDB}"/>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98E5707A-C7C7-A98E-5856-3DCC2F93CA7E}"/>
              </a:ext>
            </a:extLst>
          </p:cNvPr>
          <p:cNvSpPr/>
          <p:nvPr/>
        </p:nvSpPr>
        <p:spPr>
          <a:xfrm>
            <a:off x="346364" y="18510"/>
            <a:ext cx="11863028" cy="1268324"/>
          </a:xfrm>
          <a:prstGeom prst="rect">
            <a:avLst/>
          </a:prstGeom>
          <a:noFill/>
          <a:ln>
            <a:noFill/>
          </a:ln>
        </p:spPr>
        <p:txBody>
          <a:bodyPr spcFirstLastPara="1" wrap="square" lIns="91425" tIns="45700" rIns="91425" bIns="45700" anchor="ctr" anchorCtr="0">
            <a:noAutofit/>
          </a:bodyPr>
          <a:lstStyle/>
          <a:p>
            <a:pPr lvl="0" algn="ctr"/>
            <a:r>
              <a:rPr lang="en-US" sz="3800" b="1" dirty="0" err="1">
                <a:latin typeface="Times New Roman"/>
                <a:ea typeface="Times New Roman"/>
                <a:cs typeface="Times New Roman"/>
                <a:sym typeface="Times New Roman"/>
              </a:rPr>
              <a:t>Mô</a:t>
            </a:r>
            <a:r>
              <a:rPr lang="en-US" sz="3800" b="1" dirty="0">
                <a:latin typeface="Times New Roman"/>
                <a:ea typeface="Times New Roman"/>
                <a:cs typeface="Times New Roman"/>
                <a:sym typeface="Times New Roman"/>
              </a:rPr>
              <a:t> </a:t>
            </a:r>
            <a:r>
              <a:rPr lang="en-US" sz="3800" b="1" dirty="0" err="1">
                <a:latin typeface="Times New Roman"/>
                <a:ea typeface="Times New Roman"/>
                <a:cs typeface="Times New Roman"/>
                <a:sym typeface="Times New Roman"/>
              </a:rPr>
              <a:t>hình</a:t>
            </a:r>
            <a:r>
              <a:rPr lang="en-US" sz="3800" b="1" dirty="0">
                <a:latin typeface="Times New Roman"/>
                <a:ea typeface="Times New Roman"/>
                <a:cs typeface="Times New Roman"/>
                <a:sym typeface="Times New Roman"/>
              </a:rPr>
              <a:t> </a:t>
            </a:r>
            <a:r>
              <a:rPr lang="en-US" sz="3800" b="1" dirty="0" err="1">
                <a:latin typeface="Times New Roman"/>
                <a:ea typeface="Times New Roman"/>
                <a:cs typeface="Times New Roman"/>
                <a:sym typeface="Times New Roman"/>
              </a:rPr>
              <a:t>nền</a:t>
            </a:r>
            <a:r>
              <a:rPr lang="en-US" sz="3800" b="1" dirty="0">
                <a:latin typeface="Times New Roman"/>
                <a:ea typeface="Times New Roman"/>
                <a:cs typeface="Times New Roman"/>
                <a:sym typeface="Times New Roman"/>
              </a:rPr>
              <a:t> </a:t>
            </a:r>
            <a:r>
              <a:rPr lang="en-US" sz="3800" b="1" dirty="0" err="1">
                <a:latin typeface="Times New Roman"/>
                <a:ea typeface="Times New Roman"/>
                <a:cs typeface="Times New Roman"/>
                <a:sym typeface="Times New Roman"/>
              </a:rPr>
              <a:t>tảng</a:t>
            </a:r>
            <a:endParaRPr lang="vi-VN" sz="3800" b="1" dirty="0">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2198FB56-7077-0779-8242-60AC83893559}"/>
              </a:ext>
            </a:extLst>
          </p:cNvPr>
          <p:cNvPicPr>
            <a:picLocks noChangeAspect="1"/>
          </p:cNvPicPr>
          <p:nvPr/>
        </p:nvPicPr>
        <p:blipFill>
          <a:blip r:embed="rId3"/>
          <a:stretch>
            <a:fillRect/>
          </a:stretch>
        </p:blipFill>
        <p:spPr>
          <a:xfrm>
            <a:off x="1121664" y="974026"/>
            <a:ext cx="9753600" cy="5324475"/>
          </a:xfrm>
          <a:prstGeom prst="rect">
            <a:avLst/>
          </a:prstGeom>
        </p:spPr>
      </p:pic>
    </p:spTree>
    <p:extLst>
      <p:ext uri="{BB962C8B-B14F-4D97-AF65-F5344CB8AC3E}">
        <p14:creationId xmlns:p14="http://schemas.microsoft.com/office/powerpoint/2010/main" val="6754583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3D310831-D457-B5DB-D5BB-4F874CEBD327}"/>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3B753B71-2875-2005-D8FE-35ABFCE5E421}"/>
              </a:ext>
            </a:extLst>
          </p:cNvPr>
          <p:cNvSpPr/>
          <p:nvPr/>
        </p:nvSpPr>
        <p:spPr>
          <a:xfrm>
            <a:off x="346364" y="18510"/>
            <a:ext cx="11863028" cy="1268324"/>
          </a:xfrm>
          <a:prstGeom prst="rect">
            <a:avLst/>
          </a:prstGeom>
          <a:noFill/>
          <a:ln>
            <a:noFill/>
          </a:ln>
        </p:spPr>
        <p:txBody>
          <a:bodyPr spcFirstLastPara="1" wrap="square" lIns="91425" tIns="45700" rIns="91425" bIns="45700" anchor="ctr" anchorCtr="0">
            <a:noAutofit/>
          </a:bodyPr>
          <a:lstStyle/>
          <a:p>
            <a:pPr lvl="0" algn="ctr"/>
            <a:r>
              <a:rPr lang="en-US" sz="3800" b="1" dirty="0" err="1">
                <a:latin typeface="Times New Roman"/>
                <a:cs typeface="Times New Roman"/>
              </a:rPr>
              <a:t>Kiến</a:t>
            </a:r>
            <a:r>
              <a:rPr lang="en-US" sz="3800" b="1" dirty="0">
                <a:latin typeface="Times New Roman"/>
                <a:cs typeface="Times New Roman"/>
              </a:rPr>
              <a:t> </a:t>
            </a:r>
            <a:r>
              <a:rPr lang="en-US" sz="3800" b="1" dirty="0" err="1">
                <a:latin typeface="Times New Roman"/>
                <a:cs typeface="Times New Roman"/>
              </a:rPr>
              <a:t>trúc</a:t>
            </a:r>
            <a:r>
              <a:rPr lang="en-US" sz="3800" b="1" dirty="0">
                <a:latin typeface="Times New Roman"/>
                <a:cs typeface="Times New Roman"/>
              </a:rPr>
              <a:t> Transformer </a:t>
            </a:r>
            <a:endParaRPr lang="vi-VN" sz="3800" b="1" dirty="0">
              <a:latin typeface="Times New Roman"/>
              <a:cs typeface="Times New Roman"/>
              <a:sym typeface="Times New Roman"/>
            </a:endParaRPr>
          </a:p>
        </p:txBody>
      </p:sp>
      <p:pic>
        <p:nvPicPr>
          <p:cNvPr id="4" name="Picture 3">
            <a:extLst>
              <a:ext uri="{FF2B5EF4-FFF2-40B4-BE49-F238E27FC236}">
                <a16:creationId xmlns:a16="http://schemas.microsoft.com/office/drawing/2014/main" id="{7E8C4BBF-0D69-9ACE-E656-2ED587E68849}"/>
              </a:ext>
            </a:extLst>
          </p:cNvPr>
          <p:cNvPicPr>
            <a:picLocks noChangeAspect="1"/>
          </p:cNvPicPr>
          <p:nvPr/>
        </p:nvPicPr>
        <p:blipFill>
          <a:blip r:embed="rId3"/>
          <a:stretch>
            <a:fillRect/>
          </a:stretch>
        </p:blipFill>
        <p:spPr>
          <a:xfrm>
            <a:off x="1072190" y="1286834"/>
            <a:ext cx="10047619" cy="4761905"/>
          </a:xfrm>
          <a:prstGeom prst="rect">
            <a:avLst/>
          </a:prstGeom>
        </p:spPr>
      </p:pic>
    </p:spTree>
    <p:extLst>
      <p:ext uri="{BB962C8B-B14F-4D97-AF65-F5344CB8AC3E}">
        <p14:creationId xmlns:p14="http://schemas.microsoft.com/office/powerpoint/2010/main" val="2883335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9F9E5147-4F30-18DB-A479-8655BC3085B4}"/>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A3270E03-280E-D3EF-1826-F2FA3C34724E}"/>
              </a:ext>
            </a:extLst>
          </p:cNvPr>
          <p:cNvSpPr/>
          <p:nvPr/>
        </p:nvSpPr>
        <p:spPr>
          <a:xfrm>
            <a:off x="346364" y="18510"/>
            <a:ext cx="11863028" cy="1268324"/>
          </a:xfrm>
          <a:prstGeom prst="rect">
            <a:avLst/>
          </a:prstGeom>
          <a:noFill/>
          <a:ln>
            <a:noFill/>
          </a:ln>
        </p:spPr>
        <p:txBody>
          <a:bodyPr spcFirstLastPara="1" wrap="square" lIns="91425" tIns="45700" rIns="91425" bIns="45700" anchor="ctr" anchorCtr="0">
            <a:noAutofit/>
          </a:bodyPr>
          <a:lstStyle/>
          <a:p>
            <a:pPr lvl="0" algn="ctr"/>
            <a:r>
              <a:rPr lang="en-US" sz="3800" b="1" dirty="0">
                <a:latin typeface="Times New Roman"/>
                <a:cs typeface="Times New Roman"/>
              </a:rPr>
              <a:t>Các </a:t>
            </a:r>
            <a:r>
              <a:rPr lang="en-US" sz="3800" b="1" dirty="0" err="1">
                <a:latin typeface="Times New Roman"/>
                <a:cs typeface="Times New Roman"/>
              </a:rPr>
              <a:t>kiến</a:t>
            </a:r>
            <a:r>
              <a:rPr lang="en-US" sz="3800" b="1" dirty="0">
                <a:latin typeface="Times New Roman"/>
                <a:cs typeface="Times New Roman"/>
              </a:rPr>
              <a:t> </a:t>
            </a:r>
            <a:r>
              <a:rPr lang="en-US" sz="3800" b="1" dirty="0" err="1">
                <a:latin typeface="Times New Roman"/>
                <a:cs typeface="Times New Roman"/>
              </a:rPr>
              <a:t>trúc</a:t>
            </a:r>
            <a:r>
              <a:rPr lang="en-US" sz="3800" b="1" dirty="0">
                <a:latin typeface="Times New Roman"/>
                <a:cs typeface="Times New Roman"/>
              </a:rPr>
              <a:t> </a:t>
            </a:r>
            <a:r>
              <a:rPr lang="en-US" sz="3800" b="1" dirty="0" err="1">
                <a:latin typeface="Times New Roman"/>
                <a:cs typeface="Times New Roman"/>
              </a:rPr>
              <a:t>tạo</a:t>
            </a:r>
            <a:r>
              <a:rPr lang="en-US" sz="3800" b="1" dirty="0">
                <a:latin typeface="Times New Roman"/>
                <a:cs typeface="Times New Roman"/>
              </a:rPr>
              <a:t> </a:t>
            </a:r>
            <a:r>
              <a:rPr lang="en-US" sz="3800" b="1" dirty="0" err="1">
                <a:latin typeface="Times New Roman"/>
                <a:cs typeface="Times New Roman"/>
              </a:rPr>
              <a:t>sinh</a:t>
            </a:r>
            <a:r>
              <a:rPr lang="en-US" sz="3800" b="1" dirty="0">
                <a:latin typeface="Times New Roman"/>
                <a:cs typeface="Times New Roman"/>
              </a:rPr>
              <a:t> </a:t>
            </a:r>
            <a:r>
              <a:rPr lang="en-US" sz="3800" b="1" dirty="0" err="1">
                <a:latin typeface="Times New Roman"/>
                <a:cs typeface="Times New Roman"/>
              </a:rPr>
              <a:t>chính</a:t>
            </a:r>
            <a:r>
              <a:rPr lang="en-US" sz="3800" b="1" dirty="0">
                <a:latin typeface="Times New Roman"/>
                <a:cs typeface="Times New Roman"/>
              </a:rPr>
              <a:t>  </a:t>
            </a:r>
            <a:endParaRPr lang="vi-VN" sz="3800" b="1" dirty="0">
              <a:latin typeface="Times New Roman"/>
              <a:cs typeface="Times New Roman"/>
              <a:sym typeface="Times New Roman"/>
            </a:endParaRPr>
          </a:p>
        </p:txBody>
      </p:sp>
      <p:pic>
        <p:nvPicPr>
          <p:cNvPr id="5" name="Picture 4">
            <a:extLst>
              <a:ext uri="{FF2B5EF4-FFF2-40B4-BE49-F238E27FC236}">
                <a16:creationId xmlns:a16="http://schemas.microsoft.com/office/drawing/2014/main" id="{58176FC3-55FA-58FD-8F0F-D8F43E15BF5C}"/>
              </a:ext>
            </a:extLst>
          </p:cNvPr>
          <p:cNvPicPr>
            <a:picLocks noChangeAspect="1"/>
          </p:cNvPicPr>
          <p:nvPr/>
        </p:nvPicPr>
        <p:blipFill>
          <a:blip r:embed="rId3"/>
          <a:stretch>
            <a:fillRect/>
          </a:stretch>
        </p:blipFill>
        <p:spPr>
          <a:xfrm>
            <a:off x="1583080" y="1399816"/>
            <a:ext cx="9609175" cy="4232888"/>
          </a:xfrm>
          <a:prstGeom prst="rect">
            <a:avLst/>
          </a:prstGeom>
        </p:spPr>
      </p:pic>
    </p:spTree>
    <p:extLst>
      <p:ext uri="{BB962C8B-B14F-4D97-AF65-F5344CB8AC3E}">
        <p14:creationId xmlns:p14="http://schemas.microsoft.com/office/powerpoint/2010/main" val="11623623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8F9D389F-D98A-80AF-F2A3-747548C8634E}"/>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A6D0D938-610D-836A-3AF6-B7A52CD0A20B}"/>
              </a:ext>
            </a:extLst>
          </p:cNvPr>
          <p:cNvSpPr/>
          <p:nvPr/>
        </p:nvSpPr>
        <p:spPr>
          <a:xfrm>
            <a:off x="346364" y="18510"/>
            <a:ext cx="11863028" cy="1268324"/>
          </a:xfrm>
          <a:prstGeom prst="rect">
            <a:avLst/>
          </a:prstGeom>
          <a:noFill/>
          <a:ln>
            <a:noFill/>
          </a:ln>
        </p:spPr>
        <p:txBody>
          <a:bodyPr spcFirstLastPara="1" wrap="square" lIns="91425" tIns="45700" rIns="91425" bIns="45700" anchor="ctr" anchorCtr="0">
            <a:noAutofit/>
          </a:bodyPr>
          <a:lstStyle/>
          <a:p>
            <a:pPr lvl="0" algn="ctr"/>
            <a:r>
              <a:rPr lang="en-US" sz="3800" b="1" dirty="0">
                <a:latin typeface="Times New Roman"/>
                <a:cs typeface="Times New Roman"/>
              </a:rPr>
              <a:t>Các </a:t>
            </a:r>
            <a:r>
              <a:rPr lang="en-US" sz="3800" b="1" dirty="0" err="1">
                <a:latin typeface="Times New Roman"/>
                <a:cs typeface="Times New Roman"/>
              </a:rPr>
              <a:t>khái</a:t>
            </a:r>
            <a:r>
              <a:rPr lang="en-US" sz="3800" b="1" dirty="0">
                <a:latin typeface="Times New Roman"/>
                <a:cs typeface="Times New Roman"/>
              </a:rPr>
              <a:t> </a:t>
            </a:r>
            <a:r>
              <a:rPr lang="en-US" sz="3800" b="1" dirty="0" err="1">
                <a:latin typeface="Times New Roman"/>
                <a:cs typeface="Times New Roman"/>
              </a:rPr>
              <a:t>niệm</a:t>
            </a:r>
            <a:r>
              <a:rPr lang="en-US" sz="3800" b="1" dirty="0">
                <a:latin typeface="Times New Roman"/>
                <a:cs typeface="Times New Roman"/>
              </a:rPr>
              <a:t> </a:t>
            </a:r>
            <a:r>
              <a:rPr lang="en-US" sz="3800" b="1" dirty="0" err="1">
                <a:latin typeface="Times New Roman"/>
                <a:cs typeface="Times New Roman"/>
              </a:rPr>
              <a:t>khi</a:t>
            </a:r>
            <a:r>
              <a:rPr lang="en-US" sz="3800" b="1" dirty="0">
                <a:latin typeface="Times New Roman"/>
                <a:cs typeface="Times New Roman"/>
              </a:rPr>
              <a:t> </a:t>
            </a:r>
            <a:r>
              <a:rPr lang="en-US" sz="3800" b="1" dirty="0" err="1">
                <a:latin typeface="Times New Roman"/>
                <a:cs typeface="Times New Roman"/>
              </a:rPr>
              <a:t>làm</a:t>
            </a:r>
            <a:r>
              <a:rPr lang="en-US" sz="3800" b="1" dirty="0">
                <a:latin typeface="Times New Roman"/>
                <a:cs typeface="Times New Roman"/>
              </a:rPr>
              <a:t> </a:t>
            </a:r>
            <a:r>
              <a:rPr lang="en-US" sz="3800" b="1" dirty="0" err="1">
                <a:latin typeface="Times New Roman"/>
                <a:cs typeface="Times New Roman"/>
              </a:rPr>
              <a:t>việc</a:t>
            </a:r>
            <a:r>
              <a:rPr lang="en-US" sz="3800" b="1" dirty="0">
                <a:latin typeface="Times New Roman"/>
                <a:cs typeface="Times New Roman"/>
              </a:rPr>
              <a:t> </a:t>
            </a:r>
            <a:r>
              <a:rPr lang="en-US" sz="3800" b="1" dirty="0" err="1">
                <a:latin typeface="Times New Roman"/>
                <a:cs typeface="Times New Roman"/>
              </a:rPr>
              <a:t>với</a:t>
            </a:r>
            <a:r>
              <a:rPr lang="en-US" sz="3800" b="1" dirty="0">
                <a:latin typeface="Times New Roman"/>
                <a:cs typeface="Times New Roman"/>
              </a:rPr>
              <a:t> LLM </a:t>
            </a:r>
            <a:endParaRPr lang="vi-VN" sz="3800" b="1" dirty="0">
              <a:latin typeface="Times New Roman"/>
              <a:cs typeface="Times New Roman"/>
              <a:sym typeface="Times New Roman"/>
            </a:endParaRPr>
          </a:p>
        </p:txBody>
      </p:sp>
      <p:pic>
        <p:nvPicPr>
          <p:cNvPr id="3" name="Picture 2">
            <a:extLst>
              <a:ext uri="{FF2B5EF4-FFF2-40B4-BE49-F238E27FC236}">
                <a16:creationId xmlns:a16="http://schemas.microsoft.com/office/drawing/2014/main" id="{BA44247B-3F9F-0924-A89E-5ACADBAC6FA2}"/>
              </a:ext>
            </a:extLst>
          </p:cNvPr>
          <p:cNvPicPr>
            <a:picLocks noChangeAspect="1"/>
          </p:cNvPicPr>
          <p:nvPr/>
        </p:nvPicPr>
        <p:blipFill>
          <a:blip r:embed="rId3"/>
          <a:stretch>
            <a:fillRect/>
          </a:stretch>
        </p:blipFill>
        <p:spPr>
          <a:xfrm>
            <a:off x="1269332" y="1390654"/>
            <a:ext cx="10069228" cy="4595617"/>
          </a:xfrm>
          <a:prstGeom prst="rect">
            <a:avLst/>
          </a:prstGeom>
        </p:spPr>
      </p:pic>
    </p:spTree>
    <p:extLst>
      <p:ext uri="{BB962C8B-B14F-4D97-AF65-F5344CB8AC3E}">
        <p14:creationId xmlns:p14="http://schemas.microsoft.com/office/powerpoint/2010/main" val="22867672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E2E607A5-C0BC-1601-6AC8-2F85C54C583F}"/>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6A674445-94F1-8535-B839-F94952BC13B1}"/>
              </a:ext>
            </a:extLst>
          </p:cNvPr>
          <p:cNvSpPr/>
          <p:nvPr/>
        </p:nvSpPr>
        <p:spPr>
          <a:xfrm>
            <a:off x="346364" y="18510"/>
            <a:ext cx="11863028" cy="1268324"/>
          </a:xfrm>
          <a:prstGeom prst="rect">
            <a:avLst/>
          </a:prstGeom>
          <a:noFill/>
          <a:ln>
            <a:noFill/>
          </a:ln>
        </p:spPr>
        <p:txBody>
          <a:bodyPr spcFirstLastPara="1" wrap="square" lIns="91425" tIns="45700" rIns="91425" bIns="45700" anchor="ctr" anchorCtr="0">
            <a:noAutofit/>
          </a:bodyPr>
          <a:lstStyle/>
          <a:p>
            <a:pPr lvl="0" algn="ctr"/>
            <a:r>
              <a:rPr lang="en-US" sz="3800" b="1" dirty="0" err="1">
                <a:latin typeface="Times New Roman"/>
                <a:cs typeface="Times New Roman"/>
                <a:sym typeface="Times New Roman"/>
              </a:rPr>
              <a:t>Bài</a:t>
            </a:r>
            <a:r>
              <a:rPr lang="en-US" sz="3800" b="1" dirty="0">
                <a:latin typeface="Times New Roman"/>
                <a:cs typeface="Times New Roman"/>
                <a:sym typeface="Times New Roman"/>
              </a:rPr>
              <a:t> </a:t>
            </a:r>
            <a:r>
              <a:rPr lang="en-US" sz="3800" b="1" dirty="0" err="1">
                <a:latin typeface="Times New Roman"/>
                <a:cs typeface="Times New Roman"/>
                <a:sym typeface="Times New Roman"/>
              </a:rPr>
              <a:t>tập</a:t>
            </a:r>
            <a:r>
              <a:rPr lang="en-US" sz="3800" b="1" dirty="0">
                <a:latin typeface="Times New Roman"/>
                <a:cs typeface="Times New Roman"/>
                <a:sym typeface="Times New Roman"/>
              </a:rPr>
              <a:t> </a:t>
            </a:r>
            <a:r>
              <a:rPr lang="en-US" sz="3800" b="1" dirty="0" err="1">
                <a:latin typeface="Times New Roman"/>
                <a:cs typeface="Times New Roman"/>
                <a:sym typeface="Times New Roman"/>
              </a:rPr>
              <a:t>thực</a:t>
            </a:r>
            <a:r>
              <a:rPr lang="en-US" sz="3800" b="1" dirty="0">
                <a:latin typeface="Times New Roman"/>
                <a:cs typeface="Times New Roman"/>
                <a:sym typeface="Times New Roman"/>
              </a:rPr>
              <a:t> </a:t>
            </a:r>
            <a:r>
              <a:rPr lang="en-US" sz="3800" b="1" dirty="0" err="1">
                <a:latin typeface="Times New Roman"/>
                <a:cs typeface="Times New Roman"/>
                <a:sym typeface="Times New Roman"/>
              </a:rPr>
              <a:t>hành</a:t>
            </a:r>
            <a:r>
              <a:rPr lang="en-US" sz="3800" b="1" dirty="0">
                <a:latin typeface="Times New Roman"/>
                <a:cs typeface="Times New Roman"/>
                <a:sym typeface="Times New Roman"/>
              </a:rPr>
              <a:t>  1</a:t>
            </a:r>
            <a:endParaRPr lang="vi-VN" sz="3800" b="1" dirty="0">
              <a:latin typeface="Times New Roman"/>
              <a:cs typeface="Times New Roman"/>
              <a:sym typeface="Times New Roman"/>
            </a:endParaRPr>
          </a:p>
        </p:txBody>
      </p:sp>
      <p:sp>
        <p:nvSpPr>
          <p:cNvPr id="3" name="TextBox 2">
            <a:extLst>
              <a:ext uri="{FF2B5EF4-FFF2-40B4-BE49-F238E27FC236}">
                <a16:creationId xmlns:a16="http://schemas.microsoft.com/office/drawing/2014/main" id="{7EC13045-8E83-42C4-AA0D-72A7D9F7094A}"/>
              </a:ext>
            </a:extLst>
          </p:cNvPr>
          <p:cNvSpPr txBox="1"/>
          <p:nvPr/>
        </p:nvSpPr>
        <p:spPr>
          <a:xfrm>
            <a:off x="1518250" y="1286834"/>
            <a:ext cx="9954882" cy="861774"/>
          </a:xfrm>
          <a:prstGeom prst="rect">
            <a:avLst/>
          </a:prstGeom>
          <a:noFill/>
        </p:spPr>
        <p:txBody>
          <a:bodyPr wrap="square">
            <a:spAutoFit/>
          </a:bodyPr>
          <a:lstStyle/>
          <a:p>
            <a:r>
              <a:rPr lang="en-US" sz="2500" dirty="0">
                <a:latin typeface="Times New Roman" panose="02020603050405020304" pitchFamily="18" charset="0"/>
                <a:cs typeface="Times New Roman" panose="02020603050405020304" pitchFamily="18" charset="0"/>
              </a:rPr>
              <a:t>X</a:t>
            </a:r>
            <a:r>
              <a:rPr lang="vi-VN" sz="2500" dirty="0">
                <a:latin typeface="Times New Roman" panose="02020603050405020304" pitchFamily="18" charset="0"/>
                <a:cs typeface="Times New Roman" panose="02020603050405020304" pitchFamily="18" charset="0"/>
              </a:rPr>
              <a:t>ây dựng hệ thống </a:t>
            </a:r>
            <a:r>
              <a:rPr lang="vi-VN" sz="2500" b="1" dirty="0">
                <a:latin typeface="Times New Roman" panose="02020603050405020304" pitchFamily="18" charset="0"/>
                <a:cs typeface="Times New Roman" panose="02020603050405020304" pitchFamily="18" charset="0"/>
              </a:rPr>
              <a:t>AI Agent sinh test case tự động cho môn Nhập môn lập trình</a:t>
            </a:r>
            <a:endParaRPr lang="en-US" sz="25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FCFD335-C2E7-C183-A803-2E6A583D3784}"/>
              </a:ext>
            </a:extLst>
          </p:cNvPr>
          <p:cNvSpPr txBox="1"/>
          <p:nvPr/>
        </p:nvSpPr>
        <p:spPr>
          <a:xfrm>
            <a:off x="1602361" y="2555158"/>
            <a:ext cx="9351034" cy="3170099"/>
          </a:xfrm>
          <a:prstGeom prst="rect">
            <a:avLst/>
          </a:prstGeom>
          <a:noFill/>
        </p:spPr>
        <p:txBody>
          <a:bodyPr wrap="square">
            <a:spAutoFit/>
          </a:bodyPr>
          <a:lstStyle/>
          <a:p>
            <a:r>
              <a:rPr lang="vi-VN" sz="2500" dirty="0">
                <a:latin typeface="Times New Roman (Headings)"/>
              </a:rPr>
              <a:t>Hãy đóng vai trò là một chuyên gia về Gemini AI, hãy hướng dẫn tôi từng thao tác để thực hiện đề tài ỨNG DỤNG AI AGENT SỬ DỤNG MÔ HÌNH NGÔN NGỮ LỚN SINH TEST CASE CHO ĐỀ THI MÔN HỌC NHẬP MÔN LẬP TRÌNH.</a:t>
            </a:r>
            <a:endParaRPr lang="en-US" sz="2500" dirty="0">
              <a:latin typeface="Times New Roman (Headings)"/>
            </a:endParaRPr>
          </a:p>
          <a:p>
            <a:r>
              <a:rPr lang="vi-VN" sz="2500" dirty="0">
                <a:latin typeface="Times New Roman (Headings)"/>
              </a:rPr>
              <a:t>Lưu</a:t>
            </a:r>
            <a:r>
              <a:rPr lang="en-US" sz="2500" dirty="0">
                <a:latin typeface="Times New Roman (Headings)"/>
              </a:rPr>
              <a:t> ý, </a:t>
            </a:r>
            <a:r>
              <a:rPr lang="en-US" sz="2500" dirty="0" err="1">
                <a:latin typeface="Times New Roman (Headings)"/>
              </a:rPr>
              <a:t>hãy</a:t>
            </a:r>
            <a:r>
              <a:rPr lang="en-US" sz="2500" dirty="0">
                <a:latin typeface="Times New Roman (Headings)"/>
              </a:rPr>
              <a:t> </a:t>
            </a:r>
            <a:r>
              <a:rPr lang="en-US" sz="2500" dirty="0" err="1">
                <a:latin typeface="Times New Roman (Headings)"/>
              </a:rPr>
              <a:t>hướng</a:t>
            </a:r>
            <a:r>
              <a:rPr lang="en-US" sz="2500" dirty="0">
                <a:latin typeface="Times New Roman (Headings)"/>
              </a:rPr>
              <a:t>  </a:t>
            </a:r>
            <a:r>
              <a:rPr lang="en-US" sz="2500" dirty="0" err="1">
                <a:latin typeface="Times New Roman (Headings)"/>
              </a:rPr>
              <a:t>dẫn</a:t>
            </a:r>
            <a:r>
              <a:rPr lang="en-US" sz="2500" dirty="0">
                <a:latin typeface="Times New Roman (Headings)"/>
              </a:rPr>
              <a:t> </a:t>
            </a:r>
            <a:r>
              <a:rPr lang="en-US" sz="2500" dirty="0" err="1">
                <a:latin typeface="Times New Roman (Headings)"/>
              </a:rPr>
              <a:t>từ</a:t>
            </a:r>
            <a:r>
              <a:rPr lang="en-US" sz="2500" dirty="0">
                <a:latin typeface="Times New Roman (Headings)"/>
              </a:rPr>
              <a:t> con </a:t>
            </a:r>
            <a:r>
              <a:rPr lang="en-US" sz="2500" dirty="0" err="1">
                <a:latin typeface="Times New Roman (Headings)"/>
              </a:rPr>
              <a:t>số</a:t>
            </a:r>
            <a:r>
              <a:rPr lang="en-US" sz="2500" dirty="0">
                <a:latin typeface="Times New Roman (Headings)"/>
              </a:rPr>
              <a:t> 0.  </a:t>
            </a:r>
            <a:r>
              <a:rPr lang="vi-VN" sz="2500" dirty="0">
                <a:latin typeface="Times New Roman (Headings)"/>
              </a:rPr>
              <a:t>Tôi sử dụng gemini ai miễn phí, lập trình trên IDE visual code để tạo web. </a:t>
            </a:r>
            <a:endParaRPr lang="en-US" sz="2500" dirty="0">
              <a:latin typeface="Times New Roman (Headings)"/>
            </a:endParaRPr>
          </a:p>
          <a:p>
            <a:r>
              <a:rPr lang="vi-VN" sz="2500" dirty="0">
                <a:latin typeface="Times New Roman (Headings)"/>
              </a:rPr>
              <a:t>Mỗi thao tác tôi thực hiện theo phải có kiểm chứng kết quả, nếu chạy được mới chuyển sang thao tác kế tiếp.</a:t>
            </a:r>
            <a:endParaRPr lang="en-US" sz="2500" dirty="0">
              <a:latin typeface="Times New Roman (Headings)"/>
            </a:endParaRPr>
          </a:p>
        </p:txBody>
      </p:sp>
    </p:spTree>
    <p:extLst>
      <p:ext uri="{BB962C8B-B14F-4D97-AF65-F5344CB8AC3E}">
        <p14:creationId xmlns:p14="http://schemas.microsoft.com/office/powerpoint/2010/main" val="30078780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C2C1A446-8D67-AECC-C9D6-1959CB49BD07}"/>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6DC550A3-8BF6-437E-DA70-7B8C7BBD9D14}"/>
              </a:ext>
            </a:extLst>
          </p:cNvPr>
          <p:cNvSpPr/>
          <p:nvPr/>
        </p:nvSpPr>
        <p:spPr>
          <a:xfrm>
            <a:off x="346364" y="18510"/>
            <a:ext cx="11863028" cy="1268324"/>
          </a:xfrm>
          <a:prstGeom prst="rect">
            <a:avLst/>
          </a:prstGeom>
          <a:noFill/>
          <a:ln>
            <a:noFill/>
          </a:ln>
        </p:spPr>
        <p:txBody>
          <a:bodyPr spcFirstLastPara="1" wrap="square" lIns="91425" tIns="45700" rIns="91425" bIns="45700" anchor="ctr" anchorCtr="0">
            <a:noAutofit/>
          </a:bodyPr>
          <a:lstStyle/>
          <a:p>
            <a:pPr lvl="0" algn="ctr"/>
            <a:r>
              <a:rPr lang="en-US" sz="3800" b="1" dirty="0" err="1">
                <a:latin typeface="Times New Roman"/>
                <a:cs typeface="Times New Roman"/>
                <a:sym typeface="Times New Roman"/>
              </a:rPr>
              <a:t>Bài</a:t>
            </a:r>
            <a:r>
              <a:rPr lang="en-US" sz="3800" b="1" dirty="0">
                <a:latin typeface="Times New Roman"/>
                <a:cs typeface="Times New Roman"/>
                <a:sym typeface="Times New Roman"/>
              </a:rPr>
              <a:t> </a:t>
            </a:r>
            <a:r>
              <a:rPr lang="en-US" sz="3800" b="1" dirty="0" err="1">
                <a:latin typeface="Times New Roman"/>
                <a:cs typeface="Times New Roman"/>
                <a:sym typeface="Times New Roman"/>
              </a:rPr>
              <a:t>tập</a:t>
            </a:r>
            <a:r>
              <a:rPr lang="en-US" sz="3800" b="1" dirty="0">
                <a:latin typeface="Times New Roman"/>
                <a:cs typeface="Times New Roman"/>
                <a:sym typeface="Times New Roman"/>
              </a:rPr>
              <a:t> </a:t>
            </a:r>
            <a:r>
              <a:rPr lang="en-US" sz="3800" b="1" dirty="0" err="1">
                <a:latin typeface="Times New Roman"/>
                <a:cs typeface="Times New Roman"/>
                <a:sym typeface="Times New Roman"/>
              </a:rPr>
              <a:t>thực</a:t>
            </a:r>
            <a:r>
              <a:rPr lang="en-US" sz="3800" b="1" dirty="0">
                <a:latin typeface="Times New Roman"/>
                <a:cs typeface="Times New Roman"/>
                <a:sym typeface="Times New Roman"/>
              </a:rPr>
              <a:t> </a:t>
            </a:r>
            <a:r>
              <a:rPr lang="en-US" sz="3800" b="1" dirty="0" err="1">
                <a:latin typeface="Times New Roman"/>
                <a:cs typeface="Times New Roman"/>
                <a:sym typeface="Times New Roman"/>
              </a:rPr>
              <a:t>hành</a:t>
            </a:r>
            <a:endParaRPr lang="vi-VN" sz="3800" b="1" dirty="0">
              <a:latin typeface="Times New Roman"/>
              <a:cs typeface="Times New Roman"/>
              <a:sym typeface="Times New Roman"/>
            </a:endParaRPr>
          </a:p>
        </p:txBody>
      </p:sp>
      <p:pic>
        <p:nvPicPr>
          <p:cNvPr id="4" name="Picture 3">
            <a:extLst>
              <a:ext uri="{FF2B5EF4-FFF2-40B4-BE49-F238E27FC236}">
                <a16:creationId xmlns:a16="http://schemas.microsoft.com/office/drawing/2014/main" id="{329FB36B-0F54-07A1-F24F-3B63B0C80EBF}"/>
              </a:ext>
            </a:extLst>
          </p:cNvPr>
          <p:cNvPicPr>
            <a:picLocks noChangeAspect="1"/>
          </p:cNvPicPr>
          <p:nvPr/>
        </p:nvPicPr>
        <p:blipFill>
          <a:blip r:embed="rId3"/>
          <a:stretch>
            <a:fillRect/>
          </a:stretch>
        </p:blipFill>
        <p:spPr>
          <a:xfrm>
            <a:off x="1291350" y="1443618"/>
            <a:ext cx="9973055" cy="4432926"/>
          </a:xfrm>
          <a:prstGeom prst="rect">
            <a:avLst/>
          </a:prstGeom>
        </p:spPr>
      </p:pic>
    </p:spTree>
    <p:extLst>
      <p:ext uri="{BB962C8B-B14F-4D97-AF65-F5344CB8AC3E}">
        <p14:creationId xmlns:p14="http://schemas.microsoft.com/office/powerpoint/2010/main" val="23664095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842E0337-73CD-A025-FB49-8581E250AD77}"/>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E94443D3-AC52-F0BC-C455-9B60FF4C7C73}"/>
              </a:ext>
            </a:extLst>
          </p:cNvPr>
          <p:cNvSpPr/>
          <p:nvPr/>
        </p:nvSpPr>
        <p:spPr>
          <a:xfrm>
            <a:off x="346364" y="18510"/>
            <a:ext cx="11863028" cy="1268324"/>
          </a:xfrm>
          <a:prstGeom prst="rect">
            <a:avLst/>
          </a:prstGeom>
          <a:noFill/>
          <a:ln>
            <a:noFill/>
          </a:ln>
        </p:spPr>
        <p:txBody>
          <a:bodyPr spcFirstLastPara="1" wrap="square" lIns="91425" tIns="45700" rIns="91425" bIns="45700" anchor="ctr" anchorCtr="0">
            <a:noAutofit/>
          </a:bodyPr>
          <a:lstStyle/>
          <a:p>
            <a:pPr lvl="0" algn="ctr"/>
            <a:r>
              <a:rPr lang="en-US" sz="3800" b="1" dirty="0" err="1">
                <a:latin typeface="Times New Roman"/>
                <a:cs typeface="Times New Roman"/>
                <a:sym typeface="Times New Roman"/>
              </a:rPr>
              <a:t>Bài</a:t>
            </a:r>
            <a:r>
              <a:rPr lang="en-US" sz="3800" b="1" dirty="0">
                <a:latin typeface="Times New Roman"/>
                <a:cs typeface="Times New Roman"/>
                <a:sym typeface="Times New Roman"/>
              </a:rPr>
              <a:t> </a:t>
            </a:r>
            <a:r>
              <a:rPr lang="en-US" sz="3800" b="1" dirty="0" err="1">
                <a:latin typeface="Times New Roman"/>
                <a:cs typeface="Times New Roman"/>
                <a:sym typeface="Times New Roman"/>
              </a:rPr>
              <a:t>tập</a:t>
            </a:r>
            <a:r>
              <a:rPr lang="en-US" sz="3800" b="1" dirty="0">
                <a:latin typeface="Times New Roman"/>
                <a:cs typeface="Times New Roman"/>
                <a:sym typeface="Times New Roman"/>
              </a:rPr>
              <a:t> </a:t>
            </a:r>
            <a:r>
              <a:rPr lang="en-US" sz="3800" b="1" dirty="0" err="1">
                <a:latin typeface="Times New Roman"/>
                <a:cs typeface="Times New Roman"/>
                <a:sym typeface="Times New Roman"/>
              </a:rPr>
              <a:t>thực</a:t>
            </a:r>
            <a:r>
              <a:rPr lang="en-US" sz="3800" b="1" dirty="0">
                <a:latin typeface="Times New Roman"/>
                <a:cs typeface="Times New Roman"/>
                <a:sym typeface="Times New Roman"/>
              </a:rPr>
              <a:t> </a:t>
            </a:r>
            <a:r>
              <a:rPr lang="en-US" sz="3800" b="1" dirty="0" err="1">
                <a:latin typeface="Times New Roman"/>
                <a:cs typeface="Times New Roman"/>
                <a:sym typeface="Times New Roman"/>
              </a:rPr>
              <a:t>hành</a:t>
            </a:r>
            <a:endParaRPr lang="vi-VN" sz="3800" b="1" dirty="0">
              <a:latin typeface="Times New Roman"/>
              <a:cs typeface="Times New Roman"/>
              <a:sym typeface="Times New Roman"/>
            </a:endParaRPr>
          </a:p>
        </p:txBody>
      </p:sp>
      <p:sp>
        <p:nvSpPr>
          <p:cNvPr id="3" name="TextBox 2">
            <a:extLst>
              <a:ext uri="{FF2B5EF4-FFF2-40B4-BE49-F238E27FC236}">
                <a16:creationId xmlns:a16="http://schemas.microsoft.com/office/drawing/2014/main" id="{1566BC14-995F-1766-F167-82BFC25C00BA}"/>
              </a:ext>
            </a:extLst>
          </p:cNvPr>
          <p:cNvSpPr txBox="1"/>
          <p:nvPr/>
        </p:nvSpPr>
        <p:spPr>
          <a:xfrm>
            <a:off x="1783080" y="1615363"/>
            <a:ext cx="9299448" cy="477054"/>
          </a:xfrm>
          <a:prstGeom prst="rect">
            <a:avLst/>
          </a:prstGeom>
          <a:noFill/>
        </p:spPr>
        <p:txBody>
          <a:bodyPr wrap="square">
            <a:spAutoFit/>
          </a:bodyPr>
          <a:lstStyle/>
          <a:p>
            <a:r>
              <a:rPr lang="en-US" sz="2500" dirty="0" err="1">
                <a:latin typeface="Times New Roman" panose="02020603050405020304" pitchFamily="18" charset="0"/>
                <a:cs typeface="Times New Roman" panose="02020603050405020304" pitchFamily="18" charset="0"/>
              </a:rPr>
              <a:t>Phần</a:t>
            </a:r>
            <a:r>
              <a:rPr lang="en-US" sz="2500" dirty="0">
                <a:latin typeface="Times New Roman" panose="02020603050405020304" pitchFamily="18" charset="0"/>
                <a:cs typeface="Times New Roman" panose="02020603050405020304" pitchFamily="18" charset="0"/>
              </a:rPr>
              <a:t> 1: </a:t>
            </a:r>
            <a:r>
              <a:rPr lang="en-US" sz="2500" dirty="0" err="1">
                <a:latin typeface="Times New Roman" panose="02020603050405020304" pitchFamily="18" charset="0"/>
                <a:cs typeface="Times New Roman" panose="02020603050405020304" pitchFamily="18" charset="0"/>
              </a:rPr>
              <a:t>Trải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nghiệm</a:t>
            </a:r>
            <a:r>
              <a:rPr lang="en-US" sz="2500" dirty="0">
                <a:latin typeface="Times New Roman" panose="02020603050405020304" pitchFamily="18" charset="0"/>
                <a:cs typeface="Times New Roman" panose="02020603050405020304" pitchFamily="18" charset="0"/>
              </a:rPr>
              <a:t> 6 </a:t>
            </a:r>
            <a:r>
              <a:rPr lang="en-US" sz="2500" dirty="0" err="1">
                <a:latin typeface="Times New Roman" panose="02020603050405020304" pitchFamily="18" charset="0"/>
                <a:cs typeface="Times New Roman" panose="02020603050405020304" pitchFamily="18" charset="0"/>
              </a:rPr>
              <a:t>chức</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năng</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cốt</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lõi</a:t>
            </a:r>
            <a:r>
              <a:rPr lang="en-US" sz="2500" dirty="0">
                <a:latin typeface="Times New Roman" panose="02020603050405020304" pitchFamily="18" charset="0"/>
                <a:cs typeface="Times New Roman" panose="02020603050405020304" pitchFamily="18" charset="0"/>
              </a:rPr>
              <a:t> (Core Modalities) </a:t>
            </a:r>
            <a:r>
              <a:rPr lang="en-US" sz="2500" dirty="0" err="1">
                <a:latin typeface="Times New Roman" panose="02020603050405020304" pitchFamily="18" charset="0"/>
                <a:cs typeface="Times New Roman" panose="02020603050405020304" pitchFamily="18" charset="0"/>
              </a:rPr>
              <a:t>của</a:t>
            </a:r>
            <a:r>
              <a:rPr lang="en-US" sz="2500" dirty="0">
                <a:latin typeface="Times New Roman" panose="02020603050405020304" pitchFamily="18" charset="0"/>
                <a:cs typeface="Times New Roman" panose="02020603050405020304" pitchFamily="18" charset="0"/>
              </a:rPr>
              <a:t> FM</a:t>
            </a:r>
          </a:p>
        </p:txBody>
      </p:sp>
      <p:sp>
        <p:nvSpPr>
          <p:cNvPr id="6" name="TextBox 5">
            <a:extLst>
              <a:ext uri="{FF2B5EF4-FFF2-40B4-BE49-F238E27FC236}">
                <a16:creationId xmlns:a16="http://schemas.microsoft.com/office/drawing/2014/main" id="{3D2F6CFA-9482-83B3-7F6A-5C348BFF7E76}"/>
              </a:ext>
            </a:extLst>
          </p:cNvPr>
          <p:cNvSpPr txBox="1"/>
          <p:nvPr/>
        </p:nvSpPr>
        <p:spPr>
          <a:xfrm>
            <a:off x="1304544" y="2279595"/>
            <a:ext cx="10082784" cy="3170099"/>
          </a:xfrm>
          <a:prstGeom prst="rect">
            <a:avLst/>
          </a:prstGeom>
          <a:noFill/>
        </p:spPr>
        <p:txBody>
          <a:bodyPr wrap="square">
            <a:spAutoFit/>
          </a:bodyPr>
          <a:lstStyle/>
          <a:p>
            <a:pPr algn="just">
              <a:buNone/>
            </a:pPr>
            <a:r>
              <a:rPr lang="vi-VN" sz="2500" b="1" dirty="0">
                <a:latin typeface="+mj-lt"/>
              </a:rPr>
              <a:t>Nhiệm vụ 1: Sinh mã nguồn (Code Generation) &amp; Thiết kế prompt</a:t>
            </a:r>
            <a:endParaRPr lang="vi-VN" sz="2500" dirty="0">
              <a:latin typeface="+mj-lt"/>
            </a:endParaRPr>
          </a:p>
          <a:p>
            <a:pPr algn="just"/>
            <a:r>
              <a:rPr lang="vi-VN" sz="2500" dirty="0">
                <a:latin typeface="+mj-lt"/>
              </a:rPr>
              <a:t>Hãy viết một </a:t>
            </a:r>
            <a:r>
              <a:rPr lang="vi-VN" sz="2500" i="1" dirty="0">
                <a:latin typeface="+mj-lt"/>
              </a:rPr>
              <a:t>Prompt</a:t>
            </a:r>
            <a:r>
              <a:rPr lang="vi-VN" sz="2500" dirty="0">
                <a:latin typeface="+mj-lt"/>
              </a:rPr>
              <a:t> thật chi tiết để yêu cầu AI tạo ra cấu trúc dữ liệu hoặc mã nguồn (bằng ngôn ngữ lập trình các em đang học, ví dụ: Python, Java, C++) cho chức năng: </a:t>
            </a:r>
            <a:r>
              <a:rPr lang="vi-VN" sz="2500" i="1" dirty="0">
                <a:latin typeface="+mj-lt"/>
              </a:rPr>
              <a:t>"Thêm sinh viên mới, hiển thị danh sách sinh viên và tính điểm trung bình"</a:t>
            </a:r>
            <a:r>
              <a:rPr lang="vi-VN" sz="2500" dirty="0">
                <a:latin typeface="+mj-lt"/>
              </a:rPr>
              <a:t>.</a:t>
            </a:r>
          </a:p>
          <a:p>
            <a:pPr algn="just"/>
            <a:endParaRPr lang="en-US" sz="2500" dirty="0">
              <a:latin typeface="+mj-lt"/>
            </a:endParaRPr>
          </a:p>
          <a:p>
            <a:pPr algn="just"/>
            <a:r>
              <a:rPr lang="vi-VN" sz="2500" dirty="0">
                <a:latin typeface="+mj-lt"/>
              </a:rPr>
              <a:t>Áp dụng tư duy cấu trúc vào prompt (nêu rõ vai trò của AI, đầu vào, đầu ra mong muốn).</a:t>
            </a:r>
          </a:p>
        </p:txBody>
      </p:sp>
    </p:spTree>
    <p:extLst>
      <p:ext uri="{BB962C8B-B14F-4D97-AF65-F5344CB8AC3E}">
        <p14:creationId xmlns:p14="http://schemas.microsoft.com/office/powerpoint/2010/main" val="11774952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6233498F-68D6-575C-1F77-39D5E9785846}"/>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B5208984-8496-CE57-8398-E08831139781}"/>
              </a:ext>
            </a:extLst>
          </p:cNvPr>
          <p:cNvSpPr/>
          <p:nvPr/>
        </p:nvSpPr>
        <p:spPr>
          <a:xfrm>
            <a:off x="346364" y="18510"/>
            <a:ext cx="11863028" cy="1268324"/>
          </a:xfrm>
          <a:prstGeom prst="rect">
            <a:avLst/>
          </a:prstGeom>
          <a:noFill/>
          <a:ln>
            <a:noFill/>
          </a:ln>
        </p:spPr>
        <p:txBody>
          <a:bodyPr spcFirstLastPara="1" wrap="square" lIns="91425" tIns="45700" rIns="91425" bIns="45700" anchor="ctr" anchorCtr="0">
            <a:noAutofit/>
          </a:bodyPr>
          <a:lstStyle/>
          <a:p>
            <a:pPr lvl="0" algn="ctr"/>
            <a:r>
              <a:rPr lang="en-US" sz="3800" b="1" dirty="0" err="1">
                <a:latin typeface="Times New Roman"/>
                <a:cs typeface="Times New Roman"/>
                <a:sym typeface="Times New Roman"/>
              </a:rPr>
              <a:t>Bài</a:t>
            </a:r>
            <a:r>
              <a:rPr lang="en-US" sz="3800" b="1" dirty="0">
                <a:latin typeface="Times New Roman"/>
                <a:cs typeface="Times New Roman"/>
                <a:sym typeface="Times New Roman"/>
              </a:rPr>
              <a:t> </a:t>
            </a:r>
            <a:r>
              <a:rPr lang="en-US" sz="3800" b="1" dirty="0" err="1">
                <a:latin typeface="Times New Roman"/>
                <a:cs typeface="Times New Roman"/>
                <a:sym typeface="Times New Roman"/>
              </a:rPr>
              <a:t>tập</a:t>
            </a:r>
            <a:r>
              <a:rPr lang="en-US" sz="3800" b="1" dirty="0">
                <a:latin typeface="Times New Roman"/>
                <a:cs typeface="Times New Roman"/>
                <a:sym typeface="Times New Roman"/>
              </a:rPr>
              <a:t> </a:t>
            </a:r>
            <a:r>
              <a:rPr lang="en-US" sz="3800" b="1" dirty="0" err="1">
                <a:latin typeface="Times New Roman"/>
                <a:cs typeface="Times New Roman"/>
                <a:sym typeface="Times New Roman"/>
              </a:rPr>
              <a:t>thực</a:t>
            </a:r>
            <a:r>
              <a:rPr lang="en-US" sz="3800" b="1" dirty="0">
                <a:latin typeface="Times New Roman"/>
                <a:cs typeface="Times New Roman"/>
                <a:sym typeface="Times New Roman"/>
              </a:rPr>
              <a:t> </a:t>
            </a:r>
            <a:r>
              <a:rPr lang="en-US" sz="3800" b="1" dirty="0" err="1">
                <a:latin typeface="Times New Roman"/>
                <a:cs typeface="Times New Roman"/>
                <a:sym typeface="Times New Roman"/>
              </a:rPr>
              <a:t>hành</a:t>
            </a:r>
            <a:endParaRPr lang="vi-VN" sz="3800" b="1" dirty="0">
              <a:latin typeface="Times New Roman"/>
              <a:cs typeface="Times New Roman"/>
              <a:sym typeface="Times New Roman"/>
            </a:endParaRPr>
          </a:p>
        </p:txBody>
      </p:sp>
      <p:sp>
        <p:nvSpPr>
          <p:cNvPr id="3" name="TextBox 2">
            <a:extLst>
              <a:ext uri="{FF2B5EF4-FFF2-40B4-BE49-F238E27FC236}">
                <a16:creationId xmlns:a16="http://schemas.microsoft.com/office/drawing/2014/main" id="{6430371F-6AB9-CF48-ADDE-56E769C9051B}"/>
              </a:ext>
            </a:extLst>
          </p:cNvPr>
          <p:cNvSpPr txBox="1"/>
          <p:nvPr/>
        </p:nvSpPr>
        <p:spPr>
          <a:xfrm>
            <a:off x="1783080" y="1615363"/>
            <a:ext cx="9299448" cy="477054"/>
          </a:xfrm>
          <a:prstGeom prst="rect">
            <a:avLst/>
          </a:prstGeom>
          <a:noFill/>
        </p:spPr>
        <p:txBody>
          <a:bodyPr wrap="square">
            <a:spAutoFit/>
          </a:bodyPr>
          <a:lstStyle/>
          <a:p>
            <a:r>
              <a:rPr lang="en-US" sz="2500" dirty="0" err="1">
                <a:latin typeface="Times New Roman" panose="02020603050405020304" pitchFamily="18" charset="0"/>
                <a:cs typeface="Times New Roman" panose="02020603050405020304" pitchFamily="18" charset="0"/>
              </a:rPr>
              <a:t>Phần</a:t>
            </a:r>
            <a:r>
              <a:rPr lang="en-US" sz="2500" dirty="0">
                <a:latin typeface="Times New Roman" panose="02020603050405020304" pitchFamily="18" charset="0"/>
                <a:cs typeface="Times New Roman" panose="02020603050405020304" pitchFamily="18" charset="0"/>
              </a:rPr>
              <a:t> 1: </a:t>
            </a:r>
            <a:r>
              <a:rPr lang="en-US" sz="2500" dirty="0" err="1">
                <a:latin typeface="Times New Roman" panose="02020603050405020304" pitchFamily="18" charset="0"/>
                <a:cs typeface="Times New Roman" panose="02020603050405020304" pitchFamily="18" charset="0"/>
              </a:rPr>
              <a:t>Trải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nghiệm</a:t>
            </a:r>
            <a:r>
              <a:rPr lang="en-US" sz="2500" dirty="0">
                <a:latin typeface="Times New Roman" panose="02020603050405020304" pitchFamily="18" charset="0"/>
                <a:cs typeface="Times New Roman" panose="02020603050405020304" pitchFamily="18" charset="0"/>
              </a:rPr>
              <a:t> 6 </a:t>
            </a:r>
            <a:r>
              <a:rPr lang="en-US" sz="2500" dirty="0" err="1">
                <a:latin typeface="Times New Roman" panose="02020603050405020304" pitchFamily="18" charset="0"/>
                <a:cs typeface="Times New Roman" panose="02020603050405020304" pitchFamily="18" charset="0"/>
              </a:rPr>
              <a:t>chức</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năng</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cốt</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lõi</a:t>
            </a:r>
            <a:r>
              <a:rPr lang="en-US" sz="2500" dirty="0">
                <a:latin typeface="Times New Roman" panose="02020603050405020304" pitchFamily="18" charset="0"/>
                <a:cs typeface="Times New Roman" panose="02020603050405020304" pitchFamily="18" charset="0"/>
              </a:rPr>
              <a:t> (Core Modalities) </a:t>
            </a:r>
            <a:r>
              <a:rPr lang="en-US" sz="2500" dirty="0" err="1">
                <a:latin typeface="Times New Roman" panose="02020603050405020304" pitchFamily="18" charset="0"/>
                <a:cs typeface="Times New Roman" panose="02020603050405020304" pitchFamily="18" charset="0"/>
              </a:rPr>
              <a:t>của</a:t>
            </a:r>
            <a:r>
              <a:rPr lang="en-US" sz="2500" dirty="0">
                <a:latin typeface="Times New Roman" panose="02020603050405020304" pitchFamily="18" charset="0"/>
                <a:cs typeface="Times New Roman" panose="02020603050405020304" pitchFamily="18" charset="0"/>
              </a:rPr>
              <a:t> FM</a:t>
            </a:r>
          </a:p>
        </p:txBody>
      </p:sp>
      <p:sp>
        <p:nvSpPr>
          <p:cNvPr id="4" name="TextBox 3">
            <a:extLst>
              <a:ext uri="{FF2B5EF4-FFF2-40B4-BE49-F238E27FC236}">
                <a16:creationId xmlns:a16="http://schemas.microsoft.com/office/drawing/2014/main" id="{A44A6FD6-E335-DECB-D8D7-5A30BAF85FBC}"/>
              </a:ext>
            </a:extLst>
          </p:cNvPr>
          <p:cNvSpPr txBox="1"/>
          <p:nvPr/>
        </p:nvSpPr>
        <p:spPr>
          <a:xfrm>
            <a:off x="1783080" y="2420946"/>
            <a:ext cx="9153144" cy="1631216"/>
          </a:xfrm>
          <a:prstGeom prst="rect">
            <a:avLst/>
          </a:prstGeom>
          <a:noFill/>
        </p:spPr>
        <p:txBody>
          <a:bodyPr wrap="square">
            <a:spAutoFit/>
          </a:bodyPr>
          <a:lstStyle/>
          <a:p>
            <a:r>
              <a:rPr lang="en-US" sz="2500" dirty="0" err="1">
                <a:latin typeface="Times New Roman" panose="02020603050405020304" pitchFamily="18" charset="0"/>
                <a:cs typeface="Times New Roman" panose="02020603050405020304" pitchFamily="18" charset="0"/>
              </a:rPr>
              <a:t>Nhiệm</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vụ</a:t>
            </a:r>
            <a:r>
              <a:rPr lang="en-US" sz="2500" dirty="0">
                <a:latin typeface="Times New Roman" panose="02020603050405020304" pitchFamily="18" charset="0"/>
                <a:cs typeface="Times New Roman" panose="02020603050405020304" pitchFamily="18" charset="0"/>
              </a:rPr>
              <a:t> 2: Sinh </a:t>
            </a:r>
            <a:r>
              <a:rPr lang="en-US" sz="2500" dirty="0" err="1">
                <a:latin typeface="Times New Roman" panose="02020603050405020304" pitchFamily="18" charset="0"/>
                <a:cs typeface="Times New Roman" panose="02020603050405020304" pitchFamily="18" charset="0"/>
              </a:rPr>
              <a:t>dữ</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liệu</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mẫu</a:t>
            </a:r>
            <a:r>
              <a:rPr lang="en-US" sz="2500" dirty="0">
                <a:latin typeface="Times New Roman" panose="02020603050405020304" pitchFamily="18" charset="0"/>
                <a:cs typeface="Times New Roman" panose="02020603050405020304" pitchFamily="18" charset="0"/>
              </a:rPr>
              <a:t> (Data Generation)</a:t>
            </a:r>
          </a:p>
          <a:p>
            <a:r>
              <a:rPr lang="vi-VN" sz="2500" dirty="0">
                <a:latin typeface="Times New Roman" panose="02020603050405020304" pitchFamily="18" charset="0"/>
                <a:cs typeface="Times New Roman" panose="02020603050405020304" pitchFamily="18" charset="0"/>
              </a:rPr>
              <a:t>Yêu cầu AI sinh ra một danh sách gồm 20 sinh viên giả lập dưới định dạng JSON hoặc SQL script. Dữ liệu phải bao gồm: Mã sinh viên, Họ tên (tên tiếng Việt hợp lệ), Ngày sinh, và Điểm số của 3 môn học.</a:t>
            </a:r>
            <a:endParaRPr lang="en-US"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63504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C00F9D0B-11CF-BBE5-C6FD-3EA184E3FC25}"/>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21A0DA9B-D1B2-474E-4B74-39D1717C30CE}"/>
              </a:ext>
            </a:extLst>
          </p:cNvPr>
          <p:cNvSpPr/>
          <p:nvPr/>
        </p:nvSpPr>
        <p:spPr>
          <a:xfrm>
            <a:off x="346364" y="18510"/>
            <a:ext cx="11863028" cy="1268324"/>
          </a:xfrm>
          <a:prstGeom prst="rect">
            <a:avLst/>
          </a:prstGeom>
          <a:noFill/>
          <a:ln>
            <a:noFill/>
          </a:ln>
        </p:spPr>
        <p:txBody>
          <a:bodyPr spcFirstLastPara="1" wrap="square" lIns="91425" tIns="45700" rIns="91425" bIns="45700" anchor="ctr" anchorCtr="0">
            <a:noAutofit/>
          </a:bodyPr>
          <a:lstStyle/>
          <a:p>
            <a:pPr lvl="0" algn="ctr"/>
            <a:r>
              <a:rPr lang="en-US" sz="3800" b="1" dirty="0" err="1">
                <a:latin typeface="Times New Roman"/>
                <a:cs typeface="Times New Roman"/>
                <a:sym typeface="Times New Roman"/>
              </a:rPr>
              <a:t>Bài</a:t>
            </a:r>
            <a:r>
              <a:rPr lang="en-US" sz="3800" b="1" dirty="0">
                <a:latin typeface="Times New Roman"/>
                <a:cs typeface="Times New Roman"/>
                <a:sym typeface="Times New Roman"/>
              </a:rPr>
              <a:t> </a:t>
            </a:r>
            <a:r>
              <a:rPr lang="en-US" sz="3800" b="1" dirty="0" err="1">
                <a:latin typeface="Times New Roman"/>
                <a:cs typeface="Times New Roman"/>
                <a:sym typeface="Times New Roman"/>
              </a:rPr>
              <a:t>tập</a:t>
            </a:r>
            <a:r>
              <a:rPr lang="en-US" sz="3800" b="1" dirty="0">
                <a:latin typeface="Times New Roman"/>
                <a:cs typeface="Times New Roman"/>
                <a:sym typeface="Times New Roman"/>
              </a:rPr>
              <a:t> </a:t>
            </a:r>
            <a:r>
              <a:rPr lang="en-US" sz="3800" b="1" dirty="0" err="1">
                <a:latin typeface="Times New Roman"/>
                <a:cs typeface="Times New Roman"/>
                <a:sym typeface="Times New Roman"/>
              </a:rPr>
              <a:t>thực</a:t>
            </a:r>
            <a:r>
              <a:rPr lang="en-US" sz="3800" b="1" dirty="0">
                <a:latin typeface="Times New Roman"/>
                <a:cs typeface="Times New Roman"/>
                <a:sym typeface="Times New Roman"/>
              </a:rPr>
              <a:t> </a:t>
            </a:r>
            <a:r>
              <a:rPr lang="en-US" sz="3800" b="1" dirty="0" err="1">
                <a:latin typeface="Times New Roman"/>
                <a:cs typeface="Times New Roman"/>
                <a:sym typeface="Times New Roman"/>
              </a:rPr>
              <a:t>hành</a:t>
            </a:r>
            <a:endParaRPr lang="vi-VN" sz="3800" b="1" dirty="0">
              <a:latin typeface="Times New Roman"/>
              <a:cs typeface="Times New Roman"/>
              <a:sym typeface="Times New Roman"/>
            </a:endParaRPr>
          </a:p>
        </p:txBody>
      </p:sp>
      <p:sp>
        <p:nvSpPr>
          <p:cNvPr id="3" name="TextBox 2">
            <a:extLst>
              <a:ext uri="{FF2B5EF4-FFF2-40B4-BE49-F238E27FC236}">
                <a16:creationId xmlns:a16="http://schemas.microsoft.com/office/drawing/2014/main" id="{477234C5-3102-EC51-54D9-F45CE4BEF375}"/>
              </a:ext>
            </a:extLst>
          </p:cNvPr>
          <p:cNvSpPr txBox="1"/>
          <p:nvPr/>
        </p:nvSpPr>
        <p:spPr>
          <a:xfrm>
            <a:off x="1783080" y="1615363"/>
            <a:ext cx="9299448" cy="477054"/>
          </a:xfrm>
          <a:prstGeom prst="rect">
            <a:avLst/>
          </a:prstGeom>
          <a:noFill/>
        </p:spPr>
        <p:txBody>
          <a:bodyPr wrap="square">
            <a:spAutoFit/>
          </a:bodyPr>
          <a:lstStyle/>
          <a:p>
            <a:r>
              <a:rPr lang="en-US" sz="2500" dirty="0" err="1">
                <a:latin typeface="Times New Roman" panose="02020603050405020304" pitchFamily="18" charset="0"/>
                <a:cs typeface="Times New Roman" panose="02020603050405020304" pitchFamily="18" charset="0"/>
              </a:rPr>
              <a:t>Phần</a:t>
            </a:r>
            <a:r>
              <a:rPr lang="en-US" sz="2500" dirty="0">
                <a:latin typeface="Times New Roman" panose="02020603050405020304" pitchFamily="18" charset="0"/>
                <a:cs typeface="Times New Roman" panose="02020603050405020304" pitchFamily="18" charset="0"/>
              </a:rPr>
              <a:t> 1: </a:t>
            </a:r>
            <a:r>
              <a:rPr lang="en-US" sz="2500" dirty="0" err="1">
                <a:latin typeface="Times New Roman" panose="02020603050405020304" pitchFamily="18" charset="0"/>
                <a:cs typeface="Times New Roman" panose="02020603050405020304" pitchFamily="18" charset="0"/>
              </a:rPr>
              <a:t>Trải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nghiệm</a:t>
            </a:r>
            <a:r>
              <a:rPr lang="en-US" sz="2500" dirty="0">
                <a:latin typeface="Times New Roman" panose="02020603050405020304" pitchFamily="18" charset="0"/>
                <a:cs typeface="Times New Roman" panose="02020603050405020304" pitchFamily="18" charset="0"/>
              </a:rPr>
              <a:t> 6 </a:t>
            </a:r>
            <a:r>
              <a:rPr lang="en-US" sz="2500" dirty="0" err="1">
                <a:latin typeface="Times New Roman" panose="02020603050405020304" pitchFamily="18" charset="0"/>
                <a:cs typeface="Times New Roman" panose="02020603050405020304" pitchFamily="18" charset="0"/>
              </a:rPr>
              <a:t>chức</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năng</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cốt</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lõi</a:t>
            </a:r>
            <a:r>
              <a:rPr lang="en-US" sz="2500" dirty="0">
                <a:latin typeface="Times New Roman" panose="02020603050405020304" pitchFamily="18" charset="0"/>
                <a:cs typeface="Times New Roman" panose="02020603050405020304" pitchFamily="18" charset="0"/>
              </a:rPr>
              <a:t> (Core Modalities) </a:t>
            </a:r>
            <a:r>
              <a:rPr lang="en-US" sz="2500" dirty="0" err="1">
                <a:latin typeface="Times New Roman" panose="02020603050405020304" pitchFamily="18" charset="0"/>
                <a:cs typeface="Times New Roman" panose="02020603050405020304" pitchFamily="18" charset="0"/>
              </a:rPr>
              <a:t>của</a:t>
            </a:r>
            <a:r>
              <a:rPr lang="en-US" sz="2500" dirty="0">
                <a:latin typeface="Times New Roman" panose="02020603050405020304" pitchFamily="18" charset="0"/>
                <a:cs typeface="Times New Roman" panose="02020603050405020304" pitchFamily="18" charset="0"/>
              </a:rPr>
              <a:t> FM</a:t>
            </a:r>
          </a:p>
        </p:txBody>
      </p:sp>
      <p:sp>
        <p:nvSpPr>
          <p:cNvPr id="5" name="TextBox 4">
            <a:extLst>
              <a:ext uri="{FF2B5EF4-FFF2-40B4-BE49-F238E27FC236}">
                <a16:creationId xmlns:a16="http://schemas.microsoft.com/office/drawing/2014/main" id="{8CE1E1EF-6310-DE31-D26F-C5D2C17ADA8A}"/>
              </a:ext>
            </a:extLst>
          </p:cNvPr>
          <p:cNvSpPr txBox="1"/>
          <p:nvPr/>
        </p:nvSpPr>
        <p:spPr>
          <a:xfrm>
            <a:off x="1380744" y="2421032"/>
            <a:ext cx="10104120" cy="2015936"/>
          </a:xfrm>
          <a:prstGeom prst="rect">
            <a:avLst/>
          </a:prstGeom>
          <a:noFill/>
        </p:spPr>
        <p:txBody>
          <a:bodyPr wrap="square">
            <a:spAutoFit/>
          </a:bodyPr>
          <a:lstStyle/>
          <a:p>
            <a:pPr algn="just">
              <a:buNone/>
            </a:pPr>
            <a:r>
              <a:rPr lang="vi-VN" sz="2500" b="1" dirty="0">
                <a:latin typeface="+mj-lt"/>
              </a:rPr>
              <a:t>Nhiệm vụ 3: Viết tài liệu (Text Generation) &amp; Tóm tắt (Summarization)</a:t>
            </a:r>
            <a:endParaRPr lang="vi-VN" sz="2500" dirty="0">
              <a:latin typeface="+mj-lt"/>
            </a:endParaRPr>
          </a:p>
          <a:p>
            <a:pPr algn="just"/>
            <a:r>
              <a:rPr lang="vi-VN" sz="2500" dirty="0">
                <a:latin typeface="+mj-lt"/>
              </a:rPr>
              <a:t>Đưa đoạn code AI vừa sinh ở Nhiệm vụ 1 vào và yêu cầu AI: </a:t>
            </a:r>
            <a:r>
              <a:rPr lang="vi-VN" sz="2500" i="1" dirty="0">
                <a:latin typeface="+mj-lt"/>
              </a:rPr>
              <a:t>"Viết tài liệu hướng dẫn sử dụng (User Guide) ngắn gọn cho các hàm này"</a:t>
            </a:r>
            <a:r>
              <a:rPr lang="vi-VN" sz="2500" dirty="0">
                <a:latin typeface="+mj-lt"/>
              </a:rPr>
              <a:t>.</a:t>
            </a:r>
            <a:r>
              <a:rPr lang="en-US" sz="2500" dirty="0">
                <a:latin typeface="+mj-lt"/>
              </a:rPr>
              <a:t> </a:t>
            </a:r>
            <a:r>
              <a:rPr lang="vi-VN" sz="2500" dirty="0">
                <a:latin typeface="+mj-lt"/>
              </a:rPr>
              <a:t>Sau đó, yêu cầu AI: </a:t>
            </a:r>
            <a:r>
              <a:rPr lang="vi-VN" sz="2500" i="1" dirty="0">
                <a:latin typeface="+mj-lt"/>
              </a:rPr>
              <a:t>"Tóm tắt lại tài liệu trên thành 3 dòng ngắn gọn để đặt vào phần chú thích (README)"</a:t>
            </a:r>
            <a:r>
              <a:rPr lang="vi-VN" sz="2500" dirty="0">
                <a:latin typeface="+mj-lt"/>
              </a:rPr>
              <a:t>.</a:t>
            </a:r>
          </a:p>
        </p:txBody>
      </p:sp>
    </p:spTree>
    <p:extLst>
      <p:ext uri="{BB962C8B-B14F-4D97-AF65-F5344CB8AC3E}">
        <p14:creationId xmlns:p14="http://schemas.microsoft.com/office/powerpoint/2010/main" val="17846816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59EFD929-EB45-BCAA-DD6C-C191335D9EBA}"/>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0C1D3876-09AD-4513-0C9B-509346ECA242}"/>
              </a:ext>
            </a:extLst>
          </p:cNvPr>
          <p:cNvSpPr/>
          <p:nvPr/>
        </p:nvSpPr>
        <p:spPr>
          <a:xfrm>
            <a:off x="346364" y="18510"/>
            <a:ext cx="11863028" cy="1268324"/>
          </a:xfrm>
          <a:prstGeom prst="rect">
            <a:avLst/>
          </a:prstGeom>
          <a:noFill/>
          <a:ln>
            <a:noFill/>
          </a:ln>
        </p:spPr>
        <p:txBody>
          <a:bodyPr spcFirstLastPara="1" wrap="square" lIns="91425" tIns="45700" rIns="91425" bIns="45700" anchor="ctr" anchorCtr="0">
            <a:noAutofit/>
          </a:bodyPr>
          <a:lstStyle/>
          <a:p>
            <a:pPr lvl="0" algn="ctr"/>
            <a:r>
              <a:rPr lang="en-US" sz="3800" b="1" dirty="0" err="1">
                <a:latin typeface="Times New Roman"/>
                <a:cs typeface="Times New Roman"/>
                <a:sym typeface="Times New Roman"/>
              </a:rPr>
              <a:t>Bài</a:t>
            </a:r>
            <a:r>
              <a:rPr lang="en-US" sz="3800" b="1" dirty="0">
                <a:latin typeface="Times New Roman"/>
                <a:cs typeface="Times New Roman"/>
                <a:sym typeface="Times New Roman"/>
              </a:rPr>
              <a:t> </a:t>
            </a:r>
            <a:r>
              <a:rPr lang="en-US" sz="3800" b="1" dirty="0" err="1">
                <a:latin typeface="Times New Roman"/>
                <a:cs typeface="Times New Roman"/>
                <a:sym typeface="Times New Roman"/>
              </a:rPr>
              <a:t>tập</a:t>
            </a:r>
            <a:r>
              <a:rPr lang="en-US" sz="3800" b="1" dirty="0">
                <a:latin typeface="Times New Roman"/>
                <a:cs typeface="Times New Roman"/>
                <a:sym typeface="Times New Roman"/>
              </a:rPr>
              <a:t> </a:t>
            </a:r>
            <a:r>
              <a:rPr lang="en-US" sz="3800" b="1" dirty="0" err="1">
                <a:latin typeface="Times New Roman"/>
                <a:cs typeface="Times New Roman"/>
                <a:sym typeface="Times New Roman"/>
              </a:rPr>
              <a:t>thực</a:t>
            </a:r>
            <a:r>
              <a:rPr lang="en-US" sz="3800" b="1" dirty="0">
                <a:latin typeface="Times New Roman"/>
                <a:cs typeface="Times New Roman"/>
                <a:sym typeface="Times New Roman"/>
              </a:rPr>
              <a:t> </a:t>
            </a:r>
            <a:r>
              <a:rPr lang="en-US" sz="3800" b="1" dirty="0" err="1">
                <a:latin typeface="Times New Roman"/>
                <a:cs typeface="Times New Roman"/>
                <a:sym typeface="Times New Roman"/>
              </a:rPr>
              <a:t>hành</a:t>
            </a:r>
            <a:endParaRPr lang="vi-VN" sz="3800" b="1" dirty="0">
              <a:latin typeface="Times New Roman"/>
              <a:cs typeface="Times New Roman"/>
              <a:sym typeface="Times New Roman"/>
            </a:endParaRPr>
          </a:p>
        </p:txBody>
      </p:sp>
      <p:sp>
        <p:nvSpPr>
          <p:cNvPr id="3" name="TextBox 2">
            <a:extLst>
              <a:ext uri="{FF2B5EF4-FFF2-40B4-BE49-F238E27FC236}">
                <a16:creationId xmlns:a16="http://schemas.microsoft.com/office/drawing/2014/main" id="{751A6C79-EA8D-CF9E-51B8-3212B3697D02}"/>
              </a:ext>
            </a:extLst>
          </p:cNvPr>
          <p:cNvSpPr txBox="1"/>
          <p:nvPr/>
        </p:nvSpPr>
        <p:spPr>
          <a:xfrm>
            <a:off x="1783080" y="1615363"/>
            <a:ext cx="9299448" cy="477054"/>
          </a:xfrm>
          <a:prstGeom prst="rect">
            <a:avLst/>
          </a:prstGeom>
          <a:noFill/>
        </p:spPr>
        <p:txBody>
          <a:bodyPr wrap="square">
            <a:spAutoFit/>
          </a:bodyPr>
          <a:lstStyle/>
          <a:p>
            <a:r>
              <a:rPr lang="en-US" sz="2500" dirty="0" err="1">
                <a:latin typeface="Times New Roman" panose="02020603050405020304" pitchFamily="18" charset="0"/>
                <a:cs typeface="Times New Roman" panose="02020603050405020304" pitchFamily="18" charset="0"/>
              </a:rPr>
              <a:t>Phần</a:t>
            </a:r>
            <a:r>
              <a:rPr lang="en-US" sz="2500" dirty="0">
                <a:latin typeface="Times New Roman" panose="02020603050405020304" pitchFamily="18" charset="0"/>
                <a:cs typeface="Times New Roman" panose="02020603050405020304" pitchFamily="18" charset="0"/>
              </a:rPr>
              <a:t> 2: </a:t>
            </a:r>
            <a:r>
              <a:rPr lang="en-US" sz="2500" dirty="0" err="1">
                <a:latin typeface="Times New Roman" panose="02020603050405020304" pitchFamily="18" charset="0"/>
                <a:cs typeface="Times New Roman" panose="02020603050405020304" pitchFamily="18" charset="0"/>
              </a:rPr>
              <a:t>Đối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mặt</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và</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xử</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lý</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các</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giới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hạn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của</a:t>
            </a:r>
            <a:r>
              <a:rPr lang="en-US" sz="2500" dirty="0">
                <a:latin typeface="Times New Roman" panose="02020603050405020304" pitchFamily="18" charset="0"/>
                <a:cs typeface="Times New Roman" panose="02020603050405020304" pitchFamily="18" charset="0"/>
              </a:rPr>
              <a:t> LLM</a:t>
            </a:r>
          </a:p>
        </p:txBody>
      </p:sp>
      <p:sp>
        <p:nvSpPr>
          <p:cNvPr id="4" name="TextBox 3">
            <a:extLst>
              <a:ext uri="{FF2B5EF4-FFF2-40B4-BE49-F238E27FC236}">
                <a16:creationId xmlns:a16="http://schemas.microsoft.com/office/drawing/2014/main" id="{A4F934EC-61BE-B1BC-3F3E-6BD8F1563365}"/>
              </a:ext>
            </a:extLst>
          </p:cNvPr>
          <p:cNvSpPr txBox="1"/>
          <p:nvPr/>
        </p:nvSpPr>
        <p:spPr>
          <a:xfrm>
            <a:off x="1402080" y="2149019"/>
            <a:ext cx="10241280" cy="4324261"/>
          </a:xfrm>
          <a:prstGeom prst="rect">
            <a:avLst/>
          </a:prstGeom>
          <a:noFill/>
        </p:spPr>
        <p:txBody>
          <a:bodyPr wrap="square">
            <a:spAutoFit/>
          </a:bodyPr>
          <a:lstStyle/>
          <a:p>
            <a:pPr algn="just">
              <a:buNone/>
            </a:pPr>
            <a:r>
              <a:rPr lang="vi-VN" sz="2500" b="1" dirty="0">
                <a:latin typeface="+mj-lt"/>
              </a:rPr>
              <a:t>Nhiệm vụ 4: Khảo sát hiện tượng "Bịa đặt" (Hallucination) &amp; Đo lường Token</a:t>
            </a:r>
            <a:endParaRPr lang="vi-VN" sz="2500" dirty="0">
              <a:latin typeface="+mj-lt"/>
            </a:endParaRPr>
          </a:p>
          <a:p>
            <a:pPr algn="just"/>
            <a:r>
              <a:rPr lang="vi-VN" sz="2500" dirty="0">
                <a:latin typeface="+mj-lt"/>
              </a:rPr>
              <a:t>Thử nghiệm đặt một câu hỏi "bẫy" hoặc một yêu cầu viết code sử dụng một thư viện... không hề tồn tại (Ví dụ: </a:t>
            </a:r>
            <a:r>
              <a:rPr lang="vi-VN" sz="2500" i="1" dirty="0">
                <a:latin typeface="+mj-lt"/>
              </a:rPr>
              <a:t>"Hãy dùng thư viện super-student-manager-v9 trong Python để tối ưu thuật toán này"</a:t>
            </a:r>
            <a:r>
              <a:rPr lang="vi-VN" sz="2500" dirty="0">
                <a:latin typeface="+mj-lt"/>
              </a:rPr>
              <a:t>).</a:t>
            </a:r>
          </a:p>
          <a:p>
            <a:pPr algn="just"/>
            <a:endParaRPr lang="en-US" sz="2500" dirty="0">
              <a:latin typeface="+mj-lt"/>
            </a:endParaRPr>
          </a:p>
          <a:p>
            <a:pPr algn="just"/>
            <a:r>
              <a:rPr lang="vi-VN" sz="2500" dirty="0">
                <a:latin typeface="+mj-lt"/>
              </a:rPr>
              <a:t>AI có phát hiện ra thư viện đó không tồn tại không, hay nó tự "bịa" ra cách sử dụng thư viện đó? (Ghi lại minh chứng).</a:t>
            </a:r>
            <a:endParaRPr lang="en-US" sz="2500" dirty="0">
              <a:latin typeface="+mj-lt"/>
            </a:endParaRPr>
          </a:p>
          <a:p>
            <a:pPr algn="just"/>
            <a:endParaRPr lang="en-US" sz="2500" dirty="0">
              <a:latin typeface="+mj-lt"/>
            </a:endParaRPr>
          </a:p>
          <a:p>
            <a:pPr algn="just"/>
            <a:r>
              <a:rPr lang="vi-VN" sz="2500" dirty="0">
                <a:latin typeface="+mj-lt"/>
              </a:rPr>
              <a:t>Ước tính xem đoạn hội thoại từ đầu đến giờ của các em đã tiêu tốn khoảng bao nhiêu </a:t>
            </a:r>
            <a:r>
              <a:rPr lang="vi-VN" sz="2500" b="1" dirty="0">
                <a:latin typeface="+mj-lt"/>
              </a:rPr>
              <a:t>Token</a:t>
            </a:r>
            <a:r>
              <a:rPr lang="vi-VN" sz="2500" dirty="0">
                <a:latin typeface="+mj-lt"/>
              </a:rPr>
              <a:t>.</a:t>
            </a:r>
          </a:p>
        </p:txBody>
      </p:sp>
    </p:spTree>
    <p:extLst>
      <p:ext uri="{BB962C8B-B14F-4D97-AF65-F5344CB8AC3E}">
        <p14:creationId xmlns:p14="http://schemas.microsoft.com/office/powerpoint/2010/main" val="18373595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5158B828-7BA7-29DE-AFB3-D41078AAEE0B}"/>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9EACD4C1-E962-278E-84CF-9723B3CB74B9}"/>
              </a:ext>
            </a:extLst>
          </p:cNvPr>
          <p:cNvSpPr/>
          <p:nvPr/>
        </p:nvSpPr>
        <p:spPr>
          <a:xfrm>
            <a:off x="346364" y="18510"/>
            <a:ext cx="11863028" cy="1268324"/>
          </a:xfrm>
          <a:prstGeom prst="rect">
            <a:avLst/>
          </a:prstGeom>
          <a:noFill/>
          <a:ln>
            <a:noFill/>
          </a:ln>
        </p:spPr>
        <p:txBody>
          <a:bodyPr spcFirstLastPara="1" wrap="square" lIns="91425" tIns="45700" rIns="91425" bIns="45700" anchor="ctr" anchorCtr="0">
            <a:noAutofit/>
          </a:bodyPr>
          <a:lstStyle/>
          <a:p>
            <a:pPr lvl="0" algn="ctr"/>
            <a:r>
              <a:rPr lang="en-US" sz="3800" b="1" dirty="0" err="1">
                <a:latin typeface="Times New Roman"/>
                <a:cs typeface="Times New Roman"/>
                <a:sym typeface="Times New Roman"/>
              </a:rPr>
              <a:t>Bài</a:t>
            </a:r>
            <a:r>
              <a:rPr lang="en-US" sz="3800" b="1" dirty="0">
                <a:latin typeface="Times New Roman"/>
                <a:cs typeface="Times New Roman"/>
                <a:sym typeface="Times New Roman"/>
              </a:rPr>
              <a:t> </a:t>
            </a:r>
            <a:r>
              <a:rPr lang="en-US" sz="3800" b="1" dirty="0" err="1">
                <a:latin typeface="Times New Roman"/>
                <a:cs typeface="Times New Roman"/>
                <a:sym typeface="Times New Roman"/>
              </a:rPr>
              <a:t>tập</a:t>
            </a:r>
            <a:r>
              <a:rPr lang="en-US" sz="3800" b="1" dirty="0">
                <a:latin typeface="Times New Roman"/>
                <a:cs typeface="Times New Roman"/>
                <a:sym typeface="Times New Roman"/>
              </a:rPr>
              <a:t> </a:t>
            </a:r>
            <a:r>
              <a:rPr lang="en-US" sz="3800" b="1" dirty="0" err="1">
                <a:latin typeface="Times New Roman"/>
                <a:cs typeface="Times New Roman"/>
                <a:sym typeface="Times New Roman"/>
              </a:rPr>
              <a:t>thực</a:t>
            </a:r>
            <a:r>
              <a:rPr lang="en-US" sz="3800" b="1" dirty="0">
                <a:latin typeface="Times New Roman"/>
                <a:cs typeface="Times New Roman"/>
                <a:sym typeface="Times New Roman"/>
              </a:rPr>
              <a:t> </a:t>
            </a:r>
            <a:r>
              <a:rPr lang="en-US" sz="3800" b="1" dirty="0" err="1">
                <a:latin typeface="Times New Roman"/>
                <a:cs typeface="Times New Roman"/>
                <a:sym typeface="Times New Roman"/>
              </a:rPr>
              <a:t>hành</a:t>
            </a:r>
            <a:endParaRPr lang="vi-VN" sz="3800" b="1" dirty="0">
              <a:latin typeface="Times New Roman"/>
              <a:cs typeface="Times New Roman"/>
              <a:sym typeface="Times New Roman"/>
            </a:endParaRPr>
          </a:p>
        </p:txBody>
      </p:sp>
      <p:sp>
        <p:nvSpPr>
          <p:cNvPr id="3" name="TextBox 2">
            <a:extLst>
              <a:ext uri="{FF2B5EF4-FFF2-40B4-BE49-F238E27FC236}">
                <a16:creationId xmlns:a16="http://schemas.microsoft.com/office/drawing/2014/main" id="{8CBBF6D7-2630-530B-A9DA-5106C82EBCCE}"/>
              </a:ext>
            </a:extLst>
          </p:cNvPr>
          <p:cNvSpPr txBox="1"/>
          <p:nvPr/>
        </p:nvSpPr>
        <p:spPr>
          <a:xfrm>
            <a:off x="1783080" y="1615363"/>
            <a:ext cx="9299448" cy="477054"/>
          </a:xfrm>
          <a:prstGeom prst="rect">
            <a:avLst/>
          </a:prstGeom>
          <a:noFill/>
        </p:spPr>
        <p:txBody>
          <a:bodyPr wrap="square">
            <a:spAutoFit/>
          </a:bodyPr>
          <a:lstStyle/>
          <a:p>
            <a:r>
              <a:rPr lang="en-US" sz="2500" dirty="0" err="1">
                <a:latin typeface="Times New Roman" panose="02020603050405020304" pitchFamily="18" charset="0"/>
                <a:cs typeface="Times New Roman" panose="02020603050405020304" pitchFamily="18" charset="0"/>
              </a:rPr>
              <a:t>Phần</a:t>
            </a:r>
            <a:r>
              <a:rPr lang="en-US" sz="2500" dirty="0">
                <a:latin typeface="Times New Roman" panose="02020603050405020304" pitchFamily="18" charset="0"/>
                <a:cs typeface="Times New Roman" panose="02020603050405020304" pitchFamily="18" charset="0"/>
              </a:rPr>
              <a:t> 2: </a:t>
            </a:r>
            <a:r>
              <a:rPr lang="en-US" sz="2500" dirty="0" err="1">
                <a:latin typeface="Times New Roman" panose="02020603050405020304" pitchFamily="18" charset="0"/>
                <a:cs typeface="Times New Roman" panose="02020603050405020304" pitchFamily="18" charset="0"/>
              </a:rPr>
              <a:t>Đối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mặt</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và</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xử</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lý</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các</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giới</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hạn</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của</a:t>
            </a:r>
            <a:r>
              <a:rPr lang="en-US" sz="2500" dirty="0">
                <a:latin typeface="Times New Roman" panose="02020603050405020304" pitchFamily="18" charset="0"/>
                <a:cs typeface="Times New Roman" panose="02020603050405020304" pitchFamily="18" charset="0"/>
              </a:rPr>
              <a:t> LLM</a:t>
            </a:r>
          </a:p>
        </p:txBody>
      </p:sp>
      <p:sp>
        <p:nvSpPr>
          <p:cNvPr id="5" name="TextBox 4">
            <a:extLst>
              <a:ext uri="{FF2B5EF4-FFF2-40B4-BE49-F238E27FC236}">
                <a16:creationId xmlns:a16="http://schemas.microsoft.com/office/drawing/2014/main" id="{6B3BDD1D-40DE-8F6F-AB85-46CDE803957C}"/>
              </a:ext>
            </a:extLst>
          </p:cNvPr>
          <p:cNvSpPr txBox="1"/>
          <p:nvPr/>
        </p:nvSpPr>
        <p:spPr>
          <a:xfrm>
            <a:off x="1694688" y="2279595"/>
            <a:ext cx="9387840" cy="3170099"/>
          </a:xfrm>
          <a:prstGeom prst="rect">
            <a:avLst/>
          </a:prstGeom>
          <a:noFill/>
        </p:spPr>
        <p:txBody>
          <a:bodyPr wrap="square">
            <a:spAutoFit/>
          </a:bodyPr>
          <a:lstStyle/>
          <a:p>
            <a:pPr algn="just">
              <a:buNone/>
            </a:pPr>
            <a:r>
              <a:rPr lang="vi-VN" sz="2500" b="1" dirty="0">
                <a:latin typeface="+mj-lt"/>
              </a:rPr>
              <a:t>Nhiệm vụ 5: Vượt qua Cửa sổ ngữ cảnh (Context Window)</a:t>
            </a:r>
            <a:endParaRPr lang="vi-VN" sz="2500" dirty="0">
              <a:latin typeface="+mj-lt"/>
            </a:endParaRPr>
          </a:p>
          <a:p>
            <a:pPr algn="just"/>
            <a:endParaRPr lang="en-US" sz="2500" b="1" dirty="0">
              <a:latin typeface="+mj-lt"/>
            </a:endParaRPr>
          </a:p>
          <a:p>
            <a:pPr algn="just"/>
            <a:r>
              <a:rPr lang="vi-VN" sz="2500" dirty="0">
                <a:latin typeface="+mj-lt"/>
              </a:rPr>
              <a:t>Giả sử dự án phình to ra thành 50 file mã nguồn khác nhau và tổng dung lượng vượt quá giới hạn đọc một lần của AI.</a:t>
            </a:r>
          </a:p>
          <a:p>
            <a:pPr algn="just"/>
            <a:endParaRPr lang="en-US" sz="2500" dirty="0">
              <a:latin typeface="+mj-lt"/>
            </a:endParaRPr>
          </a:p>
          <a:p>
            <a:pPr algn="just"/>
            <a:r>
              <a:rPr lang="vi-VN" sz="2500" dirty="0">
                <a:latin typeface="+mj-lt"/>
              </a:rPr>
              <a:t>Hãy đề xuất chiến lược chia nhỏ mã nguồn hoặc tóm tắt cấu trúc thư mục để AI vẫn có thể hiểu và sửa lỗi (Debug) hệ thống cho các em mà không bị hiện tượng "quên" do tràn Context Window.</a:t>
            </a:r>
          </a:p>
        </p:txBody>
      </p:sp>
    </p:spTree>
    <p:extLst>
      <p:ext uri="{BB962C8B-B14F-4D97-AF65-F5344CB8AC3E}">
        <p14:creationId xmlns:p14="http://schemas.microsoft.com/office/powerpoint/2010/main" val="35496003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81AB8229-5063-95C6-5597-2ADD12B9C362}"/>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3F0677C9-446B-50D5-70A1-0B1063B84589}"/>
              </a:ext>
            </a:extLst>
          </p:cNvPr>
          <p:cNvSpPr/>
          <p:nvPr/>
        </p:nvSpPr>
        <p:spPr>
          <a:xfrm>
            <a:off x="346364" y="18510"/>
            <a:ext cx="11863028" cy="1268324"/>
          </a:xfrm>
          <a:prstGeom prst="rect">
            <a:avLst/>
          </a:prstGeom>
          <a:noFill/>
          <a:ln>
            <a:noFill/>
          </a:ln>
        </p:spPr>
        <p:txBody>
          <a:bodyPr spcFirstLastPara="1" wrap="square" lIns="91425" tIns="45700" rIns="91425" bIns="45700" anchor="ctr" anchorCtr="0">
            <a:noAutofit/>
          </a:bodyPr>
          <a:lstStyle/>
          <a:p>
            <a:pPr lvl="0" algn="ctr"/>
            <a:r>
              <a:rPr lang="en-US" sz="3800" b="1" dirty="0" err="1">
                <a:latin typeface="Times New Roman"/>
                <a:cs typeface="Times New Roman"/>
                <a:sym typeface="Times New Roman"/>
              </a:rPr>
              <a:t>Bài</a:t>
            </a:r>
            <a:r>
              <a:rPr lang="en-US" sz="3800" b="1" dirty="0">
                <a:latin typeface="Times New Roman"/>
                <a:cs typeface="Times New Roman"/>
                <a:sym typeface="Times New Roman"/>
              </a:rPr>
              <a:t> </a:t>
            </a:r>
            <a:r>
              <a:rPr lang="en-US" sz="3800" b="1" dirty="0" err="1">
                <a:latin typeface="Times New Roman"/>
                <a:cs typeface="Times New Roman"/>
                <a:sym typeface="Times New Roman"/>
              </a:rPr>
              <a:t>tập</a:t>
            </a:r>
            <a:r>
              <a:rPr lang="en-US" sz="3800" b="1" dirty="0">
                <a:latin typeface="Times New Roman"/>
                <a:cs typeface="Times New Roman"/>
                <a:sym typeface="Times New Roman"/>
              </a:rPr>
              <a:t> </a:t>
            </a:r>
            <a:r>
              <a:rPr lang="en-US" sz="3800" b="1" dirty="0" err="1">
                <a:latin typeface="Times New Roman"/>
                <a:cs typeface="Times New Roman"/>
                <a:sym typeface="Times New Roman"/>
              </a:rPr>
              <a:t>thực</a:t>
            </a:r>
            <a:r>
              <a:rPr lang="en-US" sz="3800" b="1" dirty="0">
                <a:latin typeface="Times New Roman"/>
                <a:cs typeface="Times New Roman"/>
                <a:sym typeface="Times New Roman"/>
              </a:rPr>
              <a:t> </a:t>
            </a:r>
            <a:r>
              <a:rPr lang="en-US" sz="3800" b="1" dirty="0" err="1">
                <a:latin typeface="Times New Roman"/>
                <a:cs typeface="Times New Roman"/>
                <a:sym typeface="Times New Roman"/>
              </a:rPr>
              <a:t>hành</a:t>
            </a:r>
            <a:endParaRPr lang="vi-VN" sz="3800" b="1" dirty="0">
              <a:latin typeface="Times New Roman"/>
              <a:cs typeface="Times New Roman"/>
              <a:sym typeface="Times New Roman"/>
            </a:endParaRPr>
          </a:p>
        </p:txBody>
      </p:sp>
      <p:sp>
        <p:nvSpPr>
          <p:cNvPr id="3" name="TextBox 2">
            <a:extLst>
              <a:ext uri="{FF2B5EF4-FFF2-40B4-BE49-F238E27FC236}">
                <a16:creationId xmlns:a16="http://schemas.microsoft.com/office/drawing/2014/main" id="{778C76B3-4FAC-E02A-3AAF-6EA2EF0500BC}"/>
              </a:ext>
            </a:extLst>
          </p:cNvPr>
          <p:cNvSpPr txBox="1"/>
          <p:nvPr/>
        </p:nvSpPr>
        <p:spPr>
          <a:xfrm>
            <a:off x="1783080" y="1615363"/>
            <a:ext cx="9299448" cy="477054"/>
          </a:xfrm>
          <a:prstGeom prst="rect">
            <a:avLst/>
          </a:prstGeom>
          <a:noFill/>
        </p:spPr>
        <p:txBody>
          <a:bodyPr wrap="square">
            <a:spAutoFit/>
          </a:bodyPr>
          <a:lstStyle/>
          <a:p>
            <a:r>
              <a:rPr lang="en-US" sz="2500" dirty="0" err="1">
                <a:latin typeface="Times New Roman" panose="02020603050405020304" pitchFamily="18" charset="0"/>
                <a:cs typeface="Times New Roman" panose="02020603050405020304" pitchFamily="18" charset="0"/>
              </a:rPr>
              <a:t>Phần</a:t>
            </a:r>
            <a:r>
              <a:rPr lang="en-US" sz="2500" dirty="0">
                <a:latin typeface="Times New Roman" panose="02020603050405020304" pitchFamily="18" charset="0"/>
                <a:cs typeface="Times New Roman" panose="02020603050405020304" pitchFamily="18" charset="0"/>
              </a:rPr>
              <a:t> 3: </a:t>
            </a:r>
            <a:r>
              <a:rPr lang="en-US" sz="2500" dirty="0" err="1">
                <a:latin typeface="Times New Roman" panose="02020603050405020304" pitchFamily="18" charset="0"/>
                <a:cs typeface="Times New Roman" panose="02020603050405020304" pitchFamily="18" charset="0"/>
              </a:rPr>
              <a:t>Ứng</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dụng</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nâng</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cao</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Mô</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phỏng</a:t>
            </a:r>
            <a:r>
              <a:rPr lang="en-US" sz="2500" dirty="0">
                <a:latin typeface="Times New Roman" panose="02020603050405020304" pitchFamily="18" charset="0"/>
                <a:cs typeface="Times New Roman" panose="02020603050405020304" pitchFamily="18" charset="0"/>
              </a:rPr>
              <a:t> RAG)</a:t>
            </a:r>
          </a:p>
        </p:txBody>
      </p:sp>
      <p:sp>
        <p:nvSpPr>
          <p:cNvPr id="4" name="TextBox 3">
            <a:extLst>
              <a:ext uri="{FF2B5EF4-FFF2-40B4-BE49-F238E27FC236}">
                <a16:creationId xmlns:a16="http://schemas.microsoft.com/office/drawing/2014/main" id="{75B21095-854B-208F-279B-65E54F744826}"/>
              </a:ext>
            </a:extLst>
          </p:cNvPr>
          <p:cNvSpPr txBox="1"/>
          <p:nvPr/>
        </p:nvSpPr>
        <p:spPr>
          <a:xfrm>
            <a:off x="1341120" y="2274642"/>
            <a:ext cx="10375392" cy="3785652"/>
          </a:xfrm>
          <a:prstGeom prst="rect">
            <a:avLst/>
          </a:prstGeom>
          <a:noFill/>
        </p:spPr>
        <p:txBody>
          <a:bodyPr wrap="square">
            <a:spAutoFit/>
          </a:bodyPr>
          <a:lstStyle/>
          <a:p>
            <a:pPr algn="just">
              <a:buNone/>
            </a:pPr>
            <a:r>
              <a:rPr lang="vi-VN" sz="2000" b="1" dirty="0">
                <a:latin typeface="+mj-lt"/>
              </a:rPr>
              <a:t>Nhiệm vụ 6: Tự chế một "Hệ thống RAG bằng tay" để sửa lỗi quy chế</a:t>
            </a:r>
            <a:endParaRPr lang="vi-VN" sz="2000" dirty="0">
              <a:latin typeface="+mj-lt"/>
            </a:endParaRPr>
          </a:p>
          <a:p>
            <a:pPr algn="just"/>
            <a:r>
              <a:rPr lang="vi-VN" sz="2000" dirty="0">
                <a:latin typeface="+mj-lt"/>
              </a:rPr>
              <a:t>Trường của các em có một file PDF "Quy chế đào tạo và xử lý học vụ" dài 100 trang. AI thông thường sẽ không biết quy chế riêng này của trường.</a:t>
            </a:r>
          </a:p>
          <a:p>
            <a:pPr marL="742950" lvl="1" indent="-285750" algn="just">
              <a:buFont typeface="Arial" panose="020B0604020202020204" pitchFamily="34" charset="0"/>
              <a:buChar char="•"/>
            </a:pPr>
            <a:r>
              <a:rPr lang="vi-VN" sz="2000" dirty="0">
                <a:latin typeface="+mj-lt"/>
              </a:rPr>
              <a:t>Hãy sao chép một đoạn ngắn (khoảng 1-2 trang) về </a:t>
            </a:r>
            <a:r>
              <a:rPr lang="vi-VN" sz="2000" i="1" dirty="0">
                <a:latin typeface="+mj-lt"/>
              </a:rPr>
              <a:t>Quy định cảnh báo học vụ và buộc thôi học</a:t>
            </a:r>
            <a:r>
              <a:rPr lang="vi-VN" sz="2000" dirty="0">
                <a:latin typeface="+mj-lt"/>
              </a:rPr>
              <a:t> của trường mình.</a:t>
            </a:r>
          </a:p>
          <a:p>
            <a:pPr marL="742950" lvl="1" indent="-285750" algn="just">
              <a:buFont typeface="Arial" panose="020B0604020202020204" pitchFamily="34" charset="0"/>
              <a:buChar char="•"/>
            </a:pPr>
            <a:r>
              <a:rPr lang="vi-VN" sz="2000" dirty="0">
                <a:latin typeface="+mj-lt"/>
              </a:rPr>
              <a:t>Cung cấp đoạn văn bản đó làm "Cơ sở tri thức" (Knowledge Base) trực tiếp vào trong Prompt cho AI theo cấu trúc:</a:t>
            </a:r>
          </a:p>
          <a:p>
            <a:pPr marL="742950" lvl="1" indent="-285750" algn="just">
              <a:buFont typeface="Arial" panose="020B0604020202020204" pitchFamily="34" charset="0"/>
              <a:buChar char="•"/>
            </a:pPr>
            <a:r>
              <a:rPr lang="vi-VN" sz="2000" dirty="0">
                <a:latin typeface="+mj-lt"/>
              </a:rPr>
              <a:t>"Dựa vào quy chế sau đây: [Dán đoạn quy chế vào]... Hãy viết một hàm bằng Python kiểm tra xem sinh viên Nguyễn Văn A có bị cảnh báo học vụ không nếu điểm GPA = 1.2 và số tín chỉ nợ = 16."</a:t>
            </a:r>
          </a:p>
          <a:p>
            <a:pPr marL="742950" lvl="1" indent="-285750" algn="just">
              <a:buFont typeface="Arial" panose="020B0604020202020204" pitchFamily="34" charset="0"/>
              <a:buChar char="•"/>
            </a:pPr>
            <a:r>
              <a:rPr lang="vi-VN" sz="2000" b="1" dirty="0">
                <a:latin typeface="+mj-lt"/>
              </a:rPr>
              <a:t>Đánh giá:</a:t>
            </a:r>
            <a:r>
              <a:rPr lang="vi-VN" sz="2000" dirty="0">
                <a:latin typeface="+mj-lt"/>
              </a:rPr>
              <a:t> So sánh kết quả câu trả lời của AI khi </a:t>
            </a:r>
            <a:r>
              <a:rPr lang="vi-VN" sz="2000" i="1" dirty="0">
                <a:latin typeface="+mj-lt"/>
              </a:rPr>
              <a:t>Có cung cấp quy chế</a:t>
            </a:r>
            <a:r>
              <a:rPr lang="vi-VN" sz="2000" dirty="0">
                <a:latin typeface="+mj-lt"/>
              </a:rPr>
              <a:t> và </a:t>
            </a:r>
            <a:r>
              <a:rPr lang="vi-VN" sz="2000" i="1" dirty="0">
                <a:latin typeface="+mj-lt"/>
              </a:rPr>
              <a:t>Không cung cấp quy chế</a:t>
            </a:r>
            <a:r>
              <a:rPr lang="vi-VN" sz="2000" dirty="0">
                <a:latin typeface="+mj-lt"/>
              </a:rPr>
              <a:t>. Cách làm này đã giải quyết vấn đề Hallucination như thế nào?</a:t>
            </a:r>
          </a:p>
        </p:txBody>
      </p:sp>
    </p:spTree>
    <p:extLst>
      <p:ext uri="{BB962C8B-B14F-4D97-AF65-F5344CB8AC3E}">
        <p14:creationId xmlns:p14="http://schemas.microsoft.com/office/powerpoint/2010/main" val="9439253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0931A2AC-0024-7DE2-10FA-FA2A2E8D41A0}"/>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D4587296-AF68-4C69-1A74-F9452033A125}"/>
              </a:ext>
            </a:extLst>
          </p:cNvPr>
          <p:cNvSpPr/>
          <p:nvPr/>
        </p:nvSpPr>
        <p:spPr>
          <a:xfrm>
            <a:off x="346364" y="18510"/>
            <a:ext cx="11863028" cy="1268324"/>
          </a:xfrm>
          <a:prstGeom prst="rect">
            <a:avLst/>
          </a:prstGeom>
          <a:noFill/>
          <a:ln>
            <a:noFill/>
          </a:ln>
        </p:spPr>
        <p:txBody>
          <a:bodyPr spcFirstLastPara="1" wrap="square" lIns="91425" tIns="45700" rIns="91425" bIns="45700" anchor="ctr" anchorCtr="0">
            <a:noAutofit/>
          </a:bodyPr>
          <a:lstStyle/>
          <a:p>
            <a:pPr lvl="0" algn="ctr"/>
            <a:r>
              <a:rPr lang="en-US" sz="3800" b="1" dirty="0">
                <a:latin typeface="Times New Roman"/>
                <a:cs typeface="Times New Roman"/>
              </a:rPr>
              <a:t>Vai </a:t>
            </a:r>
            <a:r>
              <a:rPr lang="en-US" sz="3800" b="1" dirty="0" err="1">
                <a:latin typeface="Times New Roman"/>
                <a:cs typeface="Times New Roman"/>
              </a:rPr>
              <a:t>trò</a:t>
            </a:r>
            <a:r>
              <a:rPr lang="en-US" sz="3800" b="1" dirty="0">
                <a:latin typeface="Times New Roman"/>
                <a:cs typeface="Times New Roman"/>
              </a:rPr>
              <a:t> </a:t>
            </a:r>
            <a:r>
              <a:rPr lang="en-US" sz="3800" b="1" dirty="0" err="1">
                <a:latin typeface="Times New Roman"/>
                <a:cs typeface="Times New Roman"/>
              </a:rPr>
              <a:t>của</a:t>
            </a:r>
            <a:r>
              <a:rPr lang="en-US" sz="3800" b="1" dirty="0">
                <a:latin typeface="Times New Roman"/>
                <a:cs typeface="Times New Roman"/>
              </a:rPr>
              <a:t> AI </a:t>
            </a:r>
            <a:r>
              <a:rPr lang="en-US" sz="3800" b="1" dirty="0" err="1">
                <a:latin typeface="Times New Roman"/>
                <a:cs typeface="Times New Roman"/>
              </a:rPr>
              <a:t>trong</a:t>
            </a:r>
            <a:r>
              <a:rPr lang="en-US" sz="3800" b="1" dirty="0">
                <a:latin typeface="Times New Roman"/>
                <a:cs typeface="Times New Roman"/>
              </a:rPr>
              <a:t> </a:t>
            </a:r>
            <a:r>
              <a:rPr lang="en-US" sz="3800" b="1" dirty="0" err="1">
                <a:latin typeface="Times New Roman"/>
                <a:cs typeface="Times New Roman"/>
              </a:rPr>
              <a:t>kỹ</a:t>
            </a:r>
            <a:r>
              <a:rPr lang="en-US" sz="3800" b="1" dirty="0">
                <a:latin typeface="Times New Roman"/>
                <a:cs typeface="Times New Roman"/>
              </a:rPr>
              <a:t> </a:t>
            </a:r>
            <a:r>
              <a:rPr lang="en-US" sz="3800" b="1" dirty="0" err="1">
                <a:latin typeface="Times New Roman"/>
                <a:cs typeface="Times New Roman"/>
              </a:rPr>
              <a:t>nghệ</a:t>
            </a:r>
            <a:r>
              <a:rPr lang="en-US" sz="3800" b="1" dirty="0">
                <a:latin typeface="Times New Roman"/>
                <a:cs typeface="Times New Roman"/>
              </a:rPr>
              <a:t> </a:t>
            </a:r>
            <a:r>
              <a:rPr lang="en-US" sz="3800" b="1" dirty="0" err="1">
                <a:latin typeface="Times New Roman"/>
                <a:cs typeface="Times New Roman"/>
              </a:rPr>
              <a:t>phần</a:t>
            </a:r>
            <a:r>
              <a:rPr lang="en-US" sz="3800" b="1" dirty="0">
                <a:latin typeface="Times New Roman"/>
                <a:cs typeface="Times New Roman"/>
              </a:rPr>
              <a:t> </a:t>
            </a:r>
            <a:r>
              <a:rPr lang="en-US" sz="3800" b="1" dirty="0" err="1">
                <a:latin typeface="Times New Roman"/>
                <a:cs typeface="Times New Roman"/>
              </a:rPr>
              <a:t>mềm</a:t>
            </a:r>
            <a:r>
              <a:rPr lang="en-US" sz="3800" b="1" dirty="0">
                <a:latin typeface="Times New Roman"/>
                <a:cs typeface="Times New Roman"/>
              </a:rPr>
              <a:t> </a:t>
            </a:r>
            <a:endParaRPr lang="vi-VN" sz="3800" b="1" dirty="0">
              <a:latin typeface="Times New Roman"/>
              <a:cs typeface="Times New Roman"/>
              <a:sym typeface="Times New Roman"/>
            </a:endParaRPr>
          </a:p>
        </p:txBody>
      </p:sp>
      <p:pic>
        <p:nvPicPr>
          <p:cNvPr id="4" name="Picture 3">
            <a:extLst>
              <a:ext uri="{FF2B5EF4-FFF2-40B4-BE49-F238E27FC236}">
                <a16:creationId xmlns:a16="http://schemas.microsoft.com/office/drawing/2014/main" id="{9A602E5D-81E7-A7DF-FB92-DFDBBAC2EA18}"/>
              </a:ext>
            </a:extLst>
          </p:cNvPr>
          <p:cNvPicPr>
            <a:picLocks noChangeAspect="1"/>
          </p:cNvPicPr>
          <p:nvPr/>
        </p:nvPicPr>
        <p:blipFill>
          <a:blip r:embed="rId3"/>
          <a:stretch>
            <a:fillRect/>
          </a:stretch>
        </p:blipFill>
        <p:spPr>
          <a:xfrm>
            <a:off x="1444544" y="164200"/>
            <a:ext cx="10401092" cy="6219048"/>
          </a:xfrm>
          <a:prstGeom prst="rect">
            <a:avLst/>
          </a:prstGeom>
        </p:spPr>
      </p:pic>
    </p:spTree>
    <p:extLst>
      <p:ext uri="{BB962C8B-B14F-4D97-AF65-F5344CB8AC3E}">
        <p14:creationId xmlns:p14="http://schemas.microsoft.com/office/powerpoint/2010/main" val="8696059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F563FA6A-C678-526F-14C0-3AD48AC599AD}"/>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B8CFF795-2DE7-FBDD-EECF-ADBB19D8B059}"/>
              </a:ext>
            </a:extLst>
          </p:cNvPr>
          <p:cNvSpPr/>
          <p:nvPr/>
        </p:nvSpPr>
        <p:spPr>
          <a:xfrm>
            <a:off x="346364" y="18510"/>
            <a:ext cx="11863028" cy="1268324"/>
          </a:xfrm>
          <a:prstGeom prst="rect">
            <a:avLst/>
          </a:prstGeom>
          <a:noFill/>
          <a:ln>
            <a:noFill/>
          </a:ln>
        </p:spPr>
        <p:txBody>
          <a:bodyPr spcFirstLastPara="1" wrap="square" lIns="91425" tIns="45700" rIns="91425" bIns="45700" anchor="ctr" anchorCtr="0">
            <a:noAutofit/>
          </a:bodyPr>
          <a:lstStyle/>
          <a:p>
            <a:pPr lvl="0" algn="ctr"/>
            <a:r>
              <a:rPr lang="en-US" sz="3800" b="1" dirty="0">
                <a:latin typeface="Times New Roman"/>
                <a:cs typeface="Times New Roman"/>
              </a:rPr>
              <a:t>Vai </a:t>
            </a:r>
            <a:r>
              <a:rPr lang="en-US" sz="3800" b="1" dirty="0" err="1">
                <a:latin typeface="Times New Roman"/>
                <a:cs typeface="Times New Roman"/>
              </a:rPr>
              <a:t>trò</a:t>
            </a:r>
            <a:r>
              <a:rPr lang="en-US" sz="3800" b="1" dirty="0">
                <a:latin typeface="Times New Roman"/>
                <a:cs typeface="Times New Roman"/>
              </a:rPr>
              <a:t> </a:t>
            </a:r>
            <a:r>
              <a:rPr lang="en-US" sz="3800" b="1" dirty="0" err="1">
                <a:latin typeface="Times New Roman"/>
                <a:cs typeface="Times New Roman"/>
              </a:rPr>
              <a:t>của</a:t>
            </a:r>
            <a:r>
              <a:rPr lang="en-US" sz="3800" b="1" dirty="0">
                <a:latin typeface="Times New Roman"/>
                <a:cs typeface="Times New Roman"/>
              </a:rPr>
              <a:t> AI </a:t>
            </a:r>
            <a:r>
              <a:rPr lang="en-US" sz="3800" b="1" dirty="0" err="1">
                <a:latin typeface="Times New Roman"/>
                <a:cs typeface="Times New Roman"/>
              </a:rPr>
              <a:t>trong</a:t>
            </a:r>
            <a:r>
              <a:rPr lang="en-US" sz="3800" b="1" dirty="0">
                <a:latin typeface="Times New Roman"/>
                <a:cs typeface="Times New Roman"/>
              </a:rPr>
              <a:t> </a:t>
            </a:r>
            <a:r>
              <a:rPr lang="en-US" sz="3800" b="1" dirty="0" err="1">
                <a:latin typeface="Times New Roman"/>
                <a:cs typeface="Times New Roman"/>
              </a:rPr>
              <a:t>kỹ</a:t>
            </a:r>
            <a:r>
              <a:rPr lang="en-US" sz="3800" b="1" dirty="0">
                <a:latin typeface="Times New Roman"/>
                <a:cs typeface="Times New Roman"/>
              </a:rPr>
              <a:t> </a:t>
            </a:r>
            <a:r>
              <a:rPr lang="en-US" sz="3800" b="1" dirty="0" err="1">
                <a:latin typeface="Times New Roman"/>
                <a:cs typeface="Times New Roman"/>
              </a:rPr>
              <a:t>nghệ</a:t>
            </a:r>
            <a:r>
              <a:rPr lang="en-US" sz="3800" b="1" dirty="0">
                <a:latin typeface="Times New Roman"/>
                <a:cs typeface="Times New Roman"/>
              </a:rPr>
              <a:t> </a:t>
            </a:r>
            <a:r>
              <a:rPr lang="en-US" sz="3800" b="1" dirty="0" err="1">
                <a:latin typeface="Times New Roman"/>
                <a:cs typeface="Times New Roman"/>
              </a:rPr>
              <a:t>phần</a:t>
            </a:r>
            <a:r>
              <a:rPr lang="en-US" sz="3800" b="1" dirty="0">
                <a:latin typeface="Times New Roman"/>
                <a:cs typeface="Times New Roman"/>
              </a:rPr>
              <a:t> </a:t>
            </a:r>
            <a:r>
              <a:rPr lang="en-US" sz="3800" b="1" dirty="0" err="1">
                <a:latin typeface="Times New Roman"/>
                <a:cs typeface="Times New Roman"/>
              </a:rPr>
              <a:t>mềm</a:t>
            </a:r>
            <a:r>
              <a:rPr lang="en-US" sz="3800" b="1" dirty="0">
                <a:latin typeface="Times New Roman"/>
                <a:cs typeface="Times New Roman"/>
              </a:rPr>
              <a:t> </a:t>
            </a:r>
            <a:endParaRPr lang="vi-VN" sz="3800" b="1" dirty="0">
              <a:latin typeface="Times New Roman"/>
              <a:cs typeface="Times New Roman"/>
              <a:sym typeface="Times New Roman"/>
            </a:endParaRPr>
          </a:p>
        </p:txBody>
      </p:sp>
      <p:pic>
        <p:nvPicPr>
          <p:cNvPr id="5" name="Picture 4">
            <a:extLst>
              <a:ext uri="{FF2B5EF4-FFF2-40B4-BE49-F238E27FC236}">
                <a16:creationId xmlns:a16="http://schemas.microsoft.com/office/drawing/2014/main" id="{4BD965E3-3F7B-58A4-7B31-6F29FD16F11B}"/>
              </a:ext>
            </a:extLst>
          </p:cNvPr>
          <p:cNvPicPr>
            <a:picLocks noChangeAspect="1"/>
          </p:cNvPicPr>
          <p:nvPr/>
        </p:nvPicPr>
        <p:blipFill>
          <a:blip r:embed="rId3"/>
          <a:stretch>
            <a:fillRect/>
          </a:stretch>
        </p:blipFill>
        <p:spPr>
          <a:xfrm>
            <a:off x="967428" y="956429"/>
            <a:ext cx="10257143" cy="5693280"/>
          </a:xfrm>
          <a:prstGeom prst="rect">
            <a:avLst/>
          </a:prstGeom>
        </p:spPr>
      </p:pic>
    </p:spTree>
    <p:extLst>
      <p:ext uri="{BB962C8B-B14F-4D97-AF65-F5344CB8AC3E}">
        <p14:creationId xmlns:p14="http://schemas.microsoft.com/office/powerpoint/2010/main" val="35127558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3F23CB3B-D9A6-D3F1-B959-E86983D9A1C8}"/>
            </a:ext>
          </a:extLst>
        </p:cNvPr>
        <p:cNvGrpSpPr/>
        <p:nvPr/>
      </p:nvGrpSpPr>
      <p:grpSpPr>
        <a:xfrm>
          <a:off x="0" y="0"/>
          <a:ext cx="0" cy="0"/>
          <a:chOff x="0" y="0"/>
          <a:chExt cx="0" cy="0"/>
        </a:xfrm>
      </p:grpSpPr>
      <p:sp>
        <p:nvSpPr>
          <p:cNvPr id="110" name="Google Shape;110;p3">
            <a:extLst>
              <a:ext uri="{FF2B5EF4-FFF2-40B4-BE49-F238E27FC236}">
                <a16:creationId xmlns:a16="http://schemas.microsoft.com/office/drawing/2014/main" id="{98DB1C2A-D4A3-5DBE-F9A2-5D6C1084C71D}"/>
              </a:ext>
            </a:extLst>
          </p:cNvPr>
          <p:cNvSpPr/>
          <p:nvPr/>
        </p:nvSpPr>
        <p:spPr>
          <a:xfrm>
            <a:off x="346364" y="18510"/>
            <a:ext cx="11863028" cy="1268324"/>
          </a:xfrm>
          <a:prstGeom prst="rect">
            <a:avLst/>
          </a:prstGeom>
          <a:noFill/>
          <a:ln>
            <a:noFill/>
          </a:ln>
        </p:spPr>
        <p:txBody>
          <a:bodyPr spcFirstLastPara="1" wrap="square" lIns="91425" tIns="45700" rIns="91425" bIns="45700" anchor="ctr" anchorCtr="0">
            <a:noAutofit/>
          </a:bodyPr>
          <a:lstStyle/>
          <a:p>
            <a:pPr lvl="0" algn="ctr"/>
            <a:r>
              <a:rPr lang="en-US" sz="3800" b="1" dirty="0">
                <a:latin typeface="Times New Roman"/>
                <a:cs typeface="Times New Roman"/>
              </a:rPr>
              <a:t>BÀI TẬP THỰC HÀNH</a:t>
            </a:r>
            <a:endParaRPr lang="vi-VN" sz="3800" b="1" dirty="0">
              <a:latin typeface="Times New Roman"/>
              <a:cs typeface="Times New Roman"/>
              <a:sym typeface="Times New Roman"/>
            </a:endParaRPr>
          </a:p>
        </p:txBody>
      </p:sp>
      <p:sp>
        <p:nvSpPr>
          <p:cNvPr id="2" name="TextBox 1">
            <a:extLst>
              <a:ext uri="{FF2B5EF4-FFF2-40B4-BE49-F238E27FC236}">
                <a16:creationId xmlns:a16="http://schemas.microsoft.com/office/drawing/2014/main" id="{FA0E32A6-3370-BD41-A2CC-CBB71807994A}"/>
              </a:ext>
            </a:extLst>
          </p:cNvPr>
          <p:cNvSpPr txBox="1"/>
          <p:nvPr/>
        </p:nvSpPr>
        <p:spPr>
          <a:xfrm>
            <a:off x="1341120" y="2274642"/>
            <a:ext cx="10375392" cy="400110"/>
          </a:xfrm>
          <a:prstGeom prst="rect">
            <a:avLst/>
          </a:prstGeom>
          <a:noFill/>
        </p:spPr>
        <p:txBody>
          <a:bodyPr wrap="square">
            <a:spAutoFit/>
          </a:bodyPr>
          <a:lstStyle/>
          <a:p>
            <a:pPr algn="just">
              <a:buNone/>
            </a:pPr>
            <a:r>
              <a:rPr lang="en-US" sz="2000" b="1" dirty="0">
                <a:latin typeface="+mj-lt"/>
              </a:rPr>
              <a:t>File </a:t>
            </a:r>
            <a:r>
              <a:rPr lang="en-US" sz="2000" b="1" dirty="0" err="1">
                <a:latin typeface="+mj-lt"/>
              </a:rPr>
              <a:t>Thực</a:t>
            </a:r>
            <a:r>
              <a:rPr lang="en-US" sz="2000" b="1" dirty="0">
                <a:latin typeface="+mj-lt"/>
              </a:rPr>
              <a:t> </a:t>
            </a:r>
            <a:r>
              <a:rPr lang="en-US" sz="2000" b="1" dirty="0" err="1">
                <a:latin typeface="+mj-lt"/>
              </a:rPr>
              <a:t>hành</a:t>
            </a:r>
            <a:r>
              <a:rPr lang="en-US" sz="2000" b="1" dirty="0">
                <a:latin typeface="+mj-lt"/>
              </a:rPr>
              <a:t> </a:t>
            </a:r>
            <a:r>
              <a:rPr lang="en-US" sz="2000" b="1" dirty="0" err="1">
                <a:latin typeface="+mj-lt"/>
              </a:rPr>
              <a:t>mục</a:t>
            </a:r>
            <a:r>
              <a:rPr lang="en-US" sz="2000" b="1" dirty="0">
                <a:latin typeface="+mj-lt"/>
              </a:rPr>
              <a:t> 1.3</a:t>
            </a:r>
            <a:endParaRPr lang="vi-VN" sz="2000" dirty="0">
              <a:latin typeface="+mj-lt"/>
            </a:endParaRPr>
          </a:p>
        </p:txBody>
      </p:sp>
    </p:spTree>
    <p:extLst>
      <p:ext uri="{BB962C8B-B14F-4D97-AF65-F5344CB8AC3E}">
        <p14:creationId xmlns:p14="http://schemas.microsoft.com/office/powerpoint/2010/main" val="757457929"/>
      </p:ext>
    </p:extLst>
  </p:cSld>
  <p:clrMapOvr>
    <a:masterClrMapping/>
  </p:clrMapOvr>
</p:sld>
</file>

<file path=ppt/theme/theme1.xml><?xml version="1.0" encoding="utf-8"?>
<a:theme xmlns:a="http://schemas.openxmlformats.org/drawingml/2006/main" name="Presentation2">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Presentation2</Template>
  <TotalTime>3721</TotalTime>
  <Words>2485</Words>
  <Application>Microsoft Office PowerPoint</Application>
  <PresentationFormat>Widescreen</PresentationFormat>
  <Paragraphs>120</Paragraphs>
  <Slides>18</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Calibri Light</vt:lpstr>
      <vt:lpstr>Times New Roman</vt:lpstr>
      <vt:lpstr>Times New Roman (Headings)</vt:lpstr>
      <vt:lpstr>Presentation2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Dung Nguyen</cp:lastModifiedBy>
  <cp:revision>654</cp:revision>
  <dcterms:created xsi:type="dcterms:W3CDTF">2023-01-06T06:35:00Z</dcterms:created>
  <dcterms:modified xsi:type="dcterms:W3CDTF">2026-07-26T07:16:22Z</dcterms:modified>
</cp:coreProperties>
</file>