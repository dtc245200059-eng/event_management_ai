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6359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B14BFF">
              <a:alpha val="25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657600"/>
            <a:ext cx="6400800" cy="6400800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-1828800"/>
            <a:ext cx="3657600" cy="3657600"/>
          </a:xfrm>
          <a:prstGeom prst="ellipse">
            <a:avLst/>
          </a:prstGeom>
          <a:solidFill>
            <a:srgbClr val="FF3D9A">
              <a:alpha val="12000"/>
            </a:srgbClr>
          </a:solidFill>
          <a:ln w="12700">
            <a:solidFill>
              <a:srgbClr val="FF3D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22960"/>
            <a:ext cx="3200400" cy="411480"/>
          </a:xfrm>
          <a:prstGeom prst="roundRect">
            <a:avLst>
              <a:gd name="adj" fmla="val 48889"/>
            </a:avLst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AI AGENT × COWORK CLAUDE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Mô hình ngách tiềm năng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Kiếm tiền </a:t>
            </a:r>
            <a:r>
              <a:rPr lang="en-US" sz="44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ĐỘT PHÁ</a:t>
            </a: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với AI thế hệ mới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109728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10 ngách thực chiến + lộ trình khởi nghiệp 90 ngày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852160" y="5486400"/>
            <a:ext cx="2926080" cy="822960"/>
          </a:xfrm>
          <a:prstGeom prst="roundRect">
            <a:avLst>
              <a:gd name="adj" fmla="val 13333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5532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điểm  </a:t>
            </a:r>
            <a:endParaRPr lang="en-US" sz="11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→ 2030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1120" y="5486400"/>
            <a:ext cx="2560320" cy="822960"/>
          </a:xfrm>
          <a:prstGeom prst="roundRect">
            <a:avLst>
              <a:gd name="adj" fmla="val 13333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55321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 </a:t>
            </a:r>
            <a:endParaRPr lang="en-US" sz="1100" dirty="0"/>
          </a:p>
          <a:p>
            <a:pPr marL="0" indent="0">
              <a:buNone/>
            </a:pPr>
            <a:r>
              <a:rPr lang="en-US" sz="1800" b="1" dirty="0">
                <a:solidFill>
                  <a:srgbClr val="B14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trang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B14BFF">
              <a:alpha val="12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/  TẠI SAO LÀ BÂY GIỜ?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Cánh cửa cơ hội lớn nhất thập kỷ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303520" cy="1737360"/>
          </a:xfrm>
          <a:prstGeom prst="roundRect">
            <a:avLst>
              <a:gd name="adj" fmla="val 7895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146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4231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450 tỷ$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737360" y="31546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 trường SaaS dọc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2194560"/>
            <a:ext cx="5303520" cy="1737360"/>
          </a:xfrm>
          <a:prstGeom prst="roundRect">
            <a:avLst>
              <a:gd name="adj" fmla="val 7895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51460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4231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60-80%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7315200" y="31546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 kiệm vận hành nhờ AI Agent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303520" cy="1737360"/>
          </a:xfrm>
          <a:prstGeom prst="roundRect">
            <a:avLst>
              <a:gd name="adj" fmla="val 7895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3484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43434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3D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người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1737360" y="5074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Cũng có thể vận hành doanh nghiệp triệu đô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217920" y="4114800"/>
            <a:ext cx="5303520" cy="1737360"/>
          </a:xfrm>
          <a:prstGeom prst="roundRect">
            <a:avLst>
              <a:gd name="adj" fmla="val 7895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434840"/>
            <a:ext cx="640080" cy="6400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15200" y="43434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FF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2–4 tháng</a:t>
            </a:r>
            <a:endParaRPr lang="en-US" sz="3600" dirty="0"/>
          </a:p>
        </p:txBody>
      </p:sp>
      <p:sp>
        <p:nvSpPr>
          <p:cNvPr id="21" name="Text 15"/>
          <p:cNvSpPr/>
          <p:nvPr/>
        </p:nvSpPr>
        <p:spPr>
          <a:xfrm>
            <a:off x="7315200" y="5074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hoàn vốn trung bình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× Cowork Claude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B14BFF">
              <a:alpha val="12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KHÁI NIỆM CƠ BẢN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 là gì?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1A1F4A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7744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4231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“nhân viên ảo”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3474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là phần mềm có thể </a:t>
            </a: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quyết định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và </a:t>
            </a: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thực hiện hành động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để hoàn thành mục tiêu — không chỉ trả lời như chatbot thường.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49377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 </a:t>
            </a:r>
            <a:r>
              <a:rPr lang="en-US" sz="1300" i="1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nói “gửi báo cáo doanh số tuần này cho 3 sếp” → Agent tự đọc dữ liệu, lập báo cáo, gửi email.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0" y="2103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14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nhanh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2606040"/>
            <a:ext cx="5120640" cy="1691640"/>
          </a:xfrm>
          <a:prstGeom prst="roundRect">
            <a:avLst>
              <a:gd name="adj" fmla="val 6486"/>
            </a:avLst>
          </a:prstGeom>
          <a:solidFill>
            <a:srgbClr val="242A5C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2697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THƯỜNG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0" y="30632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3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trả lời câu hỏi</a:t>
            </a:r>
            <a:r>
              <a:rPr lang="en-US" sz="1300" b="1" dirty="0">
                <a:solidFill>
                  <a:srgbClr val="FF3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con người ra lệnh từng bước</a:t>
            </a:r>
            <a:r>
              <a:rPr lang="en-US" sz="1300" b="1" dirty="0">
                <a:solidFill>
                  <a:srgbClr val="FF3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truy cập công cụ ngoài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0" y="4526280"/>
            <a:ext cx="5120640" cy="1691640"/>
          </a:xfrm>
          <a:prstGeom prst="roundRect">
            <a:avLst>
              <a:gd name="adj" fmla="val 6486"/>
            </a:avLst>
          </a:prstGeom>
          <a:solidFill>
            <a:srgbClr val="1A1F4A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4617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83680" y="49834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F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kế hoạch &amp; ra quyết định</a:t>
            </a:r>
            <a:r>
              <a:rPr lang="en-US" sz="1300" b="1" dirty="0">
                <a:solidFill>
                  <a:srgbClr val="00F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hành động, có trí nhớ</a:t>
            </a:r>
            <a:r>
              <a:rPr lang="en-US" sz="1300" b="1" dirty="0">
                <a:solidFill>
                  <a:srgbClr val="00F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email, file, web, API…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× Cowork Claude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B14BFF">
              <a:alpha val="12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NỀN TẢNG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Cowork Claude — Trợ thủ đắc lực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chỉ là AI để hỏi — mà là không gian Claude làm việc cùng bạn trên máy tính của bạn.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889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7614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&amp; Plugin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34290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“kỹ năng” chuyên biệt — viết sách, dựng video, làm slide, kiểm thử bản in…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89120" y="256032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7889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27614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Connector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17720" y="34290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Gmail, Slack, Notion, Google Drive, Zoom, Canva, Calendar…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256032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7889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27614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trực tiếp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66760" y="34290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Đọc/ghi file trong thư mục bạn chọn — làm việc đa định dạng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34340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57200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544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tự động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68680" y="52120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task chạy mỗi sáng, mỗi tuần — báo cáo tự đến tay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89120" y="434340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4572000"/>
            <a:ext cx="502920" cy="5029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257800" y="4544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Use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4617720" y="52120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“nhìn” và thao tác phần mềm desktop khi cần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8138160" y="434340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4572000"/>
            <a:ext cx="502920" cy="5029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006840" y="45445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sống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8366760" y="52120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HTML tự cập nhật dữ liệu mỗi lần mở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× Cowork Claude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B14BFF">
              <a:alpha val="12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CƠ HỘI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cơn sóng đang hội tụ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520440" cy="3749040"/>
          </a:xfrm>
          <a:prstGeom prst="roundRect">
            <a:avLst>
              <a:gd name="adj" fmla="val 3896"/>
            </a:avLst>
          </a:prstGeom>
          <a:solidFill>
            <a:srgbClr val="1A1F4A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06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 AI giảm 100×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mạnh nay rẻ bằng 1% so với 2023. Doanh nghiệp nhỏ cũng dùng được.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2377440"/>
            <a:ext cx="3520440" cy="3749040"/>
          </a:xfrm>
          <a:prstGeom prst="roundRect">
            <a:avLst>
              <a:gd name="adj" fmla="val 3896"/>
            </a:avLst>
          </a:prstGeom>
          <a:solidFill>
            <a:srgbClr val="1A1F4A"/>
          </a:solidFill>
          <a:ln w="25400">
            <a:solidFill>
              <a:srgbClr val="B14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606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B14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709160" y="3749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biết hành động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9160" y="4572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chỉ trả lời — Agent gọi API, mở file, gửi mail, thực thi nhiệm vụ.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2377440"/>
            <a:ext cx="3520440" cy="3749040"/>
          </a:xfrm>
          <a:prstGeom prst="roundRect">
            <a:avLst>
              <a:gd name="adj" fmla="val 3896"/>
            </a:avLst>
          </a:prstGeom>
          <a:solidFill>
            <a:srgbClr val="1A1F4A"/>
          </a:solidFill>
          <a:ln w="25400">
            <a:solidFill>
              <a:srgbClr val="FF3D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606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3D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8503920" y="3749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 &amp; no-code chín muồi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03920" y="4572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skill, kết nối MCP, build agent không cần biết lập trình.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× Cowork Claude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B14BFF">
              <a:alpha val="12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BẢN ĐỒ NGÁCH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mô hình ngách triệu đô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ngách giải một “nỗi đau ngàn tỉ” — tự động hoá việc mà con người ghét làm.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2103120" cy="1691640"/>
          </a:xfrm>
          <a:prstGeom prst="roundRect">
            <a:avLst>
              <a:gd name="adj" fmla="val 8108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743200"/>
            <a:ext cx="502920" cy="5029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78892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3429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Trợ lý phòng khám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880360" y="2606040"/>
            <a:ext cx="2103120" cy="1691640"/>
          </a:xfrm>
          <a:prstGeom prst="roundRect">
            <a:avLst>
              <a:gd name="adj" fmla="val 8108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17520" y="2743200"/>
            <a:ext cx="502920" cy="502920"/>
          </a:xfrm>
          <a:prstGeom prst="ellipse">
            <a:avLst/>
          </a:prstGeom>
          <a:solidFill>
            <a:srgbClr val="00FFA3">
              <a:alpha val="25000"/>
            </a:srgbClr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175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788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017520" y="3429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AI tổng đài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120640" y="2606040"/>
            <a:ext cx="2103120" cy="1691640"/>
          </a:xfrm>
          <a:prstGeom prst="roundRect">
            <a:avLst>
              <a:gd name="adj" fmla="val 8108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257800" y="2743200"/>
            <a:ext cx="502920" cy="502920"/>
          </a:xfrm>
          <a:prstGeom prst="ellipse">
            <a:avLst/>
          </a:prstGeom>
          <a:solidFill>
            <a:srgbClr val="FF3D9A">
              <a:alpha val="25000"/>
            </a:srgbClr>
          </a:solidFill>
          <a:ln w="12700">
            <a:solidFill>
              <a:srgbClr val="FF3D9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5780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3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78892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57800" y="3429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Cắt video → Short/Reels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360920" y="2606040"/>
            <a:ext cx="2103120" cy="1691640"/>
          </a:xfrm>
          <a:prstGeom prst="roundRect">
            <a:avLst>
              <a:gd name="adj" fmla="val 8108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0" y="2743200"/>
            <a:ext cx="502920" cy="502920"/>
          </a:xfrm>
          <a:prstGeom prst="ellipse">
            <a:avLst/>
          </a:prstGeom>
          <a:solidFill>
            <a:srgbClr val="B14BFF">
              <a:alpha val="25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4980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14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278892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98080" y="3429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Market Research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9601200" y="2606040"/>
            <a:ext cx="2103120" cy="1691640"/>
          </a:xfrm>
          <a:prstGeom prst="roundRect">
            <a:avLst>
              <a:gd name="adj" fmla="val 8108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738360" y="2743200"/>
            <a:ext cx="502920" cy="502920"/>
          </a:xfrm>
          <a:prstGeom prst="ellipse">
            <a:avLst/>
          </a:prstGeom>
          <a:solidFill>
            <a:srgbClr val="FFD60A">
              <a:alpha val="25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73836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2788920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38360" y="3429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toán &amp; Hoá đơn SME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640080" y="4480560"/>
            <a:ext cx="2103120" cy="1691640"/>
          </a:xfrm>
          <a:prstGeom prst="roundRect">
            <a:avLst>
              <a:gd name="adj" fmla="val 8108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77240" y="4617720"/>
            <a:ext cx="502920" cy="502920"/>
          </a:xfrm>
          <a:prstGeom prst="ellipse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7724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3040" y="4663440"/>
            <a:ext cx="502920" cy="5029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77240" y="53035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Recruiter sàng lọc CV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2880360" y="4480560"/>
            <a:ext cx="2103120" cy="1691640"/>
          </a:xfrm>
          <a:prstGeom prst="roundRect">
            <a:avLst>
              <a:gd name="adj" fmla="val 8108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3017520" y="4617720"/>
            <a:ext cx="502920" cy="502920"/>
          </a:xfrm>
          <a:prstGeom prst="ellipse">
            <a:avLst/>
          </a:prstGeom>
          <a:solidFill>
            <a:srgbClr val="B14BFF">
              <a:alpha val="25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301752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14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03320" y="4663440"/>
            <a:ext cx="502920" cy="5029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3017520" y="53035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 cá nhân hoá</a:t>
            </a:r>
            <a:endParaRPr lang="en-US" sz="1300" dirty="0"/>
          </a:p>
        </p:txBody>
      </p:sp>
      <p:sp>
        <p:nvSpPr>
          <p:cNvPr id="42" name="Shape 33"/>
          <p:cNvSpPr/>
          <p:nvPr/>
        </p:nvSpPr>
        <p:spPr>
          <a:xfrm>
            <a:off x="5120640" y="4480560"/>
            <a:ext cx="2103120" cy="1691640"/>
          </a:xfrm>
          <a:prstGeom prst="roundRect">
            <a:avLst>
              <a:gd name="adj" fmla="val 8108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5257800" y="4617720"/>
            <a:ext cx="502920" cy="502920"/>
          </a:xfrm>
          <a:prstGeom prst="ellipse">
            <a:avLst/>
          </a:prstGeom>
          <a:solidFill>
            <a:srgbClr val="00FFA3">
              <a:alpha val="25000"/>
            </a:srgbClr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525780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0" y="4663440"/>
            <a:ext cx="502920" cy="50292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257800" y="53035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Trợ lý môi giới BĐS</a:t>
            </a:r>
            <a:endParaRPr lang="en-US" sz="1300" dirty="0"/>
          </a:p>
        </p:txBody>
      </p:sp>
      <p:sp>
        <p:nvSpPr>
          <p:cNvPr id="47" name="Shape 37"/>
          <p:cNvSpPr/>
          <p:nvPr/>
        </p:nvSpPr>
        <p:spPr>
          <a:xfrm>
            <a:off x="7360920" y="4480560"/>
            <a:ext cx="2103120" cy="1691640"/>
          </a:xfrm>
          <a:prstGeom prst="roundRect">
            <a:avLst>
              <a:gd name="adj" fmla="val 8108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7498080" y="4617720"/>
            <a:ext cx="502920" cy="502920"/>
          </a:xfrm>
          <a:prstGeom prst="ellipse">
            <a:avLst/>
          </a:prstGeom>
          <a:solidFill>
            <a:srgbClr val="FF3D9A">
              <a:alpha val="25000"/>
            </a:srgbClr>
          </a:solidFill>
          <a:ln w="12700">
            <a:solidFill>
              <a:srgbClr val="FF3D9A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74980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3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83880" y="4663440"/>
            <a:ext cx="502920" cy="50292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7498080" y="53035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Rà soát hợp đồng pháp lý</a:t>
            </a:r>
            <a:endParaRPr lang="en-US" sz="1300" dirty="0"/>
          </a:p>
        </p:txBody>
      </p:sp>
      <p:sp>
        <p:nvSpPr>
          <p:cNvPr id="52" name="Shape 41"/>
          <p:cNvSpPr/>
          <p:nvPr/>
        </p:nvSpPr>
        <p:spPr>
          <a:xfrm>
            <a:off x="9601200" y="4480560"/>
            <a:ext cx="2103120" cy="1691640"/>
          </a:xfrm>
          <a:prstGeom prst="roundRect">
            <a:avLst>
              <a:gd name="adj" fmla="val 8108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9738360" y="4617720"/>
            <a:ext cx="502920" cy="502920"/>
          </a:xfrm>
          <a:prstGeom prst="ellipse">
            <a:avLst/>
          </a:prstGeom>
          <a:solidFill>
            <a:srgbClr val="FFD60A">
              <a:alpha val="25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4" name="Text 43"/>
          <p:cNvSpPr/>
          <p:nvPr/>
        </p:nvSpPr>
        <p:spPr>
          <a:xfrm>
            <a:off x="973836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24160" y="4663440"/>
            <a:ext cx="502920" cy="50292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9738360" y="53035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Chăm sóc khách Shopee/TikTok</a:t>
            </a:r>
            <a:endParaRPr lang="en-US" sz="1300" dirty="0"/>
          </a:p>
        </p:txBody>
      </p:sp>
      <p:sp>
        <p:nvSpPr>
          <p:cNvPr id="57" name="Text 45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1000" dirty="0"/>
          </a:p>
        </p:txBody>
      </p:sp>
      <p:sp>
        <p:nvSpPr>
          <p:cNvPr id="58" name="Text 4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× Cowork Claude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B14BFF">
              <a:alpha val="12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NGÁCH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Trợ lý ảo cho phòng khám &amp; nha khoa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Lễ tân AI 24/7 — không nghỉ trưa, không cáu khi bệnh nhân gọi lần thứ 10.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1A1F4A"/>
          </a:solidFill>
          <a:ln w="25400">
            <a:solidFill>
              <a:srgbClr val="00E5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880360"/>
            <a:ext cx="2468880" cy="2468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440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5715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khám tư, nha khoa, spa, thẩm mỹ viện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2606040"/>
            <a:ext cx="6766560" cy="1691640"/>
          </a:xfrm>
          <a:prstGeom prst="roundRect">
            <a:avLst>
              <a:gd name="adj" fmla="val 6486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606040"/>
            <a:ext cx="73152" cy="16916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2697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LÀM GÌ?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83480" y="30632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lịch hẹn tự động qua Zalo, web, điện thoại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Nhắc tái khám, gửi kết quả xét nghiệm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100+ câu hỏi giá dịch vụ, bảo hiểm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báo cáo doanh thu cuối ngày cho bác sĩ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54880" y="448056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242A5C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THỰC TẾ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37760" y="4937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nha khoa ở Hà Nội tiết kiệm 1 lễ tân (~9 triệu/tháng) + tăng 30% lượng hẹn nhờ nhắc nhở tự động.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61120" y="448056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00E5FF">
              <a:alpha val="22000"/>
            </a:srgbClr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9828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098280" y="4892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5–15 tr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098280" y="5760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VNĐ/khách hàng/tháng (theo gói)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× Cowork Claude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B14BFF">
              <a:alpha val="12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NGÁCH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 AI thay thế tổng đài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biết nói tiếng Việt, hiểu giọng địa phương, chốt đơn như salesman.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1A1F4A"/>
          </a:solidFill>
          <a:ln w="25400">
            <a:solidFill>
              <a:srgbClr val="00FFA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880360"/>
            <a:ext cx="2468880" cy="2468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440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5715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hiểm, ngân hàng, e-commerce, dịch vụ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2606040"/>
            <a:ext cx="6766560" cy="1691640"/>
          </a:xfrm>
          <a:prstGeom prst="roundRect">
            <a:avLst>
              <a:gd name="adj" fmla="val 6486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606040"/>
            <a:ext cx="73152" cy="1691640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2697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LÀM GÌ?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83480" y="30632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 ra &amp; nghe gọi đến — tự nhiên như người thật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NPS, xác nhận đơn hàng, đòi nợ nhẹ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cuộc gọi, chuyển case khó cho con người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Cắt giảm 60–80% chi phí nhân sự tổng đài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54880" y="448056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242A5C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THỰC TẾ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37760" y="4937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ty bảo hiểm xử lý 10.000 cuộc gọi/ngày bằng Voice AI — thay thế 40 nhân viên, ROI sau 3 tháng.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61120" y="448056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00FFA3">
              <a:alpha val="22000"/>
            </a:srgbClr>
          </a:solidFill>
          <a:ln w="25400">
            <a:solidFill>
              <a:srgbClr val="00FFA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9828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098280" y="4892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8–25 tr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098280" y="5760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VNĐ/tháng + phí phút gọi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× Cowork Claude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B14BFF">
              <a:alpha val="12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3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NGÁCH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Cắt video dài thành Short / Reels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video podcast 2 tiếng → 30 clip ngắn viral trong 1 đêm.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1A1F4A"/>
          </a:solidFill>
          <a:ln w="25400">
            <a:solidFill>
              <a:srgbClr val="FF3D9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880360"/>
            <a:ext cx="2468880" cy="2468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440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5715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Streamer, podcaster, KOL, agency truyền thông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2606040"/>
            <a:ext cx="6766560" cy="1691640"/>
          </a:xfrm>
          <a:prstGeom prst="roundRect">
            <a:avLst>
              <a:gd name="adj" fmla="val 6486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606040"/>
            <a:ext cx="73152" cy="1691640"/>
          </a:xfrm>
          <a:prstGeom prst="rect">
            <a:avLst/>
          </a:prstGeom>
          <a:solidFill>
            <a:srgbClr val="FF3D9A"/>
          </a:solidFill>
          <a:ln w="12700">
            <a:solidFill>
              <a:srgbClr val="FF3D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2697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3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LÀM GÌ?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83480" y="30632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tìm khoảnh khắc hấp dẫn — tự động cắt 60–90s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phụ đề, nhạc nền, B-roll, ratio 9:16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caption hook + hashtag tối ưu theo nền tảng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hàng loạt cho TikTok, YouTube Shorts, Reels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54880" y="448056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242A5C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THỰC TẾ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37760" y="4937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podcaster Mỹ kiếm 300–1.000 USD/khách hàng/tháng dịch vụ “content repurposing”.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61120" y="448056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FF3D9A">
              <a:alpha val="22000"/>
            </a:srgbClr>
          </a:solidFill>
          <a:ln w="25400">
            <a:solidFill>
              <a:srgbClr val="FF3D9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9828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3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098280" y="4892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3–20 tr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098280" y="5760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VNĐ/client/tháng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× Cowork Claude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B14BFF">
              <a:alpha val="12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14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NGÁCH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Market Research Agent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“Consultant in a box” — thay vì thuê BCG 50.000 USD.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1A1F4A"/>
          </a:solidFill>
          <a:ln w="25400">
            <a:solidFill>
              <a:srgbClr val="B14B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880360"/>
            <a:ext cx="2468880" cy="2468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440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5715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Startup, SME, đội marketing, nhà đầu tư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2606040"/>
            <a:ext cx="6766560" cy="1691640"/>
          </a:xfrm>
          <a:prstGeom prst="roundRect">
            <a:avLst>
              <a:gd name="adj" fmla="val 6486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606040"/>
            <a:ext cx="73152" cy="1691640"/>
          </a:xfrm>
          <a:prstGeom prst="rect">
            <a:avLst/>
          </a:prstGeom>
          <a:solidFill>
            <a:srgbClr val="B14BFF"/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2697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4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LÀM GÌ?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83480" y="30632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đối thủ, đọc 1.000 review, social listening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xu hướng từ Reddit, Tiktok, news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ra báo cáo định vị thị trường + cơ hội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hàng tuần qua dashboard live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54880" y="448056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242A5C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THỰC TẾ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37760" y="4937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solo founder bán báo cáo ngành mỹ phẩm 199 USD/tháng — 80 khách = ~16k USD MRR.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61120" y="448056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B14BFF">
              <a:alpha val="22000"/>
            </a:srgbClr>
          </a:solidFill>
          <a:ln w="25400">
            <a:solidFill>
              <a:srgbClr val="B14B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9828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14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098280" y="4892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500k–5 tr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098280" y="5760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VNĐ/báo cáo · hoặc 2–10 tr/tháng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× Cowork Claude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B14BFF">
              <a:alpha val="12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/  NGÁCH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Kế toán &amp; hoá đơn cho SME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sách tự nhập — chủ shop không còn “đêm về soạn excel”.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1A1F4A"/>
          </a:solidFill>
          <a:ln w="25400">
            <a:solidFill>
              <a:srgbClr val="FFD60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880360"/>
            <a:ext cx="2468880" cy="2468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440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5715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Cửa hàng, F&amp;B, salon, xưởng nhỏ, hộ kinh doanh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2606040"/>
            <a:ext cx="6766560" cy="1691640"/>
          </a:xfrm>
          <a:prstGeom prst="roundRect">
            <a:avLst>
              <a:gd name="adj" fmla="val 6486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606040"/>
            <a:ext cx="73152" cy="169164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2697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LÀM GÌ?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83480" y="30632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hoá đơn (ảnh/PDF) → vào sổ tự động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soát ngân hàng, ví điện tử, Shopee Pay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lãi/lỗ, cảnh báo dòng tiền âm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chuẩn bị tờ khai thuế quý/năm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54880" y="448056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242A5C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THỰC TẾ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37760" y="4937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ra mắt “Claude for Small Business” với 15 workflow dạng này — chuỗi 10 nhà hàng tiết kiệm 1 kế toán full-time.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61120" y="448056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FFD60A">
              <a:alpha val="22000"/>
            </a:srgbClr>
          </a:solidFill>
          <a:ln w="25400">
            <a:solidFill>
              <a:srgbClr val="FFD60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9828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098280" y="4892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2–8 tr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098280" y="5760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VNĐ/shop/tháng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× Cowork Claude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B14BFF">
              <a:alpha val="12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/  NGÁCH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Recruiter — sàng lọc CV &amp; phỏng vấn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1.000 CV trong 10 phút, phỏng vấn vòng 1 bằng giọng nói.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1A1F4A"/>
          </a:solidFill>
          <a:ln w="25400">
            <a:solidFill>
              <a:srgbClr val="00E5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880360"/>
            <a:ext cx="2468880" cy="2468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440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5715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ty tuyển dụng số lượng lớn, HR agency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2606040"/>
            <a:ext cx="6766560" cy="1691640"/>
          </a:xfrm>
          <a:prstGeom prst="roundRect">
            <a:avLst>
              <a:gd name="adj" fmla="val 6486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606040"/>
            <a:ext cx="73152" cy="16916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2697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LÀM GÌ?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83480" y="30632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CV → chấm điểm theo JD, xếp hạng tự động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 điện phỏng vấn vòng sàng lọc bằng Voice AI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Lên lịch phỏng vấn vòng 2 với HR thật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bias, đảm bảo công bằng theo tiêu chí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54880" y="448056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242A5C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THỰC TẾ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37760" y="4937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tuyển sale chuỗi 200 người — AI Recruiter rút thời gian từ 6 tuần xuống 9 ngày.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61120" y="448056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00E5FF">
              <a:alpha val="22000"/>
            </a:srgbClr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9828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098280" y="4892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10–30 tr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098280" y="5760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VNĐ/tháng + phí mỗi ứng viên đạt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× Cowork Claude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B14BFF">
              <a:alpha val="12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14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/  NGÁCH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Tutor cá nhân hoá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học sinh có 1 gia sư riêng — giá bằng 1/20 gia sư người thật.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1A1F4A"/>
          </a:solidFill>
          <a:ln w="25400">
            <a:solidFill>
              <a:srgbClr val="B14B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880360"/>
            <a:ext cx="2468880" cy="2468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440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5715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huynh, trung tâm IELTS/SAT, e-learning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2606040"/>
            <a:ext cx="6766560" cy="1691640"/>
          </a:xfrm>
          <a:prstGeom prst="roundRect">
            <a:avLst>
              <a:gd name="adj" fmla="val 6486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606040"/>
            <a:ext cx="73152" cy="1691640"/>
          </a:xfrm>
          <a:prstGeom prst="rect">
            <a:avLst/>
          </a:prstGeom>
          <a:solidFill>
            <a:srgbClr val="B14BFF"/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2697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14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LÀM GÌ?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83480" y="30632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bài viết, sửa phát âm, giải Toán từng bước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bài tập theo điểm yếu của riêng học sinh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tiến bộ gửi phụ huynh mỗi tuần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qua Zalo, web — không cần app phức tạp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54880" y="448056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242A5C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THỰC TẾ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37760" y="4937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Khoá luyện IELTS Speaking 1-1 với AI Tutor: 499k/tháng × 500 học viên = ~250 tr MRR.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61120" y="448056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B14BFF">
              <a:alpha val="22000"/>
            </a:srgbClr>
          </a:solidFill>
          <a:ln w="25400">
            <a:solidFill>
              <a:srgbClr val="B14B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9828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14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098280" y="4892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200k–2 tr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098280" y="5760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VNĐ/học viên/tháng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× Cowork Claude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B14BFF">
              <a:alpha val="12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/  NGÁCH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Trợ lý môi giới Bất động sản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sale có 1 “thư ký AI” — chăm 500 lead song song không quên ai.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1A1F4A"/>
          </a:solidFill>
          <a:ln w="25400">
            <a:solidFill>
              <a:srgbClr val="00FFA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880360"/>
            <a:ext cx="2468880" cy="2468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440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5715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Sàn BĐS, môi giới cá nhân, dự án căn hộ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2606040"/>
            <a:ext cx="6766560" cy="1691640"/>
          </a:xfrm>
          <a:prstGeom prst="roundRect">
            <a:avLst>
              <a:gd name="adj" fmla="val 6486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606040"/>
            <a:ext cx="73152" cy="1691640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2697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LÀM GÌ?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83480" y="30632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hiểu nhu cầu khách — gợi ý 5 căn phù hợp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24/7 trên Zalo/Messenger/Facebook ads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lịch xem nhà, gửi tài liệu pháp lý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Nuôi lead lâu dài — nhắc lại sau 3, 6, 12 tháng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54880" y="448056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242A5C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THỰC TẾ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37760" y="4937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Sàn căn hộ Quận 9 dùng AI Agent — chuyển đổi lead Facebook tăng 2.4×, tiết kiệm 4 telesales.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61120" y="448056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00FFA3">
              <a:alpha val="22000"/>
            </a:srgbClr>
          </a:solidFill>
          <a:ln w="25400">
            <a:solidFill>
              <a:srgbClr val="00FFA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9828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098280" y="4892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5–20 tr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098280" y="5760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VNĐ/sàn/tháng + hoa hồng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× Cowork Claude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B14BFF">
              <a:alpha val="12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3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/  NGÁCH 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Rà soát hợp đồng &amp; tài liệu pháp lý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100 trang hợp đồng trong 90 giây — đánh dấu rủi ro.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1A1F4A"/>
          </a:solidFill>
          <a:ln w="25400">
            <a:solidFill>
              <a:srgbClr val="FF3D9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880360"/>
            <a:ext cx="2468880" cy="2468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440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5715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nghiệp, văn phòng luật, freelancer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2606040"/>
            <a:ext cx="6766560" cy="1691640"/>
          </a:xfrm>
          <a:prstGeom prst="roundRect">
            <a:avLst>
              <a:gd name="adj" fmla="val 6486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606040"/>
            <a:ext cx="73152" cy="1691640"/>
          </a:xfrm>
          <a:prstGeom prst="rect">
            <a:avLst/>
          </a:prstGeom>
          <a:solidFill>
            <a:srgbClr val="FF3D9A"/>
          </a:solidFill>
          <a:ln w="12700">
            <a:solidFill>
              <a:srgbClr val="FF3D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2697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3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LÀM GÌ?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83480" y="30632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điều khoản bất lợi, mâu thuẫn nội bộ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với mẫu chuẩn ngành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tóm tắt 1 trang cho lãnh đạo ký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trữ, tìm kiếm thông minh kho hợp đồng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54880" y="448056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242A5C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THỰC TẾ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37760" y="4937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Harvey, EvenUp — startup AI pháp lý đang reshape thị trường 450 tỷ USD; bản Việt hoá còn rất trống.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61120" y="448056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FF3D9A">
              <a:alpha val="22000"/>
            </a:srgbClr>
          </a:solidFill>
          <a:ln w="25400">
            <a:solidFill>
              <a:srgbClr val="FF3D9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9828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3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098280" y="4892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15–50 tr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098280" y="5760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VNĐ/doanh nghiệp/tháng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× Cowork Claude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B14BFF">
              <a:alpha val="12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/  NGÁCH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Chăm sóc khách hàng Shopee / TikTok Shop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bán 24/7 — trợ lý AI trả lời 24/7. Không miss đơn ban đêm.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1A1F4A"/>
          </a:solidFill>
          <a:ln w="25400">
            <a:solidFill>
              <a:srgbClr val="FFD60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880360"/>
            <a:ext cx="2468880" cy="2468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440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5715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Shopee, Tiki, Lazada, TikTok Shop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2606040"/>
            <a:ext cx="6766560" cy="1691640"/>
          </a:xfrm>
          <a:prstGeom prst="roundRect">
            <a:avLst>
              <a:gd name="adj" fmla="val 6486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606040"/>
            <a:ext cx="73152" cy="169164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2697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LÀM GÌ?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83480" y="30632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tin nhắn, comment livestream tức thì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vấn size, màu, vận chuyển theo từng SKU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khiếu nại, hoàn tiền, đổi trả tự động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đánh giá → đề xuất cải tiến sản phẩm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54880" y="448056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242A5C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THỰC TẾ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37760" y="49377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thời trang mid-size: AI trả lời 80% inbox, giải phóng 3 nhân viên CSKH, tăng tỷ lệ chốt 18%.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61120" y="448056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FFD60A">
              <a:alpha val="22000"/>
            </a:srgbClr>
          </a:solidFill>
          <a:ln w="25400">
            <a:solidFill>
              <a:srgbClr val="FFD60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9828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098280" y="4892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1.5–6 tr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098280" y="5760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VNĐ/shop/tháng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× Cowork Claude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B14BFF">
              <a:alpha val="12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/  LỘ TRÌNH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 ngày — Từ 0 đến khách hàng đầu tiên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520440" cy="4069080"/>
          </a:xfrm>
          <a:prstGeom prst="roundRect">
            <a:avLst>
              <a:gd name="adj" fmla="val 3896"/>
            </a:avLst>
          </a:prstGeom>
          <a:solidFill>
            <a:srgbClr val="1A1F4A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46888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00E5FF">
              <a:alpha val="2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68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Ngày 0–30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KHÁM PHÁ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1 ngách bạn hiểu rõ nhất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Phỏng vấn 10 khách tiềm năng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Cowork Claude căn bản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prototype trong 7 ngày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2194560"/>
            <a:ext cx="3520440" cy="4069080"/>
          </a:xfrm>
          <a:prstGeom prst="roundRect">
            <a:avLst>
              <a:gd name="adj" fmla="val 3896"/>
            </a:avLst>
          </a:prstGeom>
          <a:solidFill>
            <a:srgbClr val="1A1F4A"/>
          </a:solidFill>
          <a:ln w="25400">
            <a:solidFill>
              <a:srgbClr val="B14B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246888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B14BFF">
              <a:alpha val="25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468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14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Ngày 31–60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3017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THỬ NGHIỆM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09160" y="36576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3 khách dùng miễn phí (beta)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lường thời gian tiết kiệm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Tinh chỉnh skill &amp; prompt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thành dịch vụ rõ ràng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2194560"/>
            <a:ext cx="3520440" cy="4069080"/>
          </a:xfrm>
          <a:prstGeom prst="roundRect">
            <a:avLst>
              <a:gd name="adj" fmla="val 3896"/>
            </a:avLst>
          </a:prstGeom>
          <a:solidFill>
            <a:srgbClr val="1A1F4A"/>
          </a:solidFill>
          <a:ln w="25400">
            <a:solidFill>
              <a:srgbClr val="FF3D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246888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F3D9A">
              <a:alpha val="25000"/>
            </a:srgbClr>
          </a:solidFill>
          <a:ln w="12700">
            <a:solidFill>
              <a:srgbClr val="FF3D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2468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3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Ngày 61–90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0" y="3017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BÁN HÀNG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503920" y="36576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giá theo giá trị (ROI 5–10×)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Ký hợp đồng khách trả tiền đầu tiên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case study + content marketing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Lên kế hoạch nhân bản &amp; scale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× Cowork Claude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B14BFF">
              <a:alpha val="12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 /  BỘ CÔNG CỤ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Bạn cần gì để bắt đầu?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 vui: KHÔNG cần biết code. Có thể bắt đầu chỉ với 1 chiếc laptop.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880360"/>
            <a:ext cx="777240" cy="777240"/>
          </a:xfrm>
          <a:prstGeom prst="ellipse">
            <a:avLst/>
          </a:prstGeom>
          <a:solidFill>
            <a:srgbClr val="00E5FF">
              <a:alpha val="22000"/>
            </a:srgbClr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175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 / Max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783080" y="3383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não chính — Claude Sonnet 4.6 / Opus 4.6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89120" y="260604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17720" y="2880360"/>
            <a:ext cx="777240" cy="777240"/>
          </a:xfrm>
          <a:prstGeom prst="ellipse">
            <a:avLst/>
          </a:prstGeom>
          <a:solidFill>
            <a:srgbClr val="B14BFF">
              <a:alpha val="22000"/>
            </a:srgbClr>
          </a:solidFill>
          <a:ln w="12700">
            <a:solidFill>
              <a:srgbClr val="B14BF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01752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 mode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532120" y="3383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gian Claude làm việc cùng bạn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38160" y="260604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66760" y="2880360"/>
            <a:ext cx="777240" cy="777240"/>
          </a:xfrm>
          <a:prstGeom prst="ellipse">
            <a:avLst/>
          </a:prstGeom>
          <a:solidFill>
            <a:srgbClr val="FF3D9A">
              <a:alpha val="22000"/>
            </a:srgbClr>
          </a:solidFill>
          <a:ln w="12700">
            <a:solidFill>
              <a:srgbClr val="FF3D9A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01752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8116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Connectors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281160" y="3383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Slack, Notion, Drive, Calendar…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" y="443484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68680" y="4709160"/>
            <a:ext cx="777240" cy="777240"/>
          </a:xfrm>
          <a:prstGeom prst="ellipse">
            <a:avLst/>
          </a:prstGeom>
          <a:solidFill>
            <a:srgbClr val="00FFA3">
              <a:alpha val="22000"/>
            </a:srgbClr>
          </a:solidFill>
          <a:ln w="12700">
            <a:solidFill>
              <a:srgbClr val="00FFA3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84632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83080" y="4709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&amp; Plugins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783080" y="5212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năng chuyên biệt cho từng ngách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389120" y="443484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617720" y="4709160"/>
            <a:ext cx="777240" cy="777240"/>
          </a:xfrm>
          <a:prstGeom prst="ellipse">
            <a:avLst/>
          </a:prstGeom>
          <a:solidFill>
            <a:srgbClr val="FFD60A">
              <a:alpha val="22000"/>
            </a:srgbClr>
          </a:solidFill>
          <a:ln w="12700">
            <a:solidFill>
              <a:srgbClr val="FFD60A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846320"/>
            <a:ext cx="502920" cy="5029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532120" y="4709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Tasks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5532120" y="5212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task chạy tự động hằng ngày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138160" y="443484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1A1F4A"/>
          </a:solidFill>
          <a:ln w="12700">
            <a:solidFill>
              <a:srgbClr val="2A3168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366760" y="4709160"/>
            <a:ext cx="777240" cy="777240"/>
          </a:xfrm>
          <a:prstGeom prst="ellipse">
            <a:avLst/>
          </a:prstGeom>
          <a:solidFill>
            <a:srgbClr val="00E5FF">
              <a:alpha val="22000"/>
            </a:srgbClr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846320"/>
            <a:ext cx="502920" cy="5029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281160" y="4709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 sống</a:t>
            </a:r>
            <a:endParaRPr lang="en-US" sz="1600" dirty="0"/>
          </a:p>
        </p:txBody>
      </p:sp>
      <p:sp>
        <p:nvSpPr>
          <p:cNvPr id="36" name="Text 28"/>
          <p:cNvSpPr/>
          <p:nvPr/>
        </p:nvSpPr>
        <p:spPr>
          <a:xfrm>
            <a:off x="9281160" y="5212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HTML tự cập nhật từ dữ liệu khách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× Cowork Claude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B14BFF">
              <a:alpha val="12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 /  TRÁNH BẪY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sai lầm × 5 mẹo vàng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440680" cy="4160520"/>
          </a:xfrm>
          <a:prstGeom prst="roundRect">
            <a:avLst>
              <a:gd name="adj" fmla="val 3297"/>
            </a:avLst>
          </a:prstGeom>
          <a:solidFill>
            <a:srgbClr val="1A1F4A"/>
          </a:solidFill>
          <a:ln w="25400">
            <a:solidFill>
              <a:srgbClr val="FF3D9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774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423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3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LẦM CẦN TRÁNH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✕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Đua nhau làm “wrapper ChatGPT” chung chung — 90% sẽ chết 2026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✕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ngách quá rộng (“AI cho mọi người”) — không ai trả tiền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✕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theo giờ thay vì bán theo kết quả/ROI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✕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qua bước phỏng vấn khách — build sai vấn đề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✕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Mải mê tinh chỉnh prompt, không đi tìm khách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2194560"/>
            <a:ext cx="5257800" cy="4160520"/>
          </a:xfrm>
          <a:prstGeom prst="roundRect">
            <a:avLst>
              <a:gd name="adj" fmla="val 3297"/>
            </a:avLst>
          </a:prstGeom>
          <a:solidFill>
            <a:srgbClr val="1A1F4A"/>
          </a:solidFill>
          <a:ln w="25400">
            <a:solidFill>
              <a:srgbClr val="00FFA3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3774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242316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MẸO ĐỊNH GIÁ &amp; TRIỂN KHAI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ngách “chán + đắt + lặp lại” → ROI dễ chứng minh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giá theo % tiết kiệm/doanh thu — không theo giờ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 Done-for-you, scale dần thành SaaS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case study số liệu — vũ khí marketing mạnh nhất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người + AI: bán “dịch vụ” thay vì “tool”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× Cowork Claude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743200"/>
            <a:ext cx="8229600" cy="8229600"/>
          </a:xfrm>
          <a:prstGeom prst="ellipse">
            <a:avLst/>
          </a:prstGeom>
          <a:solidFill>
            <a:srgbClr val="B14BFF">
              <a:alpha val="22000"/>
            </a:srgbClr>
          </a:solidFill>
          <a:ln w="12700">
            <a:solidFill>
              <a:srgbClr val="B14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37760" y="8229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FD60A">
              <a:alpha val="25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0" y="822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HÀNH ĐỘNG NGAY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Tương lai thuộc về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người </a:t>
            </a:r>
            <a:r>
              <a:rPr lang="en-US" sz="32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DÁM thử nghiệm</a:t>
            </a: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— không phải người chờ hoàn hảo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3520440" cy="1828800"/>
          </a:xfrm>
          <a:prstGeom prst="roundRect">
            <a:avLst>
              <a:gd name="adj" fmla="val 7500"/>
            </a:avLst>
          </a:prstGeom>
          <a:solidFill>
            <a:srgbClr val="1A1F4A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5196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737360" y="4434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1 ngách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14400" y="4983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Ngách bạn HIỂU RÕ nhất từ 10 mô hình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34840" y="3931920"/>
            <a:ext cx="3520440" cy="1828800"/>
          </a:xfrm>
          <a:prstGeom prst="roundRect">
            <a:avLst>
              <a:gd name="adj" fmla="val 7500"/>
            </a:avLst>
          </a:prstGeom>
          <a:solidFill>
            <a:srgbClr val="1A1F4A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425196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532120" y="4434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Cowork Claude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709160" y="4983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skill phù hợp — build prototype trong tuần này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29600" y="3931920"/>
            <a:ext cx="3520440" cy="1828800"/>
          </a:xfrm>
          <a:prstGeom prst="roundRect">
            <a:avLst>
              <a:gd name="adj" fmla="val 7500"/>
            </a:avLst>
          </a:prstGeom>
          <a:solidFill>
            <a:srgbClr val="1A1F4A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425196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2688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9326880" y="4434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3 khách beta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503920" y="4983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feedback lấy case study — nền tảng cho mọi thứ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bạn đã lắng nghe — Chúc khởi nghiệp đột phá!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Đức Dũng  ·  mangsieutoc@gmail.com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2383</Words>
  <Application>Microsoft Office PowerPoint</Application>
  <PresentationFormat>Widescreen</PresentationFormat>
  <Paragraphs>346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Mô hình ngách AI Agent &amp; Cowork Claude</dc:title>
  <dc:subject>PptxGenJS Presentation</dc:subject>
  <dc:creator>Hồ Đức Dũng</dc:creator>
  <cp:lastModifiedBy>Dung Nguyen</cp:lastModifiedBy>
  <cp:revision>2</cp:revision>
  <dcterms:created xsi:type="dcterms:W3CDTF">2026-05-25T13:42:13Z</dcterms:created>
  <dcterms:modified xsi:type="dcterms:W3CDTF">2026-08-12T01:07:32Z</dcterms:modified>
</cp:coreProperties>
</file>